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charts/chart1.xml" ContentType="application/vnd.openxmlformats-officedocument.drawingml.chart+xml"/>
  <Override PartName="/ppt/notesSlides/notesSlide11.xml" ContentType="application/vnd.openxmlformats-officedocument.presentationml.notesSlide+xml"/>
  <Override PartName="/ppt/charts/chart2.xml" ContentType="application/vnd.openxmlformats-officedocument.drawingml.chart+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8"/>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64" d="100"/>
          <a:sy n="64" d="100"/>
        </p:scale>
        <p:origin x="728" y="4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fr-FR"/>
  <c:roundedCorners val="1"/>
  <c:style val="2"/>
  <c:chart>
    <c:autoTitleDeleted val="1"/>
    <c:plotArea>
      <c:layout/>
      <c:barChart>
        <c:barDir val="col"/>
        <c:grouping val="stacked"/>
        <c:varyColors val="0"/>
        <c:ser>
          <c:idx val="0"/>
          <c:order val="0"/>
          <c:tx>
            <c:strRef>
              <c:f>Sheet1!$B$1</c:f>
              <c:strCache>
                <c:ptCount val="1"/>
                <c:pt idx="0">
                  <c:v>Prédit Non-Churn</c:v>
                </c:pt>
              </c:strCache>
            </c:strRef>
          </c:tx>
          <c:spPr>
            <a:solidFill>
              <a:srgbClr val="1A237E"/>
            </a:solidFill>
            <a:effectLst/>
          </c:spPr>
          <c:invertIfNegative val="0"/>
          <c:cat>
            <c:strRef>
              <c:f>Sheet1!$A$2:$A$3</c:f>
              <c:strCache>
                <c:ptCount val="2"/>
                <c:pt idx="0">
                  <c:v>Réel Non-Churn</c:v>
                </c:pt>
                <c:pt idx="1">
                  <c:v>Réel Churn</c:v>
                </c:pt>
              </c:strCache>
            </c:strRef>
          </c:cat>
          <c:val>
            <c:numRef>
              <c:f>Sheet1!$B$2:$B$3</c:f>
              <c:numCache>
                <c:formatCode>General</c:formatCode>
                <c:ptCount val="2"/>
                <c:pt idx="0">
                  <c:v>59815</c:v>
                </c:pt>
                <c:pt idx="1">
                  <c:v>11860</c:v>
                </c:pt>
              </c:numCache>
            </c:numRef>
          </c:val>
          <c:extLst>
            <c:ext xmlns:c16="http://schemas.microsoft.com/office/drawing/2014/chart" uri="{C3380CC4-5D6E-409C-BE32-E72D297353CC}">
              <c16:uniqueId val="{00000000-4A4C-4C00-8E4A-27FB235006BE}"/>
            </c:ext>
          </c:extLst>
        </c:ser>
        <c:ser>
          <c:idx val="1"/>
          <c:order val="1"/>
          <c:tx>
            <c:strRef>
              <c:f>Sheet1!$C$1</c:f>
              <c:strCache>
                <c:ptCount val="1"/>
                <c:pt idx="0">
                  <c:v>Prédit Churn</c:v>
                </c:pt>
              </c:strCache>
            </c:strRef>
          </c:tx>
          <c:spPr>
            <a:solidFill>
              <a:srgbClr val="E53935"/>
            </a:solidFill>
            <a:effectLst/>
          </c:spPr>
          <c:invertIfNegative val="0"/>
          <c:cat>
            <c:strRef>
              <c:f>Sheet1!$A$2:$A$3</c:f>
              <c:strCache>
                <c:ptCount val="2"/>
                <c:pt idx="0">
                  <c:v>Réel Non-Churn</c:v>
                </c:pt>
                <c:pt idx="1">
                  <c:v>Réel Churn</c:v>
                </c:pt>
              </c:strCache>
            </c:strRef>
          </c:cat>
          <c:val>
            <c:numRef>
              <c:f>Sheet1!$C$2:$C$3</c:f>
              <c:numCache>
                <c:formatCode>General</c:formatCode>
                <c:ptCount val="2"/>
                <c:pt idx="0">
                  <c:v>23159</c:v>
                </c:pt>
                <c:pt idx="1">
                  <c:v>4781</c:v>
                </c:pt>
              </c:numCache>
            </c:numRef>
          </c:val>
          <c:extLst>
            <c:ext xmlns:c16="http://schemas.microsoft.com/office/drawing/2014/chart" uri="{C3380CC4-5D6E-409C-BE32-E72D297353CC}">
              <c16:uniqueId val="{00000001-4A4C-4C00-8E4A-27FB235006BE}"/>
            </c:ext>
          </c:extLst>
        </c:ser>
        <c:dLbls>
          <c:showLegendKey val="0"/>
          <c:showVal val="0"/>
          <c:showCatName val="0"/>
          <c:showSerName val="0"/>
          <c:showPercent val="0"/>
          <c:showBubbleSize val="0"/>
        </c:dLbls>
        <c:gapWidth val="50"/>
        <c:overlap val="10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6B7080"/>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6350" cap="flat">
              <a:solidFill>
                <a:srgbClr val="E2E8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6B7080"/>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000"/>
          </a:pPr>
          <a:endParaRPr lang="en-US"/>
        </a:p>
      </c:txPr>
    </c:legend>
    <c:plotVisOnly val="1"/>
    <c:dispBlanksAs val="span"/>
    <c:showDLblsOverMax val="1"/>
  </c:chart>
  <c:spPr>
    <a:solidFill>
      <a:srgbClr val="FFFFFF"/>
    </a:solid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fr-FR"/>
  <c:roundedCorners val="1"/>
  <c:style val="2"/>
  <c:chart>
    <c:autoTitleDeleted val="1"/>
    <c:plotArea>
      <c:layout/>
      <c:barChart>
        <c:barDir val="bar"/>
        <c:grouping val="clustered"/>
        <c:varyColors val="0"/>
        <c:ser>
          <c:idx val="0"/>
          <c:order val="0"/>
          <c:tx>
            <c:strRef>
              <c:f>Sheet1!$B$1</c:f>
              <c:strCache>
                <c:ptCount val="1"/>
                <c:pt idx="0">
                  <c:v>Score d'importance</c:v>
                </c:pt>
              </c:strCache>
            </c:strRef>
          </c:tx>
          <c:spPr>
            <a:solidFill>
              <a:srgbClr val="3949AB"/>
            </a:solidFill>
            <a:effectLst/>
          </c:spPr>
          <c:invertIfNegative val="0"/>
          <c:dLbls>
            <c:numFmt formatCode="#,##0" sourceLinked="0"/>
            <c:spPr>
              <a:noFill/>
              <a:ln>
                <a:noFill/>
              </a:ln>
              <a:effectLst/>
            </c:spPr>
            <c:txPr>
              <a:bodyPr/>
              <a:lstStyle/>
              <a:p>
                <a:pPr>
                  <a:defRPr sz="900" b="0" i="0" u="none" strike="noStrike">
                    <a:solidFill>
                      <a:srgbClr val="1E2233"/>
                    </a:solidFill>
                    <a:latin typeface="Arial"/>
                  </a:defRPr>
                </a:pPr>
                <a:endParaRPr lang="fr-FR"/>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Sheet1!$A$2:$A$11</c:f>
              <c:strCache>
                <c:ptCount val="10"/>
                <c:pt idx="0">
                  <c:v>Genre (Encodé)</c:v>
                </c:pt>
                <c:pt idx="1">
                  <c:v>Segment Client (Encodé)</c:v>
                </c:pt>
                <c:pt idx="2">
                  <c:v>Âge du Client</c:v>
                </c:pt>
                <c:pt idx="3">
                  <c:v>Pannes Réseau Subies</c:v>
                </c:pt>
                <c:pt idx="4">
                  <c:v>Quota Internet (Go)</c:v>
                </c:pt>
                <c:pt idx="5">
                  <c:v>Prix du Forfait (FCFA)</c:v>
                </c:pt>
                <c:pt idx="6">
                  <c:v>Jours sans Activité</c:v>
                </c:pt>
                <c:pt idx="7">
                  <c:v>Revenu Généré (FCFA)</c:v>
                </c:pt>
                <c:pt idx="8">
                  <c:v>Internet Consommé (Mo)</c:v>
                </c:pt>
                <c:pt idx="9">
                  <c:v>Durée des Appels (sec)</c:v>
                </c:pt>
              </c:strCache>
            </c:strRef>
          </c:cat>
          <c:val>
            <c:numRef>
              <c:f>Sheet1!$B$2:$B$11</c:f>
              <c:numCache>
                <c:formatCode>General</c:formatCode>
                <c:ptCount val="10"/>
                <c:pt idx="0">
                  <c:v>0.39</c:v>
                </c:pt>
                <c:pt idx="1">
                  <c:v>0.26700000000000002</c:v>
                </c:pt>
                <c:pt idx="2">
                  <c:v>0.188</c:v>
                </c:pt>
                <c:pt idx="3">
                  <c:v>7.0000000000000007E-2</c:v>
                </c:pt>
                <c:pt idx="4">
                  <c:v>2.5000000000000001E-2</c:v>
                </c:pt>
                <c:pt idx="5">
                  <c:v>2.1999999999999999E-2</c:v>
                </c:pt>
                <c:pt idx="6">
                  <c:v>1.2999999999999999E-2</c:v>
                </c:pt>
                <c:pt idx="7">
                  <c:v>1.2E-2</c:v>
                </c:pt>
                <c:pt idx="8">
                  <c:v>7.0000000000000001E-3</c:v>
                </c:pt>
                <c:pt idx="9">
                  <c:v>6.0000000000000001E-3</c:v>
                </c:pt>
              </c:numCache>
            </c:numRef>
          </c:val>
          <c:extLst>
            <c:ext xmlns:c16="http://schemas.microsoft.com/office/drawing/2014/chart" uri="{C3380CC4-5D6E-409C-BE32-E72D297353CC}">
              <c16:uniqueId val="{00000000-33F5-4A4F-A8A4-AC4126CC881F}"/>
            </c:ext>
          </c:extLst>
        </c:ser>
        <c:dLbls>
          <c:showLegendKey val="0"/>
          <c:showVal val="1"/>
          <c:showCatName val="0"/>
          <c:showSerName val="0"/>
          <c:showPercent val="0"/>
          <c:showBubbleSize val="0"/>
        </c:dLbls>
        <c:gapWidth val="35"/>
        <c:axId val="2094734554"/>
        <c:axId val="2094734552"/>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050" b="0" i="0" u="none" strike="noStrike">
                <a:solidFill>
                  <a:srgbClr val="1E2233"/>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b"/>
        <c:majorGridlines>
          <c:spPr>
            <a:ln w="6350" cap="flat">
              <a:solidFill>
                <a:srgbClr val="E2E8F0"/>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900" b="0" i="0" u="none" strike="noStrike">
                <a:solidFill>
                  <a:srgbClr val="6B7080"/>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solidFill>
      <a:srgbClr val="FFFFFF"/>
    </a:solid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35377479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de titre. Se présenter, présenter le groupe et le cadre académique (IFOAD, Master 1 Data Engineering et BI). Annoncer le plan : contexte, architecture EDW, ETL, KPI, Machine Learning, Dashboard, difficultés et déploiement.</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Présenter les 3 problématiques d'entreprise résolues par le projet : centralisation des données, prévention du churn, et visualisation décisionnelle temps réel. Insister sur le fait que ce sont 2 pays (Burkina Faso et Ghana) et une filiale.</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Donner un ordre de grandeur du projet : volumétrie des abonnés, des événements, des antennes et des villes couvertes dans les deux pays. Ce sont les chiffres annoncés dans les objectifs stratégiques du document.</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Expliquer le schéma en étoile : 5 dimensions (subscriber, plan, tower, localisation, date) autour de 3 tables de faits. Mentionner que dim_subscriber et dim_plan sont historisées en SCD Type 2, dim_tower en SCD Type 1, et dim_localisation est une dimension conformée.</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Détailler la logique d'historisation SCD Type 1 vs Type 2, puis la granularité des trois tables de faits. C'est la base du dictionnaire de données du chapitre 4 du document.</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Décrire les 3 phases ETL : extraction des CSV, transformation avec règles de nettoyage strictes, puis chargement optimisé en masse. Souligner les gains de performance : 100 000 lignes en 1,5 seconde grâce à l'executemany par paquets de 5000.</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Présenter les 7 tables de KPI matérialisées qui alimentent directement le dashboard. Chacune correspond à une vue de reporting SQL pré-calculée.</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Mettre en avant le résultat le plus impressionnant du projet : le passage de 10 minutes de calcul en direct à 0,001 seconde de réponse grâce à la matérialisation des KPI. C'est un argument fort pour l'architecture décisionnelle.</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Expliquer la préparation des données (feature engineering) avec les deux formules clés, puis la stratégie d'entraînement : split temporel réaliste, SMOTE pour la classe minoritaire, et choix de l'algorithme XGBoost.</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Présenter les métriques réelles du modèle XGBoost consignées dans resultats_modeles_xgboost.csv, puis la matrice de confusion. Expliquer honnêtement pourquoi les scores sont modestes : données simulées et bruitées, classe minoritaire difficile à isoler.</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Présenter le graphique d'importance des variables SHAP. Les trois variables dominantes sont le genre, le segment client et l'âge. Insister sur l'aspect explicabilité : le modèle n'est pas une boîte noire, chaque prédiction peut être justifiée.</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Présenter les 4 onglets du dashboard : vue d'ensemble exécutive, réseau et antennes, offres commerciales, et prédiction IA du churn avec l'outil de prospection commerciale des 500 abonnés à plus haut risque.</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Passer rapidement en revue la matrice des versions logicielles pour montrer le sérieux de la documentation et garantir la reproductibilité intégrale du projet (Docker, MySQL 8.0, Python 3.13, XGBoost, SHAP...).</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Raconter le retour d'expérience : le vrai défi n'était pas la modélisation mais le déploiement gratuit à grande échelle. Expliquer l'architecture Micro-KPI et Serverless qui a permis de passer de 250 Mo à 1,5 Mo grâce à SQLite.</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Donner les liens du projet en production (GitHub + application Streamlit live), puis rappeler rapidement les 6 commandes de la procédure de reproduction complète pour montrer que le projet est entièrement reproductible.</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de clôture. Remercier le jury, rappeler en une phrase la valeur du projet (chaîne complète EDW -&gt; ETL -&gt; IA -&gt; BI, déployée gratuitement en production) et ouvrir la session de questions.</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4.png"/><Relationship Id="rId7" Type="http://schemas.openxmlformats.org/officeDocument/2006/relationships/image" Target="../media/image8.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1.png"/></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1.xml"/><Relationship Id="rId5" Type="http://schemas.openxmlformats.org/officeDocument/2006/relationships/image" Target="../media/image1.png"/><Relationship Id="rId4" Type="http://schemas.openxmlformats.org/officeDocument/2006/relationships/image" Target="../media/image11.png"/></Relationships>
</file>

<file path=ppt/slides/_rels/slide7.xml.rels><?xml version="1.0" encoding="UTF-8" standalone="yes"?>
<Relationships xmlns="http://schemas.openxmlformats.org/package/2006/relationships"><Relationship Id="rId8" Type="http://schemas.openxmlformats.org/officeDocument/2006/relationships/image" Target="../media/image17.png"/><Relationship Id="rId3" Type="http://schemas.openxmlformats.org/officeDocument/2006/relationships/image" Target="../media/image12.png"/><Relationship Id="rId7" Type="http://schemas.openxmlformats.org/officeDocument/2006/relationships/image" Target="../media/image16.pn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13.png"/><Relationship Id="rId9" Type="http://schemas.openxmlformats.org/officeDocument/2006/relationships/image" Target="../media/image18.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20.png"/></Relationships>
</file>

<file path=ppt/slides/_rels/slide10.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image" Target="../media/image15.png"/></Relationships>
</file>

<file path=ppt/slides/_rels/slide11.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11.xml"/><Relationship Id="rId1" Type="http://schemas.openxmlformats.org/officeDocument/2006/relationships/slideLayout" Target="../slideLayouts/slideLayout1.xml"/><Relationship Id="rId4" Type="http://schemas.openxmlformats.org/officeDocument/2006/relationships/image" Target="../media/image21.png"/></Relationships>
</file>

<file path=ppt/slides/_rels/slide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2.xml"/><Relationship Id="rId1" Type="http://schemas.openxmlformats.org/officeDocument/2006/relationships/slideLayout" Target="../slideLayouts/slideLayout1.xml"/><Relationship Id="rId6" Type="http://schemas.openxmlformats.org/officeDocument/2006/relationships/image" Target="../media/image2.png"/><Relationship Id="rId5" Type="http://schemas.openxmlformats.org/officeDocument/2006/relationships/image" Target="../media/image4.png"/><Relationship Id="rId4" Type="http://schemas.openxmlformats.org/officeDocument/2006/relationships/image" Target="../media/image6.pn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4.xml"/><Relationship Id="rId1" Type="http://schemas.openxmlformats.org/officeDocument/2006/relationships/slideLayout" Target="../slideLayouts/slideLayout1.xml"/><Relationship Id="rId4" Type="http://schemas.openxmlformats.org/officeDocument/2006/relationships/image" Target="../media/image17.png"/></Relationships>
</file>

<file path=ppt/slides/_rels/slide15.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5.xml"/><Relationship Id="rId1" Type="http://schemas.openxmlformats.org/officeDocument/2006/relationships/slideLayout" Target="../slideLayouts/slideLayout1.xml"/><Relationship Id="rId4" Type="http://schemas.openxmlformats.org/officeDocument/2006/relationships/image" Target="../media/image23.png"/></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1B4D"/>
        </a:solidFill>
        <a:effectLst/>
      </p:bgPr>
    </p:bg>
    <p:spTree>
      <p:nvGrpSpPr>
        <p:cNvPr id="1" name=""/>
        <p:cNvGrpSpPr/>
        <p:nvPr/>
      </p:nvGrpSpPr>
      <p:grpSpPr>
        <a:xfrm>
          <a:off x="0" y="0"/>
          <a:ext cx="0" cy="0"/>
          <a:chOff x="0" y="0"/>
          <a:chExt cx="0" cy="0"/>
        </a:xfrm>
      </p:grpSpPr>
      <p:sp>
        <p:nvSpPr>
          <p:cNvPr id="2" name="Shape 0"/>
          <p:cNvSpPr/>
          <p:nvPr/>
        </p:nvSpPr>
        <p:spPr>
          <a:xfrm>
            <a:off x="8778240" y="-2011680"/>
            <a:ext cx="5943600" cy="5943600"/>
          </a:xfrm>
          <a:prstGeom prst="ellipse">
            <a:avLst/>
          </a:prstGeom>
          <a:solidFill>
            <a:srgbClr val="1A237E">
              <a:alpha val="65000"/>
            </a:srgbClr>
          </a:solidFill>
          <a:ln/>
        </p:spPr>
      </p:sp>
      <p:sp>
        <p:nvSpPr>
          <p:cNvPr id="3" name="Shape 1"/>
          <p:cNvSpPr/>
          <p:nvPr/>
        </p:nvSpPr>
        <p:spPr>
          <a:xfrm>
            <a:off x="9692640" y="-1097280"/>
            <a:ext cx="4206240" cy="4206240"/>
          </a:xfrm>
          <a:prstGeom prst="ellipse">
            <a:avLst/>
          </a:prstGeom>
          <a:solidFill>
            <a:srgbClr val="3949AB">
              <a:alpha val="55000"/>
            </a:srgbClr>
          </a:solidFill>
          <a:ln/>
        </p:spPr>
      </p:sp>
      <p:sp>
        <p:nvSpPr>
          <p:cNvPr id="4" name="Shape 2"/>
          <p:cNvSpPr/>
          <p:nvPr/>
        </p:nvSpPr>
        <p:spPr>
          <a:xfrm>
            <a:off x="-2194560" y="4206240"/>
            <a:ext cx="4389120" cy="4389120"/>
          </a:xfrm>
          <a:prstGeom prst="ellipse">
            <a:avLst/>
          </a:prstGeom>
          <a:solidFill>
            <a:srgbClr val="1A237E">
              <a:alpha val="60000"/>
            </a:srgbClr>
          </a:solidFill>
          <a:ln/>
        </p:spPr>
      </p:sp>
      <p:sp>
        <p:nvSpPr>
          <p:cNvPr id="5" name="Text 3"/>
          <p:cNvSpPr/>
          <p:nvPr/>
        </p:nvSpPr>
        <p:spPr>
          <a:xfrm>
            <a:off x="731520" y="640080"/>
            <a:ext cx="7315200" cy="320040"/>
          </a:xfrm>
          <a:prstGeom prst="rect">
            <a:avLst/>
          </a:prstGeom>
          <a:noFill/>
          <a:ln/>
        </p:spPr>
        <p:txBody>
          <a:bodyPr wrap="square" lIns="0" tIns="0" rIns="0" bIns="0" rtlCol="0" anchor="ctr"/>
          <a:lstStyle/>
          <a:p>
            <a:pPr marL="0" indent="0">
              <a:buNone/>
            </a:pPr>
            <a:r>
              <a:rPr lang="en-US" sz="1300" b="1" kern="0" spc="200" dirty="0">
                <a:solidFill>
                  <a:srgbClr val="AEB6E8"/>
                </a:solidFill>
                <a:latin typeface="Calibri" pitchFamily="34" charset="0"/>
                <a:ea typeface="Calibri" pitchFamily="34" charset="-122"/>
                <a:cs typeface="Calibri" pitchFamily="34" charset="-120"/>
              </a:rPr>
              <a:t>UNIVERSITÉ JOSEPH KI-ZERBO - IFOAD</a:t>
            </a:r>
            <a:endParaRPr lang="en-US" sz="1300" dirty="0"/>
          </a:p>
        </p:txBody>
      </p:sp>
      <p:sp>
        <p:nvSpPr>
          <p:cNvPr id="6" name="Text 4"/>
          <p:cNvSpPr/>
          <p:nvPr/>
        </p:nvSpPr>
        <p:spPr>
          <a:xfrm>
            <a:off x="731520" y="960120"/>
            <a:ext cx="7315200" cy="320040"/>
          </a:xfrm>
          <a:prstGeom prst="rect">
            <a:avLst/>
          </a:prstGeom>
          <a:noFill/>
          <a:ln/>
        </p:spPr>
        <p:txBody>
          <a:bodyPr wrap="square" lIns="0" tIns="0" rIns="0" bIns="0" rtlCol="0" anchor="ctr"/>
          <a:lstStyle/>
          <a:p>
            <a:pPr marL="0" indent="0">
              <a:buNone/>
            </a:pPr>
            <a:r>
              <a:rPr lang="en-US" sz="1300" dirty="0">
                <a:solidFill>
                  <a:srgbClr val="AEB6E8"/>
                </a:solidFill>
                <a:latin typeface="Calibri" pitchFamily="34" charset="0"/>
                <a:ea typeface="Calibri" pitchFamily="34" charset="-122"/>
                <a:cs typeface="Calibri" pitchFamily="34" charset="-120"/>
              </a:rPr>
              <a:t>Master 1 Data Engineering et Business Intelligence</a:t>
            </a:r>
            <a:endParaRPr lang="en-US" sz="1300" dirty="0"/>
          </a:p>
        </p:txBody>
      </p:sp>
      <p:sp>
        <p:nvSpPr>
          <p:cNvPr id="7" name="Text 5"/>
          <p:cNvSpPr/>
          <p:nvPr/>
        </p:nvSpPr>
        <p:spPr>
          <a:xfrm>
            <a:off x="731520" y="2286000"/>
            <a:ext cx="9601200" cy="1188720"/>
          </a:xfrm>
          <a:prstGeom prst="rect">
            <a:avLst/>
          </a:prstGeom>
          <a:noFill/>
          <a:ln/>
        </p:spPr>
        <p:txBody>
          <a:bodyPr wrap="square" lIns="0" tIns="0" rIns="0" bIns="0" rtlCol="0" anchor="ctr"/>
          <a:lstStyle/>
          <a:p>
            <a:pPr marL="0" indent="0">
              <a:buNone/>
            </a:pPr>
            <a:r>
              <a:rPr lang="en-US" sz="4800" b="1" dirty="0">
                <a:solidFill>
                  <a:srgbClr val="FFFFFF"/>
                </a:solidFill>
                <a:latin typeface="Cambria" pitchFamily="34" charset="0"/>
                <a:ea typeface="Cambria" pitchFamily="34" charset="-122"/>
                <a:cs typeface="Cambria" pitchFamily="34" charset="-120"/>
              </a:rPr>
              <a:t>Sahel Telecom &amp; GoldTel</a:t>
            </a:r>
            <a:endParaRPr lang="en-US" sz="4800" dirty="0"/>
          </a:p>
        </p:txBody>
      </p:sp>
      <p:sp>
        <p:nvSpPr>
          <p:cNvPr id="8" name="Text 6"/>
          <p:cNvSpPr/>
          <p:nvPr/>
        </p:nvSpPr>
        <p:spPr>
          <a:xfrm>
            <a:off x="731520" y="3337560"/>
            <a:ext cx="8961120" cy="731520"/>
          </a:xfrm>
          <a:prstGeom prst="rect">
            <a:avLst/>
          </a:prstGeom>
          <a:noFill/>
          <a:ln/>
        </p:spPr>
        <p:txBody>
          <a:bodyPr wrap="square" lIns="0" tIns="0" rIns="0" bIns="0" rtlCol="0" anchor="ctr"/>
          <a:lstStyle/>
          <a:p>
            <a:pPr marL="0" indent="0">
              <a:buNone/>
            </a:pPr>
            <a:r>
              <a:rPr lang="en-US" sz="1800" dirty="0">
                <a:solidFill>
                  <a:srgbClr val="CDD3F5"/>
                </a:solidFill>
                <a:latin typeface="Calibri" pitchFamily="34" charset="0"/>
                <a:ea typeface="Calibri" pitchFamily="34" charset="-122"/>
                <a:cs typeface="Calibri" pitchFamily="34" charset="-120"/>
              </a:rPr>
              <a:t>Entrepôt de Données, Pipeline ETL, Intelligence Artificielle et Informatique Décisionnelle</a:t>
            </a:r>
            <a:endParaRPr lang="en-US" sz="1800" dirty="0"/>
          </a:p>
        </p:txBody>
      </p:sp>
      <p:sp>
        <p:nvSpPr>
          <p:cNvPr id="9" name="Shape 7"/>
          <p:cNvSpPr/>
          <p:nvPr/>
        </p:nvSpPr>
        <p:spPr>
          <a:xfrm>
            <a:off x="731520" y="4160520"/>
            <a:ext cx="502920" cy="36576"/>
          </a:xfrm>
          <a:prstGeom prst="rect">
            <a:avLst/>
          </a:prstGeom>
          <a:solidFill>
            <a:srgbClr val="F9A825"/>
          </a:solidFill>
          <a:ln/>
        </p:spPr>
      </p:sp>
      <p:sp>
        <p:nvSpPr>
          <p:cNvPr id="10" name="Text 8"/>
          <p:cNvSpPr/>
          <p:nvPr/>
        </p:nvSpPr>
        <p:spPr>
          <a:xfrm>
            <a:off x="731520" y="4434840"/>
            <a:ext cx="9601200" cy="731520"/>
          </a:xfrm>
          <a:prstGeom prst="rect">
            <a:avLst/>
          </a:prstGeom>
          <a:noFill/>
          <a:ln/>
        </p:spPr>
        <p:txBody>
          <a:bodyPr wrap="square" lIns="0" tIns="0" rIns="0" bIns="0" rtlCol="0" anchor="ctr"/>
          <a:lstStyle/>
          <a:p>
            <a:pPr marL="0" indent="0">
              <a:lnSpc>
                <a:spcPct val="130000"/>
              </a:lnSpc>
              <a:buNone/>
            </a:pPr>
            <a:r>
              <a:rPr lang="en-US" sz="1300" dirty="0">
                <a:solidFill>
                  <a:srgbClr val="AEB6E8"/>
                </a:solidFill>
                <a:latin typeface="Calibri" pitchFamily="34" charset="0"/>
                <a:ea typeface="Calibri" pitchFamily="34" charset="-122"/>
                <a:cs typeface="Calibri" pitchFamily="34" charset="-120"/>
              </a:rPr>
              <a:t>Documentation technique de </a:t>
            </a:r>
            <a:r>
              <a:rPr lang="en-US" sz="1300" dirty="0" err="1">
                <a:solidFill>
                  <a:srgbClr val="AEB6E8"/>
                </a:solidFill>
                <a:latin typeface="Calibri" pitchFamily="34" charset="0"/>
                <a:ea typeface="Calibri" pitchFamily="34" charset="-122"/>
                <a:cs typeface="Calibri" pitchFamily="34" charset="-120"/>
              </a:rPr>
              <a:t>référence</a:t>
            </a:r>
            <a:r>
              <a:rPr lang="en-US" sz="1300" dirty="0">
                <a:solidFill>
                  <a:srgbClr val="AEB6E8"/>
                </a:solidFill>
                <a:latin typeface="Calibri" pitchFamily="34" charset="0"/>
                <a:ea typeface="Calibri" pitchFamily="34" charset="-122"/>
                <a:cs typeface="Calibri" pitchFamily="34" charset="-120"/>
              </a:rPr>
              <a:t> - Projet Option Secteur Télécom</a:t>
            </a:r>
            <a:endParaRPr lang="en-US" sz="1300" dirty="0"/>
          </a:p>
          <a:p>
            <a:pPr marL="0" indent="0">
              <a:lnSpc>
                <a:spcPct val="130000"/>
              </a:lnSpc>
              <a:buNone/>
            </a:pPr>
            <a:r>
              <a:rPr lang="en-US" sz="1300" dirty="0">
                <a:solidFill>
                  <a:srgbClr val="AEB6E8"/>
                </a:solidFill>
                <a:latin typeface="Calibri" pitchFamily="34" charset="0"/>
                <a:ea typeface="Calibri" pitchFamily="34" charset="-122"/>
                <a:cs typeface="Calibri" pitchFamily="34" charset="-120"/>
              </a:rPr>
              <a:t>Groupe 3  •  Module EDW, ETL &amp; Informatique Décisionnelle  •  Année académique 2025–2026  •  Juin 2026</a:t>
            </a:r>
            <a:endParaRPr lang="en-US" sz="1300" dirty="0"/>
          </a:p>
        </p:txBody>
      </p:sp>
      <p:sp>
        <p:nvSpPr>
          <p:cNvPr id="11" name="Text 9"/>
          <p:cNvSpPr/>
          <p:nvPr/>
        </p:nvSpPr>
        <p:spPr>
          <a:xfrm>
            <a:off x="731520" y="5623560"/>
            <a:ext cx="2377440" cy="457200"/>
          </a:xfrm>
          <a:prstGeom prst="rect">
            <a:avLst/>
          </a:prstGeom>
          <a:noFill/>
          <a:ln/>
        </p:spPr>
        <p:txBody>
          <a:bodyPr wrap="square" lIns="0" tIns="0" rIns="0" bIns="0" rtlCol="0" anchor="ctr"/>
          <a:lstStyle/>
          <a:p>
            <a:pPr marL="0" indent="0">
              <a:buNone/>
            </a:pPr>
            <a:r>
              <a:rPr lang="en-US" sz="2400" b="1" dirty="0">
                <a:solidFill>
                  <a:srgbClr val="FFFFFF"/>
                </a:solidFill>
                <a:latin typeface="Cambria" pitchFamily="34" charset="0"/>
                <a:ea typeface="Cambria" pitchFamily="34" charset="-122"/>
                <a:cs typeface="Cambria" pitchFamily="34" charset="-120"/>
              </a:rPr>
              <a:t>100 000</a:t>
            </a:r>
            <a:endParaRPr lang="en-US" sz="2400" dirty="0"/>
          </a:p>
        </p:txBody>
      </p:sp>
      <p:sp>
        <p:nvSpPr>
          <p:cNvPr id="12" name="Text 10"/>
          <p:cNvSpPr/>
          <p:nvPr/>
        </p:nvSpPr>
        <p:spPr>
          <a:xfrm>
            <a:off x="731520" y="6108192"/>
            <a:ext cx="2377440" cy="365760"/>
          </a:xfrm>
          <a:prstGeom prst="rect">
            <a:avLst/>
          </a:prstGeom>
          <a:noFill/>
          <a:ln/>
        </p:spPr>
        <p:txBody>
          <a:bodyPr wrap="square" lIns="0" tIns="0" rIns="0" bIns="0" rtlCol="0" anchor="ctr"/>
          <a:lstStyle/>
          <a:p>
            <a:pPr marL="0" indent="0">
              <a:buNone/>
            </a:pPr>
            <a:r>
              <a:rPr lang="en-US" sz="1100" dirty="0">
                <a:solidFill>
                  <a:srgbClr val="AEB6E8"/>
                </a:solidFill>
                <a:latin typeface="Calibri" pitchFamily="34" charset="0"/>
                <a:ea typeface="Calibri" pitchFamily="34" charset="-122"/>
                <a:cs typeface="Calibri" pitchFamily="34" charset="-120"/>
              </a:rPr>
              <a:t>Abonnés</a:t>
            </a:r>
            <a:endParaRPr lang="en-US" sz="1100" dirty="0"/>
          </a:p>
        </p:txBody>
      </p:sp>
      <p:sp>
        <p:nvSpPr>
          <p:cNvPr id="13" name="Text 11"/>
          <p:cNvSpPr/>
          <p:nvPr/>
        </p:nvSpPr>
        <p:spPr>
          <a:xfrm>
            <a:off x="3383280" y="5623560"/>
            <a:ext cx="2377440" cy="457200"/>
          </a:xfrm>
          <a:prstGeom prst="rect">
            <a:avLst/>
          </a:prstGeom>
          <a:noFill/>
          <a:ln/>
        </p:spPr>
        <p:txBody>
          <a:bodyPr wrap="square" lIns="0" tIns="0" rIns="0" bIns="0" rtlCol="0" anchor="ctr"/>
          <a:lstStyle/>
          <a:p>
            <a:pPr marL="0" indent="0">
              <a:buNone/>
            </a:pPr>
            <a:r>
              <a:rPr lang="en-US" sz="2400" b="1" dirty="0">
                <a:solidFill>
                  <a:srgbClr val="FFFFFF"/>
                </a:solidFill>
                <a:latin typeface="Cambria" pitchFamily="34" charset="0"/>
                <a:ea typeface="Cambria" pitchFamily="34" charset="-122"/>
                <a:cs typeface="Cambria" pitchFamily="34" charset="-120"/>
              </a:rPr>
              <a:t>500 000+</a:t>
            </a:r>
            <a:endParaRPr lang="en-US" sz="2400" dirty="0"/>
          </a:p>
        </p:txBody>
      </p:sp>
      <p:sp>
        <p:nvSpPr>
          <p:cNvPr id="14" name="Text 12"/>
          <p:cNvSpPr/>
          <p:nvPr/>
        </p:nvSpPr>
        <p:spPr>
          <a:xfrm>
            <a:off x="3383280" y="6108192"/>
            <a:ext cx="2377440" cy="365760"/>
          </a:xfrm>
          <a:prstGeom prst="rect">
            <a:avLst/>
          </a:prstGeom>
          <a:noFill/>
          <a:ln/>
        </p:spPr>
        <p:txBody>
          <a:bodyPr wrap="square" lIns="0" tIns="0" rIns="0" bIns="0" rtlCol="0" anchor="ctr"/>
          <a:lstStyle/>
          <a:p>
            <a:pPr marL="0" indent="0">
              <a:buNone/>
            </a:pPr>
            <a:r>
              <a:rPr lang="en-US" sz="1100" dirty="0">
                <a:solidFill>
                  <a:srgbClr val="AEB6E8"/>
                </a:solidFill>
                <a:latin typeface="Calibri" pitchFamily="34" charset="0"/>
                <a:ea typeface="Calibri" pitchFamily="34" charset="-122"/>
                <a:cs typeface="Calibri" pitchFamily="34" charset="-120"/>
              </a:rPr>
              <a:t>Événements d'usage</a:t>
            </a:r>
            <a:endParaRPr lang="en-US" sz="1100" dirty="0"/>
          </a:p>
        </p:txBody>
      </p:sp>
      <p:sp>
        <p:nvSpPr>
          <p:cNvPr id="15" name="Text 13"/>
          <p:cNvSpPr/>
          <p:nvPr/>
        </p:nvSpPr>
        <p:spPr>
          <a:xfrm>
            <a:off x="6035040" y="5623560"/>
            <a:ext cx="2377440" cy="457200"/>
          </a:xfrm>
          <a:prstGeom prst="rect">
            <a:avLst/>
          </a:prstGeom>
          <a:noFill/>
          <a:ln/>
        </p:spPr>
        <p:txBody>
          <a:bodyPr wrap="square" lIns="0" tIns="0" rIns="0" bIns="0" rtlCol="0" anchor="ctr"/>
          <a:lstStyle/>
          <a:p>
            <a:pPr marL="0" indent="0">
              <a:buNone/>
            </a:pPr>
            <a:r>
              <a:rPr lang="en-US" sz="2400" b="1" dirty="0">
                <a:solidFill>
                  <a:srgbClr val="FFFFFF"/>
                </a:solidFill>
                <a:latin typeface="Cambria" pitchFamily="34" charset="0"/>
                <a:ea typeface="Cambria" pitchFamily="34" charset="-122"/>
                <a:cs typeface="Cambria" pitchFamily="34" charset="-120"/>
              </a:rPr>
              <a:t>2 pays</a:t>
            </a:r>
            <a:endParaRPr lang="en-US" sz="2400" dirty="0"/>
          </a:p>
        </p:txBody>
      </p:sp>
      <p:sp>
        <p:nvSpPr>
          <p:cNvPr id="16" name="Text 14"/>
          <p:cNvSpPr/>
          <p:nvPr/>
        </p:nvSpPr>
        <p:spPr>
          <a:xfrm>
            <a:off x="6035040" y="6108192"/>
            <a:ext cx="2377440" cy="365760"/>
          </a:xfrm>
          <a:prstGeom prst="rect">
            <a:avLst/>
          </a:prstGeom>
          <a:noFill/>
          <a:ln/>
        </p:spPr>
        <p:txBody>
          <a:bodyPr wrap="square" lIns="0" tIns="0" rIns="0" bIns="0" rtlCol="0" anchor="ctr"/>
          <a:lstStyle/>
          <a:p>
            <a:pPr marL="0" indent="0">
              <a:buNone/>
            </a:pPr>
            <a:r>
              <a:rPr lang="en-US" sz="1100" dirty="0">
                <a:solidFill>
                  <a:srgbClr val="AEB6E8"/>
                </a:solidFill>
                <a:latin typeface="Calibri" pitchFamily="34" charset="0"/>
                <a:ea typeface="Calibri" pitchFamily="34" charset="-122"/>
                <a:cs typeface="Calibri" pitchFamily="34" charset="-120"/>
              </a:rPr>
              <a:t>Burkina Faso &amp; Ghana</a:t>
            </a:r>
            <a:endParaRPr lang="en-US" sz="1100" dirty="0"/>
          </a:p>
        </p:txBody>
      </p:sp>
      <p:sp>
        <p:nvSpPr>
          <p:cNvPr id="17" name="Text 15"/>
          <p:cNvSpPr/>
          <p:nvPr/>
        </p:nvSpPr>
        <p:spPr>
          <a:xfrm>
            <a:off x="8686800" y="5623560"/>
            <a:ext cx="2377440" cy="457200"/>
          </a:xfrm>
          <a:prstGeom prst="rect">
            <a:avLst/>
          </a:prstGeom>
          <a:noFill/>
          <a:ln/>
        </p:spPr>
        <p:txBody>
          <a:bodyPr wrap="square" lIns="0" tIns="0" rIns="0" bIns="0" rtlCol="0" anchor="ctr"/>
          <a:lstStyle/>
          <a:p>
            <a:pPr marL="0" indent="0">
              <a:buNone/>
            </a:pPr>
            <a:r>
              <a:rPr lang="en-US" sz="2400" b="1" dirty="0">
                <a:solidFill>
                  <a:srgbClr val="FFFFFF"/>
                </a:solidFill>
                <a:latin typeface="Cambria" pitchFamily="34" charset="0"/>
                <a:ea typeface="Cambria" pitchFamily="34" charset="-122"/>
                <a:cs typeface="Cambria" pitchFamily="34" charset="-120"/>
              </a:rPr>
              <a:t>7 KPI</a:t>
            </a:r>
            <a:endParaRPr lang="en-US" sz="2400" dirty="0"/>
          </a:p>
        </p:txBody>
      </p:sp>
      <p:sp>
        <p:nvSpPr>
          <p:cNvPr id="18" name="Text 16"/>
          <p:cNvSpPr/>
          <p:nvPr/>
        </p:nvSpPr>
        <p:spPr>
          <a:xfrm>
            <a:off x="8686800" y="6108192"/>
            <a:ext cx="2377440" cy="365760"/>
          </a:xfrm>
          <a:prstGeom prst="rect">
            <a:avLst/>
          </a:prstGeom>
          <a:noFill/>
          <a:ln/>
        </p:spPr>
        <p:txBody>
          <a:bodyPr wrap="square" lIns="0" tIns="0" rIns="0" bIns="0" rtlCol="0" anchor="ctr"/>
          <a:lstStyle/>
          <a:p>
            <a:pPr marL="0" indent="0">
              <a:buNone/>
            </a:pPr>
            <a:r>
              <a:rPr lang="en-US" sz="1100" dirty="0">
                <a:solidFill>
                  <a:srgbClr val="AEB6E8"/>
                </a:solidFill>
                <a:latin typeface="Calibri" pitchFamily="34" charset="0"/>
                <a:ea typeface="Calibri" pitchFamily="34" charset="-122"/>
                <a:cs typeface="Calibri" pitchFamily="34" charset="-120"/>
              </a:rPr>
              <a:t>Matérialisés</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47472"/>
            <a:ext cx="9144000" cy="274320"/>
          </a:xfrm>
          <a:prstGeom prst="rect">
            <a:avLst/>
          </a:prstGeom>
          <a:noFill/>
          <a:ln/>
        </p:spPr>
        <p:txBody>
          <a:bodyPr wrap="square" lIns="0" tIns="0" rIns="0" bIns="0" rtlCol="0" anchor="ctr"/>
          <a:lstStyle/>
          <a:p>
            <a:pPr marL="0" indent="0">
              <a:buNone/>
            </a:pPr>
            <a:r>
              <a:rPr lang="en-US" sz="1200" b="1" kern="0" spc="200" dirty="0">
                <a:solidFill>
                  <a:srgbClr val="3949AB"/>
                </a:solidFill>
                <a:latin typeface="Calibri" pitchFamily="34" charset="0"/>
                <a:ea typeface="Calibri" pitchFamily="34" charset="-122"/>
                <a:cs typeface="Calibri" pitchFamily="34" charset="-120"/>
              </a:rPr>
              <a:t>INTRODUCTION</a:t>
            </a:r>
            <a:endParaRPr lang="en-US" sz="1200" dirty="0"/>
          </a:p>
        </p:txBody>
      </p:sp>
      <p:sp>
        <p:nvSpPr>
          <p:cNvPr id="3" name="Text 1"/>
          <p:cNvSpPr/>
          <p:nvPr/>
        </p:nvSpPr>
        <p:spPr>
          <a:xfrm>
            <a:off x="548640" y="603504"/>
            <a:ext cx="11064240" cy="685800"/>
          </a:xfrm>
          <a:prstGeom prst="rect">
            <a:avLst/>
          </a:prstGeom>
          <a:noFill/>
          <a:ln/>
        </p:spPr>
        <p:txBody>
          <a:bodyPr wrap="square" lIns="0" tIns="0" rIns="0" bIns="0" rtlCol="0" anchor="ctr"/>
          <a:lstStyle/>
          <a:p>
            <a:pPr marL="0" indent="0">
              <a:buNone/>
            </a:pPr>
            <a:r>
              <a:rPr lang="en-US" sz="3000" b="1" dirty="0">
                <a:solidFill>
                  <a:srgbClr val="1E2233"/>
                </a:solidFill>
                <a:latin typeface="Cambria" pitchFamily="34" charset="0"/>
                <a:ea typeface="Cambria" pitchFamily="34" charset="-122"/>
                <a:cs typeface="Cambria" pitchFamily="34" charset="-120"/>
              </a:rPr>
              <a:t>Contexte et objectifs stratégiques</a:t>
            </a:r>
            <a:endParaRPr lang="en-US" sz="3000" dirty="0"/>
          </a:p>
        </p:txBody>
      </p:sp>
      <p:sp>
        <p:nvSpPr>
          <p:cNvPr id="4" name="Text 2"/>
          <p:cNvSpPr/>
          <p:nvPr/>
        </p:nvSpPr>
        <p:spPr>
          <a:xfrm>
            <a:off x="548640" y="1417320"/>
            <a:ext cx="11064240" cy="640080"/>
          </a:xfrm>
          <a:prstGeom prst="rect">
            <a:avLst/>
          </a:prstGeom>
          <a:noFill/>
          <a:ln/>
        </p:spPr>
        <p:txBody>
          <a:bodyPr wrap="square" lIns="0" tIns="0" rIns="0" bIns="0" rtlCol="0" anchor="ctr"/>
          <a:lstStyle/>
          <a:p>
            <a:pPr marL="0" indent="0">
              <a:lnSpc>
                <a:spcPct val="125000"/>
              </a:lnSpc>
              <a:buNone/>
            </a:pPr>
            <a:r>
              <a:rPr lang="en-US" sz="1400" dirty="0">
                <a:solidFill>
                  <a:srgbClr val="6B7080"/>
                </a:solidFill>
                <a:latin typeface="Calibri" pitchFamily="34" charset="0"/>
                <a:ea typeface="Calibri" pitchFamily="34" charset="-122"/>
                <a:cs typeface="Calibri" pitchFamily="34" charset="-120"/>
              </a:rPr>
              <a:t>Sahel Telecom (Burkina Faso) et sa filiale GoldTel (Ghana) souhaitent centraliser et analyser leurs données d'exploitation afin de piloter la performance commerciale et réseau, et d'anticiper la résiliation de leurs clients.</a:t>
            </a:r>
            <a:endParaRPr lang="en-US" sz="1400" dirty="0"/>
          </a:p>
        </p:txBody>
      </p:sp>
      <p:sp>
        <p:nvSpPr>
          <p:cNvPr id="5" name="Shape 3"/>
          <p:cNvSpPr/>
          <p:nvPr/>
        </p:nvSpPr>
        <p:spPr>
          <a:xfrm>
            <a:off x="548640" y="2331720"/>
            <a:ext cx="3611880" cy="2331720"/>
          </a:xfrm>
          <a:prstGeom prst="roundRect">
            <a:avLst>
              <a:gd name="adj" fmla="val 3137"/>
            </a:avLst>
          </a:prstGeom>
          <a:solidFill>
            <a:srgbClr val="EEF0FA"/>
          </a:solidFill>
          <a:ln/>
          <a:effectLst>
            <a:outerShdw blurRad="127000" dist="38100" dir="5400000" algn="bl" rotWithShape="0">
              <a:srgbClr val="1A237E">
                <a:alpha val="14000"/>
              </a:srgbClr>
            </a:outerShdw>
          </a:effectLst>
        </p:spPr>
      </p:sp>
      <p:sp>
        <p:nvSpPr>
          <p:cNvPr id="6" name="Shape 4"/>
          <p:cNvSpPr/>
          <p:nvPr/>
        </p:nvSpPr>
        <p:spPr>
          <a:xfrm>
            <a:off x="822960" y="2606040"/>
            <a:ext cx="658368" cy="658368"/>
          </a:xfrm>
          <a:prstGeom prst="ellipse">
            <a:avLst/>
          </a:prstGeom>
          <a:solidFill>
            <a:srgbClr val="1A237E"/>
          </a:solidFill>
          <a:ln/>
        </p:spPr>
      </p:sp>
      <p:pic>
        <p:nvPicPr>
          <p:cNvPr id="7" name="Image 0" descr="preencoded.png"/>
          <p:cNvPicPr>
            <a:picLocks noChangeAspect="1"/>
          </p:cNvPicPr>
          <p:nvPr/>
        </p:nvPicPr>
        <p:blipFill>
          <a:blip r:embed="rId3"/>
          <a:stretch>
            <a:fillRect/>
          </a:stretch>
        </p:blipFill>
        <p:spPr>
          <a:xfrm>
            <a:off x="901964" y="2685044"/>
            <a:ext cx="500360" cy="500360"/>
          </a:xfrm>
          <a:prstGeom prst="rect">
            <a:avLst/>
          </a:prstGeom>
        </p:spPr>
      </p:pic>
      <p:sp>
        <p:nvSpPr>
          <p:cNvPr id="8" name="Text 5"/>
          <p:cNvSpPr/>
          <p:nvPr/>
        </p:nvSpPr>
        <p:spPr>
          <a:xfrm>
            <a:off x="822960" y="3401568"/>
            <a:ext cx="3063240" cy="365760"/>
          </a:xfrm>
          <a:prstGeom prst="rect">
            <a:avLst/>
          </a:prstGeom>
          <a:noFill/>
          <a:ln/>
        </p:spPr>
        <p:txBody>
          <a:bodyPr wrap="square" lIns="0" tIns="0" rIns="0" bIns="0" rtlCol="0" anchor="ctr"/>
          <a:lstStyle/>
          <a:p>
            <a:pPr marL="0" indent="0">
              <a:buNone/>
            </a:pPr>
            <a:r>
              <a:rPr lang="en-US" sz="1600" b="1" dirty="0">
                <a:solidFill>
                  <a:srgbClr val="1E2233"/>
                </a:solidFill>
                <a:latin typeface="Cambria" pitchFamily="34" charset="0"/>
                <a:ea typeface="Cambria" pitchFamily="34" charset="-122"/>
                <a:cs typeface="Cambria" pitchFamily="34" charset="-120"/>
              </a:rPr>
              <a:t>Centraliser</a:t>
            </a:r>
            <a:endParaRPr lang="en-US" sz="1600" dirty="0"/>
          </a:p>
        </p:txBody>
      </p:sp>
      <p:sp>
        <p:nvSpPr>
          <p:cNvPr id="9" name="Text 6"/>
          <p:cNvSpPr/>
          <p:nvPr/>
        </p:nvSpPr>
        <p:spPr>
          <a:xfrm>
            <a:off x="822960" y="3794760"/>
            <a:ext cx="3063240" cy="822960"/>
          </a:xfrm>
          <a:prstGeom prst="rect">
            <a:avLst/>
          </a:prstGeom>
          <a:noFill/>
          <a:ln/>
        </p:spPr>
        <p:txBody>
          <a:bodyPr wrap="square" lIns="0" tIns="0" rIns="0" bIns="0" rtlCol="0" anchor="ctr"/>
          <a:lstStyle/>
          <a:p>
            <a:pPr marL="0" indent="0">
              <a:lnSpc>
                <a:spcPct val="120000"/>
              </a:lnSpc>
              <a:buNone/>
            </a:pPr>
            <a:r>
              <a:rPr lang="en-US" sz="1200" dirty="0">
                <a:solidFill>
                  <a:srgbClr val="6B7080"/>
                </a:solidFill>
                <a:latin typeface="Calibri" pitchFamily="34" charset="0"/>
                <a:ea typeface="Calibri" pitchFamily="34" charset="-122"/>
                <a:cs typeface="Calibri" pitchFamily="34" charset="-120"/>
              </a:rPr>
              <a:t>Unifier des données hétérogènes et non nettoyées dans un schéma en étoile (Star Schema).</a:t>
            </a:r>
            <a:endParaRPr lang="en-US" sz="1200" dirty="0"/>
          </a:p>
        </p:txBody>
      </p:sp>
      <p:sp>
        <p:nvSpPr>
          <p:cNvPr id="10" name="Shape 7"/>
          <p:cNvSpPr/>
          <p:nvPr/>
        </p:nvSpPr>
        <p:spPr>
          <a:xfrm>
            <a:off x="4416552" y="2331720"/>
            <a:ext cx="3611880" cy="2331720"/>
          </a:xfrm>
          <a:prstGeom prst="roundRect">
            <a:avLst>
              <a:gd name="adj" fmla="val 3137"/>
            </a:avLst>
          </a:prstGeom>
          <a:solidFill>
            <a:srgbClr val="EEF0FA"/>
          </a:solidFill>
          <a:ln/>
          <a:effectLst>
            <a:outerShdw blurRad="127000" dist="38100" dir="5400000" algn="bl" rotWithShape="0">
              <a:srgbClr val="1A237E">
                <a:alpha val="14000"/>
              </a:srgbClr>
            </a:outerShdw>
          </a:effectLst>
        </p:spPr>
      </p:sp>
      <p:sp>
        <p:nvSpPr>
          <p:cNvPr id="11" name="Shape 8"/>
          <p:cNvSpPr/>
          <p:nvPr/>
        </p:nvSpPr>
        <p:spPr>
          <a:xfrm>
            <a:off x="4690872" y="2606040"/>
            <a:ext cx="658368" cy="658368"/>
          </a:xfrm>
          <a:prstGeom prst="ellipse">
            <a:avLst/>
          </a:prstGeom>
          <a:solidFill>
            <a:srgbClr val="1A237E"/>
          </a:solidFill>
          <a:ln/>
        </p:spPr>
      </p:sp>
      <p:pic>
        <p:nvPicPr>
          <p:cNvPr id="12" name="Image 1" descr="preencoded.png"/>
          <p:cNvPicPr>
            <a:picLocks noChangeAspect="1"/>
          </p:cNvPicPr>
          <p:nvPr/>
        </p:nvPicPr>
        <p:blipFill>
          <a:blip r:embed="rId4"/>
          <a:stretch>
            <a:fillRect/>
          </a:stretch>
        </p:blipFill>
        <p:spPr>
          <a:xfrm>
            <a:off x="4769876" y="2685044"/>
            <a:ext cx="500360" cy="500360"/>
          </a:xfrm>
          <a:prstGeom prst="rect">
            <a:avLst/>
          </a:prstGeom>
        </p:spPr>
      </p:pic>
      <p:sp>
        <p:nvSpPr>
          <p:cNvPr id="13" name="Text 9"/>
          <p:cNvSpPr/>
          <p:nvPr/>
        </p:nvSpPr>
        <p:spPr>
          <a:xfrm>
            <a:off x="4690872" y="3401568"/>
            <a:ext cx="3063240" cy="365760"/>
          </a:xfrm>
          <a:prstGeom prst="rect">
            <a:avLst/>
          </a:prstGeom>
          <a:noFill/>
          <a:ln/>
        </p:spPr>
        <p:txBody>
          <a:bodyPr wrap="square" lIns="0" tIns="0" rIns="0" bIns="0" rtlCol="0" anchor="ctr"/>
          <a:lstStyle/>
          <a:p>
            <a:pPr marL="0" indent="0">
              <a:buNone/>
            </a:pPr>
            <a:r>
              <a:rPr lang="en-US" sz="1600" b="1" dirty="0">
                <a:solidFill>
                  <a:srgbClr val="1E2233"/>
                </a:solidFill>
                <a:latin typeface="Cambria" pitchFamily="34" charset="0"/>
                <a:ea typeface="Cambria" pitchFamily="34" charset="-122"/>
                <a:cs typeface="Cambria" pitchFamily="34" charset="-120"/>
              </a:rPr>
              <a:t>Anticiper le churn</a:t>
            </a:r>
            <a:endParaRPr lang="en-US" sz="1600" dirty="0"/>
          </a:p>
        </p:txBody>
      </p:sp>
      <p:sp>
        <p:nvSpPr>
          <p:cNvPr id="14" name="Text 10"/>
          <p:cNvSpPr/>
          <p:nvPr/>
        </p:nvSpPr>
        <p:spPr>
          <a:xfrm>
            <a:off x="4690872" y="3794760"/>
            <a:ext cx="3063240" cy="822960"/>
          </a:xfrm>
          <a:prstGeom prst="rect">
            <a:avLst/>
          </a:prstGeom>
          <a:noFill/>
          <a:ln/>
        </p:spPr>
        <p:txBody>
          <a:bodyPr wrap="square" lIns="0" tIns="0" rIns="0" bIns="0" rtlCol="0" anchor="ctr"/>
          <a:lstStyle/>
          <a:p>
            <a:pPr marL="0" indent="0">
              <a:lnSpc>
                <a:spcPct val="120000"/>
              </a:lnSpc>
              <a:buNone/>
            </a:pPr>
            <a:r>
              <a:rPr lang="en-US" sz="1200" dirty="0">
                <a:solidFill>
                  <a:srgbClr val="6B7080"/>
                </a:solidFill>
                <a:latin typeface="Calibri" pitchFamily="34" charset="0"/>
                <a:ea typeface="Calibri" pitchFamily="34" charset="-122"/>
                <a:cs typeface="Calibri" pitchFamily="34" charset="-120"/>
              </a:rPr>
              <a:t>Prévenir la résiliation grâce à un modèle de classification supervisée XGBoost.</a:t>
            </a:r>
            <a:endParaRPr lang="en-US" sz="1200" dirty="0"/>
          </a:p>
        </p:txBody>
      </p:sp>
      <p:sp>
        <p:nvSpPr>
          <p:cNvPr id="15" name="Shape 11"/>
          <p:cNvSpPr/>
          <p:nvPr/>
        </p:nvSpPr>
        <p:spPr>
          <a:xfrm>
            <a:off x="8284464" y="2331720"/>
            <a:ext cx="3611880" cy="2331720"/>
          </a:xfrm>
          <a:prstGeom prst="roundRect">
            <a:avLst>
              <a:gd name="adj" fmla="val 3137"/>
            </a:avLst>
          </a:prstGeom>
          <a:solidFill>
            <a:srgbClr val="EEF0FA"/>
          </a:solidFill>
          <a:ln/>
          <a:effectLst>
            <a:outerShdw blurRad="127000" dist="38100" dir="5400000" algn="bl" rotWithShape="0">
              <a:srgbClr val="1A237E">
                <a:alpha val="14000"/>
              </a:srgbClr>
            </a:outerShdw>
          </a:effectLst>
        </p:spPr>
      </p:sp>
      <p:sp>
        <p:nvSpPr>
          <p:cNvPr id="16" name="Shape 12"/>
          <p:cNvSpPr/>
          <p:nvPr/>
        </p:nvSpPr>
        <p:spPr>
          <a:xfrm>
            <a:off x="8558784" y="2606040"/>
            <a:ext cx="658368" cy="658368"/>
          </a:xfrm>
          <a:prstGeom prst="ellipse">
            <a:avLst/>
          </a:prstGeom>
          <a:solidFill>
            <a:srgbClr val="1A237E"/>
          </a:solidFill>
          <a:ln/>
        </p:spPr>
      </p:sp>
      <p:pic>
        <p:nvPicPr>
          <p:cNvPr id="17" name="Image 2" descr="preencoded.png"/>
          <p:cNvPicPr>
            <a:picLocks noChangeAspect="1"/>
          </p:cNvPicPr>
          <p:nvPr/>
        </p:nvPicPr>
        <p:blipFill>
          <a:blip r:embed="rId5"/>
          <a:stretch>
            <a:fillRect/>
          </a:stretch>
        </p:blipFill>
        <p:spPr>
          <a:xfrm>
            <a:off x="8637788" y="2685044"/>
            <a:ext cx="500360" cy="500360"/>
          </a:xfrm>
          <a:prstGeom prst="rect">
            <a:avLst/>
          </a:prstGeom>
        </p:spPr>
      </p:pic>
      <p:sp>
        <p:nvSpPr>
          <p:cNvPr id="18" name="Text 13"/>
          <p:cNvSpPr/>
          <p:nvPr/>
        </p:nvSpPr>
        <p:spPr>
          <a:xfrm>
            <a:off x="8558784" y="3401568"/>
            <a:ext cx="3063240" cy="365760"/>
          </a:xfrm>
          <a:prstGeom prst="rect">
            <a:avLst/>
          </a:prstGeom>
          <a:noFill/>
          <a:ln/>
        </p:spPr>
        <p:txBody>
          <a:bodyPr wrap="square" lIns="0" tIns="0" rIns="0" bIns="0" rtlCol="0" anchor="ctr"/>
          <a:lstStyle/>
          <a:p>
            <a:pPr marL="0" indent="0">
              <a:buNone/>
            </a:pPr>
            <a:r>
              <a:rPr lang="en-US" sz="1600" b="1" dirty="0">
                <a:solidFill>
                  <a:srgbClr val="1E2233"/>
                </a:solidFill>
                <a:latin typeface="Cambria" pitchFamily="34" charset="0"/>
                <a:ea typeface="Cambria" pitchFamily="34" charset="-122"/>
                <a:cs typeface="Cambria" pitchFamily="34" charset="-120"/>
              </a:rPr>
              <a:t>Décider en temps réel</a:t>
            </a:r>
            <a:endParaRPr lang="en-US" sz="1600" dirty="0"/>
          </a:p>
        </p:txBody>
      </p:sp>
      <p:sp>
        <p:nvSpPr>
          <p:cNvPr id="19" name="Text 14"/>
          <p:cNvSpPr/>
          <p:nvPr/>
        </p:nvSpPr>
        <p:spPr>
          <a:xfrm>
            <a:off x="8558784" y="3794760"/>
            <a:ext cx="3063240" cy="822960"/>
          </a:xfrm>
          <a:prstGeom prst="rect">
            <a:avLst/>
          </a:prstGeom>
          <a:noFill/>
          <a:ln/>
        </p:spPr>
        <p:txBody>
          <a:bodyPr wrap="square" lIns="0" tIns="0" rIns="0" bIns="0" rtlCol="0" anchor="ctr"/>
          <a:lstStyle/>
          <a:p>
            <a:pPr marL="0" indent="0">
              <a:lnSpc>
                <a:spcPct val="120000"/>
              </a:lnSpc>
              <a:buNone/>
            </a:pPr>
            <a:r>
              <a:rPr lang="en-US" sz="1200" dirty="0">
                <a:solidFill>
                  <a:srgbClr val="6B7080"/>
                </a:solidFill>
                <a:latin typeface="Calibri" pitchFamily="34" charset="0"/>
                <a:ea typeface="Calibri" pitchFamily="34" charset="-122"/>
                <a:cs typeface="Calibri" pitchFamily="34" charset="-120"/>
              </a:rPr>
              <a:t>Visualiser les indicateurs réseau, géographiques et financiers de façon instantanée.</a:t>
            </a:r>
            <a:endParaRPr lang="en-US" sz="1200" dirty="0"/>
          </a:p>
        </p:txBody>
      </p:sp>
      <p:sp>
        <p:nvSpPr>
          <p:cNvPr id="20" name="Text 15"/>
          <p:cNvSpPr/>
          <p:nvPr/>
        </p:nvSpPr>
        <p:spPr>
          <a:xfrm>
            <a:off x="548640" y="4956048"/>
            <a:ext cx="11064240" cy="457200"/>
          </a:xfrm>
          <a:prstGeom prst="rect">
            <a:avLst/>
          </a:prstGeom>
          <a:noFill/>
          <a:ln/>
        </p:spPr>
        <p:txBody>
          <a:bodyPr wrap="square" lIns="0" tIns="0" rIns="0" bIns="0" rtlCol="0" anchor="ctr"/>
          <a:lstStyle/>
          <a:p>
            <a:pPr marL="0" indent="0">
              <a:buNone/>
            </a:pPr>
            <a:r>
              <a:rPr lang="en-US" sz="1250" i="1" dirty="0">
                <a:solidFill>
                  <a:srgbClr val="3949AB"/>
                </a:solidFill>
                <a:latin typeface="Calibri" pitchFamily="34" charset="0"/>
                <a:ea typeface="Calibri" pitchFamily="34" charset="-122"/>
                <a:cs typeface="Calibri" pitchFamily="34" charset="-120"/>
              </a:rPr>
              <a:t>Le projet couvre l'ensemble de la chaîne décisionnelle : de la collecte des données brutes jusqu'à la restitution BI, en passant par l'apprentissage automatique.</a:t>
            </a:r>
            <a:endParaRPr lang="en-US" sz="1250" dirty="0"/>
          </a:p>
        </p:txBody>
      </p:sp>
      <p:sp>
        <p:nvSpPr>
          <p:cNvPr id="21" name="Text 16"/>
          <p:cNvSpPr/>
          <p:nvPr/>
        </p:nvSpPr>
        <p:spPr>
          <a:xfrm>
            <a:off x="457200" y="6473952"/>
            <a:ext cx="7315200" cy="274320"/>
          </a:xfrm>
          <a:prstGeom prst="rect">
            <a:avLst/>
          </a:prstGeom>
          <a:noFill/>
          <a:ln/>
        </p:spPr>
        <p:txBody>
          <a:bodyPr wrap="square" lIns="0" tIns="0" rIns="0" bIns="0" rtlCol="0" anchor="ctr"/>
          <a:lstStyle/>
          <a:p>
            <a:pPr marL="0" indent="0" algn="l">
              <a:buNone/>
            </a:pPr>
            <a:r>
              <a:rPr lang="en-US" sz="900" dirty="0">
                <a:solidFill>
                  <a:srgbClr val="6B7080"/>
                </a:solidFill>
                <a:latin typeface="Calibri" pitchFamily="34" charset="0"/>
                <a:ea typeface="Calibri" pitchFamily="34" charset="-122"/>
                <a:cs typeface="Calibri" pitchFamily="34" charset="-120"/>
              </a:rPr>
              <a:t>Sahel Telecom - Documentation technique EDW</a:t>
            </a:r>
            <a:endParaRPr lang="en-US" sz="900" dirty="0"/>
          </a:p>
        </p:txBody>
      </p:sp>
      <p:sp>
        <p:nvSpPr>
          <p:cNvPr id="22" name="Text 17"/>
          <p:cNvSpPr/>
          <p:nvPr/>
        </p:nvSpPr>
        <p:spPr>
          <a:xfrm>
            <a:off x="11247120" y="6473952"/>
            <a:ext cx="457200" cy="274320"/>
          </a:xfrm>
          <a:prstGeom prst="rect">
            <a:avLst/>
          </a:prstGeom>
          <a:noFill/>
          <a:ln/>
        </p:spPr>
        <p:txBody>
          <a:bodyPr wrap="square" lIns="0" tIns="0" rIns="0" bIns="0" rtlCol="0" anchor="ctr"/>
          <a:lstStyle/>
          <a:p>
            <a:pPr marL="0" indent="0" algn="r">
              <a:buNone/>
            </a:pPr>
            <a:r>
              <a:rPr lang="en-US" sz="900" dirty="0">
                <a:solidFill>
                  <a:srgbClr val="6B7080"/>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A237E"/>
        </a:solidFill>
        <a:effectLst/>
      </p:bgPr>
    </p:bg>
    <p:spTree>
      <p:nvGrpSpPr>
        <p:cNvPr id="1" name=""/>
        <p:cNvGrpSpPr/>
        <p:nvPr/>
      </p:nvGrpSpPr>
      <p:grpSpPr>
        <a:xfrm>
          <a:off x="0" y="0"/>
          <a:ext cx="0" cy="0"/>
          <a:chOff x="0" y="0"/>
          <a:chExt cx="0" cy="0"/>
        </a:xfrm>
      </p:grpSpPr>
      <p:sp>
        <p:nvSpPr>
          <p:cNvPr id="2" name="Text 0"/>
          <p:cNvSpPr/>
          <p:nvPr/>
        </p:nvSpPr>
        <p:spPr>
          <a:xfrm>
            <a:off x="548640" y="457200"/>
            <a:ext cx="9144000" cy="274320"/>
          </a:xfrm>
          <a:prstGeom prst="rect">
            <a:avLst/>
          </a:prstGeom>
          <a:noFill/>
          <a:ln/>
        </p:spPr>
        <p:txBody>
          <a:bodyPr wrap="square" lIns="0" tIns="0" rIns="0" bIns="0" rtlCol="0" anchor="ctr"/>
          <a:lstStyle/>
          <a:p>
            <a:pPr marL="0" indent="0">
              <a:buNone/>
            </a:pPr>
            <a:r>
              <a:rPr lang="en-US" sz="1200" b="1" kern="0" spc="200" dirty="0">
                <a:solidFill>
                  <a:srgbClr val="AEB6E8"/>
                </a:solidFill>
                <a:latin typeface="Calibri" pitchFamily="34" charset="0"/>
                <a:ea typeface="Calibri" pitchFamily="34" charset="-122"/>
                <a:cs typeface="Calibri" pitchFamily="34" charset="-120"/>
              </a:rPr>
              <a:t>PÉRIMÈTRE DU PROJET</a:t>
            </a:r>
            <a:endParaRPr lang="en-US" sz="1200" dirty="0"/>
          </a:p>
        </p:txBody>
      </p:sp>
      <p:sp>
        <p:nvSpPr>
          <p:cNvPr id="3" name="Text 1"/>
          <p:cNvSpPr/>
          <p:nvPr/>
        </p:nvSpPr>
        <p:spPr>
          <a:xfrm>
            <a:off x="548640" y="731520"/>
            <a:ext cx="10972800" cy="640080"/>
          </a:xfrm>
          <a:prstGeom prst="rect">
            <a:avLst/>
          </a:prstGeom>
          <a:noFill/>
          <a:ln/>
        </p:spPr>
        <p:txBody>
          <a:bodyPr wrap="square" lIns="0" tIns="0" rIns="0" bIns="0" rtlCol="0" anchor="ctr"/>
          <a:lstStyle/>
          <a:p>
            <a:pPr marL="0" indent="0">
              <a:buNone/>
            </a:pPr>
            <a:r>
              <a:rPr lang="en-US" sz="3000" b="1" dirty="0">
                <a:solidFill>
                  <a:srgbClr val="FFFFFF"/>
                </a:solidFill>
                <a:latin typeface="Cambria" pitchFamily="34" charset="0"/>
                <a:ea typeface="Cambria" pitchFamily="34" charset="-122"/>
                <a:cs typeface="Cambria" pitchFamily="34" charset="-120"/>
              </a:rPr>
              <a:t>Le projet en chiffres</a:t>
            </a:r>
            <a:endParaRPr lang="en-US" sz="3000" dirty="0"/>
          </a:p>
        </p:txBody>
      </p:sp>
      <p:sp>
        <p:nvSpPr>
          <p:cNvPr id="4" name="Shape 2"/>
          <p:cNvSpPr/>
          <p:nvPr/>
        </p:nvSpPr>
        <p:spPr>
          <a:xfrm>
            <a:off x="548640" y="1691640"/>
            <a:ext cx="3611880" cy="1965960"/>
          </a:xfrm>
          <a:prstGeom prst="roundRect">
            <a:avLst>
              <a:gd name="adj" fmla="val 3721"/>
            </a:avLst>
          </a:prstGeom>
          <a:solidFill>
            <a:srgbClr val="232B6E"/>
          </a:solidFill>
          <a:ln/>
        </p:spPr>
      </p:sp>
      <p:sp>
        <p:nvSpPr>
          <p:cNvPr id="5" name="Shape 3"/>
          <p:cNvSpPr/>
          <p:nvPr/>
        </p:nvSpPr>
        <p:spPr>
          <a:xfrm>
            <a:off x="804672" y="1947672"/>
            <a:ext cx="566928" cy="566928"/>
          </a:xfrm>
          <a:prstGeom prst="ellipse">
            <a:avLst/>
          </a:prstGeom>
          <a:solidFill>
            <a:srgbClr val="3949AB"/>
          </a:solidFill>
          <a:ln/>
        </p:spPr>
      </p:sp>
      <p:pic>
        <p:nvPicPr>
          <p:cNvPr id="6" name="Image 0" descr="preencoded.png"/>
          <p:cNvPicPr>
            <a:picLocks noChangeAspect="1"/>
          </p:cNvPicPr>
          <p:nvPr/>
        </p:nvPicPr>
        <p:blipFill>
          <a:blip r:embed="rId3"/>
          <a:stretch>
            <a:fillRect/>
          </a:stretch>
        </p:blipFill>
        <p:spPr>
          <a:xfrm>
            <a:off x="872703" y="2015703"/>
            <a:ext cx="430865" cy="430865"/>
          </a:xfrm>
          <a:prstGeom prst="rect">
            <a:avLst/>
          </a:prstGeom>
        </p:spPr>
      </p:pic>
      <p:sp>
        <p:nvSpPr>
          <p:cNvPr id="7" name="Text 4"/>
          <p:cNvSpPr/>
          <p:nvPr/>
        </p:nvSpPr>
        <p:spPr>
          <a:xfrm>
            <a:off x="804672" y="2606040"/>
            <a:ext cx="3063240" cy="457200"/>
          </a:xfrm>
          <a:prstGeom prst="rect">
            <a:avLst/>
          </a:prstGeom>
          <a:noFill/>
          <a:ln/>
        </p:spPr>
        <p:txBody>
          <a:bodyPr wrap="square" lIns="0" tIns="0" rIns="0" bIns="0" rtlCol="0" anchor="ctr"/>
          <a:lstStyle/>
          <a:p>
            <a:pPr marL="0" indent="0">
              <a:buNone/>
            </a:pPr>
            <a:r>
              <a:rPr lang="en-US" sz="2400" b="1" dirty="0">
                <a:solidFill>
                  <a:srgbClr val="FFFFFF"/>
                </a:solidFill>
                <a:latin typeface="Cambria" pitchFamily="34" charset="0"/>
                <a:ea typeface="Cambria" pitchFamily="34" charset="-122"/>
                <a:cs typeface="Cambria" pitchFamily="34" charset="-120"/>
              </a:rPr>
              <a:t>100 000</a:t>
            </a:r>
            <a:endParaRPr lang="en-US" sz="2400" dirty="0"/>
          </a:p>
        </p:txBody>
      </p:sp>
      <p:sp>
        <p:nvSpPr>
          <p:cNvPr id="8" name="Text 5"/>
          <p:cNvSpPr/>
          <p:nvPr/>
        </p:nvSpPr>
        <p:spPr>
          <a:xfrm>
            <a:off x="804672" y="3063240"/>
            <a:ext cx="3108960" cy="502920"/>
          </a:xfrm>
          <a:prstGeom prst="rect">
            <a:avLst/>
          </a:prstGeom>
          <a:noFill/>
          <a:ln/>
        </p:spPr>
        <p:txBody>
          <a:bodyPr wrap="square" lIns="0" tIns="0" rIns="0" bIns="0" rtlCol="0" anchor="ctr"/>
          <a:lstStyle/>
          <a:p>
            <a:pPr marL="0" indent="0">
              <a:lnSpc>
                <a:spcPct val="110000"/>
              </a:lnSpc>
              <a:buNone/>
            </a:pPr>
            <a:r>
              <a:rPr lang="en-US" sz="1100" dirty="0">
                <a:solidFill>
                  <a:srgbClr val="C7CCF0"/>
                </a:solidFill>
                <a:latin typeface="Calibri" pitchFamily="34" charset="0"/>
                <a:ea typeface="Calibri" pitchFamily="34" charset="-122"/>
                <a:cs typeface="Calibri" pitchFamily="34" charset="-120"/>
              </a:rPr>
              <a:t>abonnés répartis sur 2 pays</a:t>
            </a:r>
            <a:endParaRPr lang="en-US" sz="1100" dirty="0"/>
          </a:p>
        </p:txBody>
      </p:sp>
      <p:sp>
        <p:nvSpPr>
          <p:cNvPr id="9" name="Shape 6"/>
          <p:cNvSpPr/>
          <p:nvPr/>
        </p:nvSpPr>
        <p:spPr>
          <a:xfrm>
            <a:off x="4416552" y="1691640"/>
            <a:ext cx="3611880" cy="1965960"/>
          </a:xfrm>
          <a:prstGeom prst="roundRect">
            <a:avLst>
              <a:gd name="adj" fmla="val 3721"/>
            </a:avLst>
          </a:prstGeom>
          <a:solidFill>
            <a:srgbClr val="232B6E"/>
          </a:solidFill>
          <a:ln/>
        </p:spPr>
      </p:sp>
      <p:sp>
        <p:nvSpPr>
          <p:cNvPr id="10" name="Shape 7"/>
          <p:cNvSpPr/>
          <p:nvPr/>
        </p:nvSpPr>
        <p:spPr>
          <a:xfrm>
            <a:off x="4672584" y="1947672"/>
            <a:ext cx="566928" cy="566928"/>
          </a:xfrm>
          <a:prstGeom prst="ellipse">
            <a:avLst/>
          </a:prstGeom>
          <a:solidFill>
            <a:srgbClr val="3949AB"/>
          </a:solidFill>
          <a:ln/>
        </p:spPr>
      </p:sp>
      <p:pic>
        <p:nvPicPr>
          <p:cNvPr id="11" name="Image 1" descr="preencoded.png"/>
          <p:cNvPicPr>
            <a:picLocks noChangeAspect="1"/>
          </p:cNvPicPr>
          <p:nvPr/>
        </p:nvPicPr>
        <p:blipFill>
          <a:blip r:embed="rId4"/>
          <a:stretch>
            <a:fillRect/>
          </a:stretch>
        </p:blipFill>
        <p:spPr>
          <a:xfrm>
            <a:off x="4740615" y="2015703"/>
            <a:ext cx="430865" cy="430865"/>
          </a:xfrm>
          <a:prstGeom prst="rect">
            <a:avLst/>
          </a:prstGeom>
        </p:spPr>
      </p:pic>
      <p:sp>
        <p:nvSpPr>
          <p:cNvPr id="12" name="Text 8"/>
          <p:cNvSpPr/>
          <p:nvPr/>
        </p:nvSpPr>
        <p:spPr>
          <a:xfrm>
            <a:off x="4672584" y="2606040"/>
            <a:ext cx="3063240" cy="457200"/>
          </a:xfrm>
          <a:prstGeom prst="rect">
            <a:avLst/>
          </a:prstGeom>
          <a:noFill/>
          <a:ln/>
        </p:spPr>
        <p:txBody>
          <a:bodyPr wrap="square" lIns="0" tIns="0" rIns="0" bIns="0" rtlCol="0" anchor="ctr"/>
          <a:lstStyle/>
          <a:p>
            <a:pPr marL="0" indent="0">
              <a:buNone/>
            </a:pPr>
            <a:r>
              <a:rPr lang="en-US" sz="2400" b="1" dirty="0">
                <a:solidFill>
                  <a:srgbClr val="FFFFFF"/>
                </a:solidFill>
                <a:latin typeface="Cambria" pitchFamily="34" charset="0"/>
                <a:ea typeface="Cambria" pitchFamily="34" charset="-122"/>
                <a:cs typeface="Cambria" pitchFamily="34" charset="-120"/>
              </a:rPr>
              <a:t>500 000+</a:t>
            </a:r>
            <a:endParaRPr lang="en-US" sz="2400" dirty="0"/>
          </a:p>
        </p:txBody>
      </p:sp>
      <p:sp>
        <p:nvSpPr>
          <p:cNvPr id="13" name="Text 9"/>
          <p:cNvSpPr/>
          <p:nvPr/>
        </p:nvSpPr>
        <p:spPr>
          <a:xfrm>
            <a:off x="4672584" y="3063240"/>
            <a:ext cx="3108960" cy="502920"/>
          </a:xfrm>
          <a:prstGeom prst="rect">
            <a:avLst/>
          </a:prstGeom>
          <a:noFill/>
          <a:ln/>
        </p:spPr>
        <p:txBody>
          <a:bodyPr wrap="square" lIns="0" tIns="0" rIns="0" bIns="0" rtlCol="0" anchor="ctr"/>
          <a:lstStyle/>
          <a:p>
            <a:pPr marL="0" indent="0">
              <a:lnSpc>
                <a:spcPct val="110000"/>
              </a:lnSpc>
              <a:buNone/>
            </a:pPr>
            <a:r>
              <a:rPr lang="en-US" sz="1100" dirty="0">
                <a:solidFill>
                  <a:srgbClr val="C7CCF0"/>
                </a:solidFill>
                <a:latin typeface="Calibri" pitchFamily="34" charset="0"/>
                <a:ea typeface="Calibri" pitchFamily="34" charset="-122"/>
                <a:cs typeface="Calibri" pitchFamily="34" charset="-120"/>
              </a:rPr>
              <a:t>événements d'usage (appels, SMS, data)</a:t>
            </a:r>
            <a:endParaRPr lang="en-US" sz="1100" dirty="0"/>
          </a:p>
        </p:txBody>
      </p:sp>
      <p:sp>
        <p:nvSpPr>
          <p:cNvPr id="14" name="Shape 10"/>
          <p:cNvSpPr/>
          <p:nvPr/>
        </p:nvSpPr>
        <p:spPr>
          <a:xfrm>
            <a:off x="8284464" y="1691640"/>
            <a:ext cx="3611880" cy="1965960"/>
          </a:xfrm>
          <a:prstGeom prst="roundRect">
            <a:avLst>
              <a:gd name="adj" fmla="val 3721"/>
            </a:avLst>
          </a:prstGeom>
          <a:solidFill>
            <a:srgbClr val="232B6E"/>
          </a:solidFill>
          <a:ln/>
        </p:spPr>
      </p:sp>
      <p:sp>
        <p:nvSpPr>
          <p:cNvPr id="15" name="Shape 11"/>
          <p:cNvSpPr/>
          <p:nvPr/>
        </p:nvSpPr>
        <p:spPr>
          <a:xfrm>
            <a:off x="8540496" y="1947672"/>
            <a:ext cx="566928" cy="566928"/>
          </a:xfrm>
          <a:prstGeom prst="ellipse">
            <a:avLst/>
          </a:prstGeom>
          <a:solidFill>
            <a:srgbClr val="3949AB"/>
          </a:solidFill>
          <a:ln/>
        </p:spPr>
      </p:sp>
      <p:pic>
        <p:nvPicPr>
          <p:cNvPr id="16" name="Image 2" descr="preencoded.png"/>
          <p:cNvPicPr>
            <a:picLocks noChangeAspect="1"/>
          </p:cNvPicPr>
          <p:nvPr/>
        </p:nvPicPr>
        <p:blipFill>
          <a:blip r:embed="rId5"/>
          <a:stretch>
            <a:fillRect/>
          </a:stretch>
        </p:blipFill>
        <p:spPr>
          <a:xfrm>
            <a:off x="8608527" y="2015703"/>
            <a:ext cx="430865" cy="430865"/>
          </a:xfrm>
          <a:prstGeom prst="rect">
            <a:avLst/>
          </a:prstGeom>
        </p:spPr>
      </p:pic>
      <p:sp>
        <p:nvSpPr>
          <p:cNvPr id="17" name="Text 12"/>
          <p:cNvSpPr/>
          <p:nvPr/>
        </p:nvSpPr>
        <p:spPr>
          <a:xfrm>
            <a:off x="8540496" y="2606040"/>
            <a:ext cx="3063240" cy="457200"/>
          </a:xfrm>
          <a:prstGeom prst="rect">
            <a:avLst/>
          </a:prstGeom>
          <a:noFill/>
          <a:ln/>
        </p:spPr>
        <p:txBody>
          <a:bodyPr wrap="square" lIns="0" tIns="0" rIns="0" bIns="0" rtlCol="0" anchor="ctr"/>
          <a:lstStyle/>
          <a:p>
            <a:pPr marL="0" indent="0">
              <a:buNone/>
            </a:pPr>
            <a:r>
              <a:rPr lang="en-US" sz="2400" b="1" dirty="0">
                <a:solidFill>
                  <a:srgbClr val="FFFFFF"/>
                </a:solidFill>
                <a:latin typeface="Cambria" pitchFamily="34" charset="0"/>
                <a:ea typeface="Cambria" pitchFamily="34" charset="-122"/>
                <a:cs typeface="Cambria" pitchFamily="34" charset="-120"/>
              </a:rPr>
              <a:t>20+</a:t>
            </a:r>
            <a:endParaRPr lang="en-US" sz="2400" dirty="0"/>
          </a:p>
        </p:txBody>
      </p:sp>
      <p:sp>
        <p:nvSpPr>
          <p:cNvPr id="18" name="Text 13"/>
          <p:cNvSpPr/>
          <p:nvPr/>
        </p:nvSpPr>
        <p:spPr>
          <a:xfrm>
            <a:off x="8540496" y="3063240"/>
            <a:ext cx="3108960" cy="502920"/>
          </a:xfrm>
          <a:prstGeom prst="rect">
            <a:avLst/>
          </a:prstGeom>
          <a:noFill/>
          <a:ln/>
        </p:spPr>
        <p:txBody>
          <a:bodyPr wrap="square" lIns="0" tIns="0" rIns="0" bIns="0" rtlCol="0" anchor="ctr"/>
          <a:lstStyle/>
          <a:p>
            <a:pPr marL="0" indent="0">
              <a:lnSpc>
                <a:spcPct val="110000"/>
              </a:lnSpc>
              <a:buNone/>
            </a:pPr>
            <a:r>
              <a:rPr lang="en-US" sz="1100" dirty="0">
                <a:solidFill>
                  <a:srgbClr val="C7CCF0"/>
                </a:solidFill>
                <a:latin typeface="Calibri" pitchFamily="34" charset="0"/>
                <a:ea typeface="Calibri" pitchFamily="34" charset="-122"/>
                <a:cs typeface="Calibri" pitchFamily="34" charset="-120"/>
              </a:rPr>
              <a:t>antennes réseau 2G / 3G / 4G</a:t>
            </a:r>
            <a:endParaRPr lang="en-US" sz="1100" dirty="0"/>
          </a:p>
        </p:txBody>
      </p:sp>
      <p:sp>
        <p:nvSpPr>
          <p:cNvPr id="19" name="Shape 14"/>
          <p:cNvSpPr/>
          <p:nvPr/>
        </p:nvSpPr>
        <p:spPr>
          <a:xfrm>
            <a:off x="548640" y="3913632"/>
            <a:ext cx="3611880" cy="1965960"/>
          </a:xfrm>
          <a:prstGeom prst="roundRect">
            <a:avLst>
              <a:gd name="adj" fmla="val 3721"/>
            </a:avLst>
          </a:prstGeom>
          <a:solidFill>
            <a:srgbClr val="232B6E"/>
          </a:solidFill>
          <a:ln/>
        </p:spPr>
      </p:sp>
      <p:sp>
        <p:nvSpPr>
          <p:cNvPr id="20" name="Shape 15"/>
          <p:cNvSpPr/>
          <p:nvPr/>
        </p:nvSpPr>
        <p:spPr>
          <a:xfrm>
            <a:off x="804672" y="4169664"/>
            <a:ext cx="566928" cy="566928"/>
          </a:xfrm>
          <a:prstGeom prst="ellipse">
            <a:avLst/>
          </a:prstGeom>
          <a:solidFill>
            <a:srgbClr val="3949AB"/>
          </a:solidFill>
          <a:ln/>
        </p:spPr>
      </p:sp>
      <p:pic>
        <p:nvPicPr>
          <p:cNvPr id="21" name="Image 3" descr="preencoded.png"/>
          <p:cNvPicPr>
            <a:picLocks noChangeAspect="1"/>
          </p:cNvPicPr>
          <p:nvPr/>
        </p:nvPicPr>
        <p:blipFill>
          <a:blip r:embed="rId6"/>
          <a:stretch>
            <a:fillRect/>
          </a:stretch>
        </p:blipFill>
        <p:spPr>
          <a:xfrm>
            <a:off x="872703" y="4237695"/>
            <a:ext cx="430865" cy="430865"/>
          </a:xfrm>
          <a:prstGeom prst="rect">
            <a:avLst/>
          </a:prstGeom>
        </p:spPr>
      </p:pic>
      <p:sp>
        <p:nvSpPr>
          <p:cNvPr id="22" name="Text 16"/>
          <p:cNvSpPr/>
          <p:nvPr/>
        </p:nvSpPr>
        <p:spPr>
          <a:xfrm>
            <a:off x="804672" y="4828032"/>
            <a:ext cx="3063240" cy="457200"/>
          </a:xfrm>
          <a:prstGeom prst="rect">
            <a:avLst/>
          </a:prstGeom>
          <a:noFill/>
          <a:ln/>
        </p:spPr>
        <p:txBody>
          <a:bodyPr wrap="square" lIns="0" tIns="0" rIns="0" bIns="0" rtlCol="0" anchor="ctr"/>
          <a:lstStyle/>
          <a:p>
            <a:pPr marL="0" indent="0">
              <a:buNone/>
            </a:pPr>
            <a:r>
              <a:rPr lang="en-US" sz="2400" b="1" dirty="0">
                <a:solidFill>
                  <a:srgbClr val="FFFFFF"/>
                </a:solidFill>
                <a:latin typeface="Cambria" pitchFamily="34" charset="0"/>
                <a:ea typeface="Cambria" pitchFamily="34" charset="-122"/>
                <a:cs typeface="Cambria" pitchFamily="34" charset="-120"/>
              </a:rPr>
              <a:t>6 villes</a:t>
            </a:r>
            <a:endParaRPr lang="en-US" sz="2400" dirty="0"/>
          </a:p>
        </p:txBody>
      </p:sp>
      <p:sp>
        <p:nvSpPr>
          <p:cNvPr id="23" name="Text 17"/>
          <p:cNvSpPr/>
          <p:nvPr/>
        </p:nvSpPr>
        <p:spPr>
          <a:xfrm>
            <a:off x="804672" y="5285232"/>
            <a:ext cx="3108960" cy="502920"/>
          </a:xfrm>
          <a:prstGeom prst="rect">
            <a:avLst/>
          </a:prstGeom>
          <a:noFill/>
          <a:ln/>
        </p:spPr>
        <p:txBody>
          <a:bodyPr wrap="square" lIns="0" tIns="0" rIns="0" bIns="0" rtlCol="0" anchor="ctr"/>
          <a:lstStyle/>
          <a:p>
            <a:pPr marL="0" indent="0">
              <a:lnSpc>
                <a:spcPct val="110000"/>
              </a:lnSpc>
              <a:buNone/>
            </a:pPr>
            <a:r>
              <a:rPr lang="en-US" sz="1100" dirty="0">
                <a:solidFill>
                  <a:srgbClr val="C7CCF0"/>
                </a:solidFill>
                <a:latin typeface="Calibri" pitchFamily="34" charset="0"/>
                <a:ea typeface="Calibri" pitchFamily="34" charset="-122"/>
                <a:cs typeface="Calibri" pitchFamily="34" charset="-120"/>
              </a:rPr>
              <a:t>Ouagadougou, Bobo, Koudougou, Accra, Kumasi, Tamale</a:t>
            </a:r>
            <a:endParaRPr lang="en-US" sz="1100" dirty="0"/>
          </a:p>
        </p:txBody>
      </p:sp>
      <p:sp>
        <p:nvSpPr>
          <p:cNvPr id="24" name="Shape 18"/>
          <p:cNvSpPr/>
          <p:nvPr/>
        </p:nvSpPr>
        <p:spPr>
          <a:xfrm>
            <a:off x="4416552" y="3913632"/>
            <a:ext cx="3611880" cy="1965960"/>
          </a:xfrm>
          <a:prstGeom prst="roundRect">
            <a:avLst>
              <a:gd name="adj" fmla="val 3721"/>
            </a:avLst>
          </a:prstGeom>
          <a:solidFill>
            <a:srgbClr val="232B6E"/>
          </a:solidFill>
          <a:ln/>
        </p:spPr>
      </p:sp>
      <p:sp>
        <p:nvSpPr>
          <p:cNvPr id="25" name="Shape 19"/>
          <p:cNvSpPr/>
          <p:nvPr/>
        </p:nvSpPr>
        <p:spPr>
          <a:xfrm>
            <a:off x="4672584" y="4169664"/>
            <a:ext cx="566928" cy="566928"/>
          </a:xfrm>
          <a:prstGeom prst="ellipse">
            <a:avLst/>
          </a:prstGeom>
          <a:solidFill>
            <a:srgbClr val="3949AB"/>
          </a:solidFill>
          <a:ln/>
        </p:spPr>
      </p:sp>
      <p:pic>
        <p:nvPicPr>
          <p:cNvPr id="26" name="Image 4" descr="preencoded.png"/>
          <p:cNvPicPr>
            <a:picLocks noChangeAspect="1"/>
          </p:cNvPicPr>
          <p:nvPr/>
        </p:nvPicPr>
        <p:blipFill>
          <a:blip r:embed="rId7"/>
          <a:stretch>
            <a:fillRect/>
          </a:stretch>
        </p:blipFill>
        <p:spPr>
          <a:xfrm>
            <a:off x="4740615" y="4237695"/>
            <a:ext cx="430865" cy="430865"/>
          </a:xfrm>
          <a:prstGeom prst="rect">
            <a:avLst/>
          </a:prstGeom>
        </p:spPr>
      </p:pic>
      <p:sp>
        <p:nvSpPr>
          <p:cNvPr id="27" name="Text 20"/>
          <p:cNvSpPr/>
          <p:nvPr/>
        </p:nvSpPr>
        <p:spPr>
          <a:xfrm>
            <a:off x="4672584" y="4828032"/>
            <a:ext cx="3063240" cy="457200"/>
          </a:xfrm>
          <a:prstGeom prst="rect">
            <a:avLst/>
          </a:prstGeom>
          <a:noFill/>
          <a:ln/>
        </p:spPr>
        <p:txBody>
          <a:bodyPr wrap="square" lIns="0" tIns="0" rIns="0" bIns="0" rtlCol="0" anchor="ctr"/>
          <a:lstStyle/>
          <a:p>
            <a:pPr marL="0" indent="0">
              <a:buNone/>
            </a:pPr>
            <a:r>
              <a:rPr lang="en-US" sz="2400" b="1" dirty="0">
                <a:solidFill>
                  <a:srgbClr val="FFFFFF"/>
                </a:solidFill>
                <a:latin typeface="Cambria" pitchFamily="34" charset="0"/>
                <a:ea typeface="Cambria" pitchFamily="34" charset="-122"/>
                <a:cs typeface="Cambria" pitchFamily="34" charset="-120"/>
              </a:rPr>
              <a:t>10 offres</a:t>
            </a:r>
            <a:endParaRPr lang="en-US" sz="2400" dirty="0"/>
          </a:p>
        </p:txBody>
      </p:sp>
      <p:sp>
        <p:nvSpPr>
          <p:cNvPr id="28" name="Text 21"/>
          <p:cNvSpPr/>
          <p:nvPr/>
        </p:nvSpPr>
        <p:spPr>
          <a:xfrm>
            <a:off x="4672584" y="5285232"/>
            <a:ext cx="3108960" cy="502920"/>
          </a:xfrm>
          <a:prstGeom prst="rect">
            <a:avLst/>
          </a:prstGeom>
          <a:noFill/>
          <a:ln/>
        </p:spPr>
        <p:txBody>
          <a:bodyPr wrap="square" lIns="0" tIns="0" rIns="0" bIns="0" rtlCol="0" anchor="ctr"/>
          <a:lstStyle/>
          <a:p>
            <a:pPr marL="0" indent="0">
              <a:lnSpc>
                <a:spcPct val="110000"/>
              </a:lnSpc>
              <a:buNone/>
            </a:pPr>
            <a:r>
              <a:rPr lang="en-US" sz="1100" dirty="0">
                <a:solidFill>
                  <a:srgbClr val="C7CCF0"/>
                </a:solidFill>
                <a:latin typeface="Calibri" pitchFamily="34" charset="0"/>
                <a:ea typeface="Calibri" pitchFamily="34" charset="-122"/>
                <a:cs typeface="Calibri" pitchFamily="34" charset="-120"/>
              </a:rPr>
              <a:t>plans prépayés, postpayés et entreprise</a:t>
            </a:r>
            <a:endParaRPr lang="en-US" sz="1100" dirty="0"/>
          </a:p>
        </p:txBody>
      </p:sp>
      <p:sp>
        <p:nvSpPr>
          <p:cNvPr id="29" name="Shape 22"/>
          <p:cNvSpPr/>
          <p:nvPr/>
        </p:nvSpPr>
        <p:spPr>
          <a:xfrm>
            <a:off x="8284464" y="3913632"/>
            <a:ext cx="3611880" cy="1965960"/>
          </a:xfrm>
          <a:prstGeom prst="roundRect">
            <a:avLst>
              <a:gd name="adj" fmla="val 3721"/>
            </a:avLst>
          </a:prstGeom>
          <a:solidFill>
            <a:srgbClr val="232B6E"/>
          </a:solidFill>
          <a:ln/>
        </p:spPr>
      </p:sp>
      <p:sp>
        <p:nvSpPr>
          <p:cNvPr id="30" name="Shape 23"/>
          <p:cNvSpPr/>
          <p:nvPr/>
        </p:nvSpPr>
        <p:spPr>
          <a:xfrm>
            <a:off x="8540496" y="4169664"/>
            <a:ext cx="566928" cy="566928"/>
          </a:xfrm>
          <a:prstGeom prst="ellipse">
            <a:avLst/>
          </a:prstGeom>
          <a:solidFill>
            <a:srgbClr val="3949AB"/>
          </a:solidFill>
          <a:ln/>
        </p:spPr>
      </p:sp>
      <p:pic>
        <p:nvPicPr>
          <p:cNvPr id="31" name="Image 5" descr="preencoded.png"/>
          <p:cNvPicPr>
            <a:picLocks noChangeAspect="1"/>
          </p:cNvPicPr>
          <p:nvPr/>
        </p:nvPicPr>
        <p:blipFill>
          <a:blip r:embed="rId8"/>
          <a:stretch>
            <a:fillRect/>
          </a:stretch>
        </p:blipFill>
        <p:spPr>
          <a:xfrm>
            <a:off x="8608527" y="4237695"/>
            <a:ext cx="430865" cy="430865"/>
          </a:xfrm>
          <a:prstGeom prst="rect">
            <a:avLst/>
          </a:prstGeom>
        </p:spPr>
      </p:pic>
      <p:sp>
        <p:nvSpPr>
          <p:cNvPr id="32" name="Text 24"/>
          <p:cNvSpPr/>
          <p:nvPr/>
        </p:nvSpPr>
        <p:spPr>
          <a:xfrm>
            <a:off x="8540496" y="4828032"/>
            <a:ext cx="3063240" cy="457200"/>
          </a:xfrm>
          <a:prstGeom prst="rect">
            <a:avLst/>
          </a:prstGeom>
          <a:noFill/>
          <a:ln/>
        </p:spPr>
        <p:txBody>
          <a:bodyPr wrap="square" lIns="0" tIns="0" rIns="0" bIns="0" rtlCol="0" anchor="ctr"/>
          <a:lstStyle/>
          <a:p>
            <a:pPr marL="0" indent="0">
              <a:buNone/>
            </a:pPr>
            <a:r>
              <a:rPr lang="en-US" sz="2400" b="1" dirty="0">
                <a:solidFill>
                  <a:srgbClr val="FFFFFF"/>
                </a:solidFill>
                <a:latin typeface="Cambria" pitchFamily="34" charset="0"/>
                <a:ea typeface="Cambria" pitchFamily="34" charset="-122"/>
                <a:cs typeface="Cambria" pitchFamily="34" charset="-120"/>
              </a:rPr>
              <a:t>7 KPI</a:t>
            </a:r>
            <a:endParaRPr lang="en-US" sz="2400" dirty="0"/>
          </a:p>
        </p:txBody>
      </p:sp>
      <p:sp>
        <p:nvSpPr>
          <p:cNvPr id="33" name="Text 25"/>
          <p:cNvSpPr/>
          <p:nvPr/>
        </p:nvSpPr>
        <p:spPr>
          <a:xfrm>
            <a:off x="8540496" y="5285232"/>
            <a:ext cx="3108960" cy="502920"/>
          </a:xfrm>
          <a:prstGeom prst="rect">
            <a:avLst/>
          </a:prstGeom>
          <a:noFill/>
          <a:ln/>
        </p:spPr>
        <p:txBody>
          <a:bodyPr wrap="square" lIns="0" tIns="0" rIns="0" bIns="0" rtlCol="0" anchor="ctr"/>
          <a:lstStyle/>
          <a:p>
            <a:pPr marL="0" indent="0">
              <a:lnSpc>
                <a:spcPct val="110000"/>
              </a:lnSpc>
              <a:buNone/>
            </a:pPr>
            <a:r>
              <a:rPr lang="en-US" sz="1100" dirty="0">
                <a:solidFill>
                  <a:srgbClr val="C7CCF0"/>
                </a:solidFill>
                <a:latin typeface="Calibri" pitchFamily="34" charset="0"/>
                <a:ea typeface="Calibri" pitchFamily="34" charset="-122"/>
                <a:cs typeface="Calibri" pitchFamily="34" charset="-120"/>
              </a:rPr>
              <a:t>indicateurs matérialisés pour le pilotage</a:t>
            </a:r>
            <a:endParaRPr lang="en-US" sz="1100" dirty="0"/>
          </a:p>
        </p:txBody>
      </p:sp>
      <p:sp>
        <p:nvSpPr>
          <p:cNvPr id="34" name="Text 26"/>
          <p:cNvSpPr/>
          <p:nvPr/>
        </p:nvSpPr>
        <p:spPr>
          <a:xfrm>
            <a:off x="457200" y="6473952"/>
            <a:ext cx="7315200" cy="274320"/>
          </a:xfrm>
          <a:prstGeom prst="rect">
            <a:avLst/>
          </a:prstGeom>
          <a:noFill/>
          <a:ln/>
        </p:spPr>
        <p:txBody>
          <a:bodyPr wrap="square" lIns="0" tIns="0" rIns="0" bIns="0" rtlCol="0" anchor="ctr"/>
          <a:lstStyle/>
          <a:p>
            <a:pPr marL="0" indent="0" algn="l">
              <a:buNone/>
            </a:pPr>
            <a:r>
              <a:rPr lang="en-US" sz="900" dirty="0">
                <a:solidFill>
                  <a:srgbClr val="6B7080"/>
                </a:solidFill>
                <a:latin typeface="Calibri" pitchFamily="34" charset="0"/>
                <a:ea typeface="Calibri" pitchFamily="34" charset="-122"/>
                <a:cs typeface="Calibri" pitchFamily="34" charset="-120"/>
              </a:rPr>
              <a:t>Sahel Telecom - Documentation technique EDW</a:t>
            </a:r>
            <a:endParaRPr lang="en-US" sz="900" dirty="0"/>
          </a:p>
        </p:txBody>
      </p:sp>
      <p:sp>
        <p:nvSpPr>
          <p:cNvPr id="35" name="Text 27"/>
          <p:cNvSpPr/>
          <p:nvPr/>
        </p:nvSpPr>
        <p:spPr>
          <a:xfrm>
            <a:off x="11247120" y="6473952"/>
            <a:ext cx="457200" cy="274320"/>
          </a:xfrm>
          <a:prstGeom prst="rect">
            <a:avLst/>
          </a:prstGeom>
          <a:noFill/>
          <a:ln/>
        </p:spPr>
        <p:txBody>
          <a:bodyPr wrap="square" lIns="0" tIns="0" rIns="0" bIns="0" rtlCol="0" anchor="ctr"/>
          <a:lstStyle/>
          <a:p>
            <a:pPr marL="0" indent="0" algn="r">
              <a:buNone/>
            </a:pPr>
            <a:r>
              <a:rPr lang="en-US" sz="900" dirty="0">
                <a:solidFill>
                  <a:srgbClr val="6B7080"/>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47472"/>
            <a:ext cx="9144000" cy="274320"/>
          </a:xfrm>
          <a:prstGeom prst="rect">
            <a:avLst/>
          </a:prstGeom>
          <a:noFill/>
          <a:ln/>
        </p:spPr>
        <p:txBody>
          <a:bodyPr wrap="square" lIns="0" tIns="0" rIns="0" bIns="0" rtlCol="0" anchor="ctr"/>
          <a:lstStyle/>
          <a:p>
            <a:pPr marL="0" indent="0">
              <a:buNone/>
            </a:pPr>
            <a:r>
              <a:rPr lang="en-US" sz="1200" b="1" kern="0" spc="200" dirty="0">
                <a:solidFill>
                  <a:srgbClr val="3949AB"/>
                </a:solidFill>
                <a:latin typeface="Calibri" pitchFamily="34" charset="0"/>
                <a:ea typeface="Calibri" pitchFamily="34" charset="-122"/>
                <a:cs typeface="Calibri" pitchFamily="34" charset="-120"/>
              </a:rPr>
              <a:t>ARCHITECTURE</a:t>
            </a:r>
            <a:endParaRPr lang="en-US" sz="1200" dirty="0"/>
          </a:p>
        </p:txBody>
      </p:sp>
      <p:sp>
        <p:nvSpPr>
          <p:cNvPr id="3" name="Text 1"/>
          <p:cNvSpPr/>
          <p:nvPr/>
        </p:nvSpPr>
        <p:spPr>
          <a:xfrm>
            <a:off x="548640" y="603504"/>
            <a:ext cx="11064240" cy="685800"/>
          </a:xfrm>
          <a:prstGeom prst="rect">
            <a:avLst/>
          </a:prstGeom>
          <a:noFill/>
          <a:ln/>
        </p:spPr>
        <p:txBody>
          <a:bodyPr wrap="square" lIns="0" tIns="0" rIns="0" bIns="0" rtlCol="0" anchor="ctr"/>
          <a:lstStyle/>
          <a:p>
            <a:pPr marL="0" indent="0">
              <a:buNone/>
            </a:pPr>
            <a:r>
              <a:rPr lang="en-US" sz="3000" b="1" dirty="0">
                <a:solidFill>
                  <a:srgbClr val="1E2233"/>
                </a:solidFill>
                <a:latin typeface="Cambria" pitchFamily="34" charset="0"/>
                <a:ea typeface="Cambria" pitchFamily="34" charset="-122"/>
                <a:cs typeface="Cambria" pitchFamily="34" charset="-120"/>
              </a:rPr>
              <a:t>L'entrepôt de données : schéma en étoile</a:t>
            </a:r>
            <a:endParaRPr lang="en-US" sz="3000" dirty="0"/>
          </a:p>
        </p:txBody>
      </p:sp>
      <p:sp>
        <p:nvSpPr>
          <p:cNvPr id="4" name="Text 2"/>
          <p:cNvSpPr/>
          <p:nvPr/>
        </p:nvSpPr>
        <p:spPr>
          <a:xfrm>
            <a:off x="548640" y="1371600"/>
            <a:ext cx="11064240" cy="457200"/>
          </a:xfrm>
          <a:prstGeom prst="rect">
            <a:avLst/>
          </a:prstGeom>
          <a:noFill/>
          <a:ln/>
        </p:spPr>
        <p:txBody>
          <a:bodyPr wrap="square" lIns="0" tIns="0" rIns="0" bIns="0" rtlCol="0" anchor="ctr"/>
          <a:lstStyle/>
          <a:p>
            <a:pPr marL="0" indent="0">
              <a:buNone/>
            </a:pPr>
            <a:r>
              <a:rPr lang="en-US" sz="1300" dirty="0">
                <a:solidFill>
                  <a:srgbClr val="6B7080"/>
                </a:solidFill>
                <a:latin typeface="Calibri" pitchFamily="34" charset="0"/>
                <a:ea typeface="Calibri" pitchFamily="34" charset="-122"/>
                <a:cs typeface="Calibri" pitchFamily="34" charset="-120"/>
              </a:rPr>
              <a:t>Sous MySQL 8.0, cinq dimensions entourent trois tables de faits afin de minimiser les jointures complexes et d'optimiser les requêtes analytiques.</a:t>
            </a:r>
            <a:endParaRPr lang="en-US" sz="1300" dirty="0"/>
          </a:p>
        </p:txBody>
      </p:sp>
      <p:sp>
        <p:nvSpPr>
          <p:cNvPr id="5" name="Shape 3"/>
          <p:cNvSpPr/>
          <p:nvPr/>
        </p:nvSpPr>
        <p:spPr>
          <a:xfrm>
            <a:off x="4617720" y="3246120"/>
            <a:ext cx="2926080" cy="2148840"/>
          </a:xfrm>
          <a:prstGeom prst="roundRect">
            <a:avLst>
              <a:gd name="adj" fmla="val 3830"/>
            </a:avLst>
          </a:prstGeom>
          <a:solidFill>
            <a:srgbClr val="1A237E"/>
          </a:solidFill>
          <a:ln/>
          <a:effectLst>
            <a:outerShdw blurRad="127000" dist="38100" dir="5400000" algn="bl" rotWithShape="0">
              <a:srgbClr val="1A237E">
                <a:alpha val="14000"/>
              </a:srgbClr>
            </a:outerShdw>
          </a:effectLst>
        </p:spPr>
      </p:sp>
      <p:sp>
        <p:nvSpPr>
          <p:cNvPr id="6" name="Text 4"/>
          <p:cNvSpPr/>
          <p:nvPr/>
        </p:nvSpPr>
        <p:spPr>
          <a:xfrm>
            <a:off x="4800600" y="3383280"/>
            <a:ext cx="2560320" cy="274320"/>
          </a:xfrm>
          <a:prstGeom prst="rect">
            <a:avLst/>
          </a:prstGeom>
          <a:noFill/>
          <a:ln/>
        </p:spPr>
        <p:txBody>
          <a:bodyPr wrap="square" lIns="0" tIns="0" rIns="0" bIns="0" rtlCol="0" anchor="ctr"/>
          <a:lstStyle/>
          <a:p>
            <a:pPr marL="0" indent="0">
              <a:buNone/>
            </a:pPr>
            <a:r>
              <a:rPr lang="en-US" sz="1100" b="1" kern="0" spc="150" dirty="0">
                <a:solidFill>
                  <a:srgbClr val="AEB6E8"/>
                </a:solidFill>
                <a:latin typeface="Calibri" pitchFamily="34" charset="0"/>
                <a:ea typeface="Calibri" pitchFamily="34" charset="-122"/>
                <a:cs typeface="Calibri" pitchFamily="34" charset="-120"/>
              </a:rPr>
              <a:t>TABLES DE FAITS</a:t>
            </a:r>
            <a:endParaRPr lang="en-US" sz="1100" dirty="0"/>
          </a:p>
        </p:txBody>
      </p:sp>
      <p:sp>
        <p:nvSpPr>
          <p:cNvPr id="7" name="Text 5"/>
          <p:cNvSpPr/>
          <p:nvPr/>
        </p:nvSpPr>
        <p:spPr>
          <a:xfrm>
            <a:off x="4800600" y="3776472"/>
            <a:ext cx="2560320" cy="411480"/>
          </a:xfrm>
          <a:prstGeom prst="rect">
            <a:avLst/>
          </a:prstGeom>
          <a:noFill/>
          <a:ln/>
        </p:spPr>
        <p:txBody>
          <a:bodyPr wrap="square" lIns="0" tIns="0" rIns="0" bIns="0" rtlCol="0" anchor="ctr"/>
          <a:lstStyle/>
          <a:p>
            <a:pPr marL="0" indent="0">
              <a:buNone/>
            </a:pPr>
            <a:r>
              <a:rPr lang="en-US" sz="1250" dirty="0" err="1">
                <a:solidFill>
                  <a:srgbClr val="FFFFFF"/>
                </a:solidFill>
                <a:latin typeface="Calibri" pitchFamily="34" charset="0"/>
                <a:ea typeface="Calibri" pitchFamily="34" charset="-122"/>
                <a:cs typeface="Calibri" pitchFamily="34" charset="-120"/>
              </a:rPr>
              <a:t>fact_usage</a:t>
            </a:r>
            <a:r>
              <a:rPr lang="en-US" sz="1250" dirty="0">
                <a:solidFill>
                  <a:srgbClr val="FFFFFF"/>
                </a:solidFill>
                <a:latin typeface="Calibri" pitchFamily="34" charset="0"/>
                <a:ea typeface="Calibri" pitchFamily="34" charset="-122"/>
                <a:cs typeface="Calibri" pitchFamily="34" charset="-120"/>
              </a:rPr>
              <a:t> - transactionnel</a:t>
            </a:r>
            <a:endParaRPr lang="en-US" sz="1250" dirty="0"/>
          </a:p>
        </p:txBody>
      </p:sp>
      <p:sp>
        <p:nvSpPr>
          <p:cNvPr id="8" name="Text 6"/>
          <p:cNvSpPr/>
          <p:nvPr/>
        </p:nvSpPr>
        <p:spPr>
          <a:xfrm>
            <a:off x="4800600" y="4251960"/>
            <a:ext cx="2560320" cy="411480"/>
          </a:xfrm>
          <a:prstGeom prst="rect">
            <a:avLst/>
          </a:prstGeom>
          <a:noFill/>
          <a:ln/>
        </p:spPr>
        <p:txBody>
          <a:bodyPr wrap="square" lIns="0" tIns="0" rIns="0" bIns="0" rtlCol="0" anchor="ctr"/>
          <a:lstStyle/>
          <a:p>
            <a:pPr marL="0" indent="0">
              <a:buNone/>
            </a:pPr>
            <a:r>
              <a:rPr lang="en-US" sz="1250" dirty="0" err="1">
                <a:solidFill>
                  <a:srgbClr val="FFFFFF"/>
                </a:solidFill>
                <a:latin typeface="Calibri" pitchFamily="34" charset="0"/>
                <a:ea typeface="Calibri" pitchFamily="34" charset="-122"/>
                <a:cs typeface="Calibri" pitchFamily="34" charset="-120"/>
              </a:rPr>
              <a:t>fact_incident</a:t>
            </a:r>
            <a:r>
              <a:rPr lang="en-US" sz="1250" dirty="0">
                <a:solidFill>
                  <a:srgbClr val="FFFFFF"/>
                </a:solidFill>
                <a:latin typeface="Calibri" pitchFamily="34" charset="0"/>
                <a:ea typeface="Calibri" pitchFamily="34" charset="-122"/>
                <a:cs typeface="Calibri" pitchFamily="34" charset="-120"/>
              </a:rPr>
              <a:t> - événement</a:t>
            </a:r>
            <a:endParaRPr lang="en-US" sz="1250" dirty="0"/>
          </a:p>
        </p:txBody>
      </p:sp>
      <p:sp>
        <p:nvSpPr>
          <p:cNvPr id="9" name="Text 7"/>
          <p:cNvSpPr/>
          <p:nvPr/>
        </p:nvSpPr>
        <p:spPr>
          <a:xfrm>
            <a:off x="4800600" y="4727448"/>
            <a:ext cx="2560320" cy="411480"/>
          </a:xfrm>
          <a:prstGeom prst="rect">
            <a:avLst/>
          </a:prstGeom>
          <a:noFill/>
          <a:ln/>
        </p:spPr>
        <p:txBody>
          <a:bodyPr wrap="square" lIns="0" tIns="0" rIns="0" bIns="0" rtlCol="0" anchor="ctr"/>
          <a:lstStyle/>
          <a:p>
            <a:pPr marL="0" indent="0">
              <a:buNone/>
            </a:pPr>
            <a:r>
              <a:rPr lang="en-US" sz="1250" dirty="0" err="1">
                <a:solidFill>
                  <a:srgbClr val="FFFFFF"/>
                </a:solidFill>
                <a:latin typeface="Calibri" pitchFamily="34" charset="0"/>
                <a:ea typeface="Calibri" pitchFamily="34" charset="-122"/>
                <a:cs typeface="Calibri" pitchFamily="34" charset="-120"/>
              </a:rPr>
              <a:t>fact_subscriber_monthly</a:t>
            </a:r>
            <a:r>
              <a:rPr lang="en-US" sz="1250" dirty="0">
                <a:solidFill>
                  <a:srgbClr val="FFFFFF"/>
                </a:solidFill>
                <a:latin typeface="Calibri" pitchFamily="34" charset="0"/>
                <a:ea typeface="Calibri" pitchFamily="34" charset="-122"/>
                <a:cs typeface="Calibri" pitchFamily="34" charset="-120"/>
              </a:rPr>
              <a:t> - ML</a:t>
            </a:r>
            <a:endParaRPr lang="en-US" sz="1250" dirty="0"/>
          </a:p>
        </p:txBody>
      </p:sp>
      <p:sp>
        <p:nvSpPr>
          <p:cNvPr id="10" name="Shape 8"/>
          <p:cNvSpPr/>
          <p:nvPr/>
        </p:nvSpPr>
        <p:spPr>
          <a:xfrm>
            <a:off x="457200" y="1783080"/>
            <a:ext cx="2788920" cy="1051560"/>
          </a:xfrm>
          <a:prstGeom prst="roundRect">
            <a:avLst>
              <a:gd name="adj" fmla="val 6087"/>
            </a:avLst>
          </a:prstGeom>
          <a:solidFill>
            <a:srgbClr val="EEF0FA"/>
          </a:solidFill>
          <a:ln w="12700">
            <a:solidFill>
              <a:srgbClr val="E1E5F7"/>
            </a:solidFill>
            <a:prstDash val="solid"/>
          </a:ln>
        </p:spPr>
      </p:sp>
      <p:sp>
        <p:nvSpPr>
          <p:cNvPr id="11" name="Text 9"/>
          <p:cNvSpPr/>
          <p:nvPr/>
        </p:nvSpPr>
        <p:spPr>
          <a:xfrm>
            <a:off x="621792" y="1911096"/>
            <a:ext cx="2459736" cy="365760"/>
          </a:xfrm>
          <a:prstGeom prst="rect">
            <a:avLst/>
          </a:prstGeom>
          <a:noFill/>
          <a:ln/>
        </p:spPr>
        <p:txBody>
          <a:bodyPr wrap="square" lIns="0" tIns="0" rIns="0" bIns="0" rtlCol="0" anchor="ctr"/>
          <a:lstStyle/>
          <a:p>
            <a:pPr marL="0" indent="0">
              <a:buNone/>
            </a:pPr>
            <a:r>
              <a:rPr lang="en-US" sz="1350" b="1" dirty="0">
                <a:solidFill>
                  <a:srgbClr val="1E2233"/>
                </a:solidFill>
                <a:latin typeface="Cambria" pitchFamily="34" charset="0"/>
                <a:ea typeface="Cambria" pitchFamily="34" charset="-122"/>
                <a:cs typeface="Cambria" pitchFamily="34" charset="-120"/>
              </a:rPr>
              <a:t>dim_subscriber</a:t>
            </a:r>
            <a:endParaRPr lang="en-US" sz="1350" dirty="0"/>
          </a:p>
        </p:txBody>
      </p:sp>
      <p:sp>
        <p:nvSpPr>
          <p:cNvPr id="12" name="Text 10"/>
          <p:cNvSpPr/>
          <p:nvPr/>
        </p:nvSpPr>
        <p:spPr>
          <a:xfrm>
            <a:off x="621792" y="2313432"/>
            <a:ext cx="2459736" cy="365760"/>
          </a:xfrm>
          <a:prstGeom prst="rect">
            <a:avLst/>
          </a:prstGeom>
          <a:noFill/>
          <a:ln/>
        </p:spPr>
        <p:txBody>
          <a:bodyPr wrap="square" lIns="0" tIns="0" rIns="0" bIns="0" rtlCol="0" anchor="ctr"/>
          <a:lstStyle/>
          <a:p>
            <a:pPr marL="0" indent="0">
              <a:buNone/>
            </a:pPr>
            <a:r>
              <a:rPr lang="en-US" sz="1100" dirty="0">
                <a:solidFill>
                  <a:srgbClr val="3949AB"/>
                </a:solidFill>
                <a:latin typeface="Calibri" pitchFamily="34" charset="0"/>
                <a:ea typeface="Calibri" pitchFamily="34" charset="-122"/>
                <a:cs typeface="Calibri" pitchFamily="34" charset="-120"/>
              </a:rPr>
              <a:t>SCD Type 2</a:t>
            </a:r>
            <a:endParaRPr lang="en-US" sz="1100" dirty="0"/>
          </a:p>
        </p:txBody>
      </p:sp>
      <p:sp>
        <p:nvSpPr>
          <p:cNvPr id="13" name="Shape 11"/>
          <p:cNvSpPr/>
          <p:nvPr/>
        </p:nvSpPr>
        <p:spPr>
          <a:xfrm>
            <a:off x="457200" y="4480560"/>
            <a:ext cx="2788920" cy="1051560"/>
          </a:xfrm>
          <a:prstGeom prst="roundRect">
            <a:avLst>
              <a:gd name="adj" fmla="val 6087"/>
            </a:avLst>
          </a:prstGeom>
          <a:solidFill>
            <a:srgbClr val="EEF0FA"/>
          </a:solidFill>
          <a:ln w="12700">
            <a:solidFill>
              <a:srgbClr val="E1E5F7"/>
            </a:solidFill>
            <a:prstDash val="solid"/>
          </a:ln>
        </p:spPr>
      </p:sp>
      <p:sp>
        <p:nvSpPr>
          <p:cNvPr id="14" name="Text 12"/>
          <p:cNvSpPr/>
          <p:nvPr/>
        </p:nvSpPr>
        <p:spPr>
          <a:xfrm>
            <a:off x="621792" y="4608576"/>
            <a:ext cx="2459736" cy="365760"/>
          </a:xfrm>
          <a:prstGeom prst="rect">
            <a:avLst/>
          </a:prstGeom>
          <a:noFill/>
          <a:ln/>
        </p:spPr>
        <p:txBody>
          <a:bodyPr wrap="square" lIns="0" tIns="0" rIns="0" bIns="0" rtlCol="0" anchor="ctr"/>
          <a:lstStyle/>
          <a:p>
            <a:pPr marL="0" indent="0">
              <a:buNone/>
            </a:pPr>
            <a:r>
              <a:rPr lang="en-US" sz="1350" b="1" dirty="0">
                <a:solidFill>
                  <a:srgbClr val="1E2233"/>
                </a:solidFill>
                <a:latin typeface="Cambria" pitchFamily="34" charset="0"/>
                <a:ea typeface="Cambria" pitchFamily="34" charset="-122"/>
                <a:cs typeface="Cambria" pitchFamily="34" charset="-120"/>
              </a:rPr>
              <a:t>dim_plan</a:t>
            </a:r>
            <a:endParaRPr lang="en-US" sz="1350" dirty="0"/>
          </a:p>
        </p:txBody>
      </p:sp>
      <p:sp>
        <p:nvSpPr>
          <p:cNvPr id="15" name="Text 13"/>
          <p:cNvSpPr/>
          <p:nvPr/>
        </p:nvSpPr>
        <p:spPr>
          <a:xfrm>
            <a:off x="621792" y="5010912"/>
            <a:ext cx="2459736" cy="365760"/>
          </a:xfrm>
          <a:prstGeom prst="rect">
            <a:avLst/>
          </a:prstGeom>
          <a:noFill/>
          <a:ln/>
        </p:spPr>
        <p:txBody>
          <a:bodyPr wrap="square" lIns="0" tIns="0" rIns="0" bIns="0" rtlCol="0" anchor="ctr"/>
          <a:lstStyle/>
          <a:p>
            <a:pPr marL="0" indent="0">
              <a:buNone/>
            </a:pPr>
            <a:r>
              <a:rPr lang="en-US" sz="1100" dirty="0">
                <a:solidFill>
                  <a:srgbClr val="3949AB"/>
                </a:solidFill>
                <a:latin typeface="Calibri" pitchFamily="34" charset="0"/>
                <a:ea typeface="Calibri" pitchFamily="34" charset="-122"/>
                <a:cs typeface="Calibri" pitchFamily="34" charset="-120"/>
              </a:rPr>
              <a:t>SCD Type 2</a:t>
            </a:r>
            <a:endParaRPr lang="en-US" sz="1100" dirty="0"/>
          </a:p>
        </p:txBody>
      </p:sp>
      <p:sp>
        <p:nvSpPr>
          <p:cNvPr id="16" name="Shape 14"/>
          <p:cNvSpPr/>
          <p:nvPr/>
        </p:nvSpPr>
        <p:spPr>
          <a:xfrm>
            <a:off x="8321040" y="1783080"/>
            <a:ext cx="2788920" cy="1051560"/>
          </a:xfrm>
          <a:prstGeom prst="roundRect">
            <a:avLst>
              <a:gd name="adj" fmla="val 6087"/>
            </a:avLst>
          </a:prstGeom>
          <a:solidFill>
            <a:srgbClr val="EEF0FA"/>
          </a:solidFill>
          <a:ln w="12700">
            <a:solidFill>
              <a:srgbClr val="E1E5F7"/>
            </a:solidFill>
            <a:prstDash val="solid"/>
          </a:ln>
        </p:spPr>
      </p:sp>
      <p:sp>
        <p:nvSpPr>
          <p:cNvPr id="17" name="Text 15"/>
          <p:cNvSpPr/>
          <p:nvPr/>
        </p:nvSpPr>
        <p:spPr>
          <a:xfrm>
            <a:off x="8485632" y="1911096"/>
            <a:ext cx="2459736" cy="365760"/>
          </a:xfrm>
          <a:prstGeom prst="rect">
            <a:avLst/>
          </a:prstGeom>
          <a:noFill/>
          <a:ln/>
        </p:spPr>
        <p:txBody>
          <a:bodyPr wrap="square" lIns="0" tIns="0" rIns="0" bIns="0" rtlCol="0" anchor="ctr"/>
          <a:lstStyle/>
          <a:p>
            <a:pPr marL="0" indent="0">
              <a:buNone/>
            </a:pPr>
            <a:r>
              <a:rPr lang="en-US" sz="1350" b="1" dirty="0">
                <a:solidFill>
                  <a:srgbClr val="1E2233"/>
                </a:solidFill>
                <a:latin typeface="Cambria" pitchFamily="34" charset="0"/>
                <a:ea typeface="Cambria" pitchFamily="34" charset="-122"/>
                <a:cs typeface="Cambria" pitchFamily="34" charset="-120"/>
              </a:rPr>
              <a:t>dim_tower</a:t>
            </a:r>
            <a:endParaRPr lang="en-US" sz="1350" dirty="0"/>
          </a:p>
        </p:txBody>
      </p:sp>
      <p:sp>
        <p:nvSpPr>
          <p:cNvPr id="18" name="Text 16"/>
          <p:cNvSpPr/>
          <p:nvPr/>
        </p:nvSpPr>
        <p:spPr>
          <a:xfrm>
            <a:off x="8485632" y="2313432"/>
            <a:ext cx="2459736" cy="365760"/>
          </a:xfrm>
          <a:prstGeom prst="rect">
            <a:avLst/>
          </a:prstGeom>
          <a:noFill/>
          <a:ln/>
        </p:spPr>
        <p:txBody>
          <a:bodyPr wrap="square" lIns="0" tIns="0" rIns="0" bIns="0" rtlCol="0" anchor="ctr"/>
          <a:lstStyle/>
          <a:p>
            <a:pPr marL="0" indent="0">
              <a:buNone/>
            </a:pPr>
            <a:r>
              <a:rPr lang="en-US" sz="1100" dirty="0">
                <a:solidFill>
                  <a:srgbClr val="3949AB"/>
                </a:solidFill>
                <a:latin typeface="Calibri" pitchFamily="34" charset="0"/>
                <a:ea typeface="Calibri" pitchFamily="34" charset="-122"/>
                <a:cs typeface="Calibri" pitchFamily="34" charset="-120"/>
              </a:rPr>
              <a:t>SCD Type 1</a:t>
            </a:r>
            <a:endParaRPr lang="en-US" sz="1100" dirty="0"/>
          </a:p>
        </p:txBody>
      </p:sp>
      <p:sp>
        <p:nvSpPr>
          <p:cNvPr id="19" name="Shape 17"/>
          <p:cNvSpPr/>
          <p:nvPr/>
        </p:nvSpPr>
        <p:spPr>
          <a:xfrm>
            <a:off x="8321040" y="4480560"/>
            <a:ext cx="2788920" cy="1051560"/>
          </a:xfrm>
          <a:prstGeom prst="roundRect">
            <a:avLst>
              <a:gd name="adj" fmla="val 6087"/>
            </a:avLst>
          </a:prstGeom>
          <a:solidFill>
            <a:srgbClr val="EEF0FA"/>
          </a:solidFill>
          <a:ln w="12700">
            <a:solidFill>
              <a:srgbClr val="E1E5F7"/>
            </a:solidFill>
            <a:prstDash val="solid"/>
          </a:ln>
        </p:spPr>
      </p:sp>
      <p:sp>
        <p:nvSpPr>
          <p:cNvPr id="20" name="Text 18"/>
          <p:cNvSpPr/>
          <p:nvPr/>
        </p:nvSpPr>
        <p:spPr>
          <a:xfrm>
            <a:off x="8485632" y="4608576"/>
            <a:ext cx="2459736" cy="365760"/>
          </a:xfrm>
          <a:prstGeom prst="rect">
            <a:avLst/>
          </a:prstGeom>
          <a:noFill/>
          <a:ln/>
        </p:spPr>
        <p:txBody>
          <a:bodyPr wrap="square" lIns="0" tIns="0" rIns="0" bIns="0" rtlCol="0" anchor="ctr"/>
          <a:lstStyle/>
          <a:p>
            <a:pPr marL="0" indent="0">
              <a:buNone/>
            </a:pPr>
            <a:r>
              <a:rPr lang="en-US" sz="1350" b="1" dirty="0">
                <a:solidFill>
                  <a:srgbClr val="1E2233"/>
                </a:solidFill>
                <a:latin typeface="Cambria" pitchFamily="34" charset="0"/>
                <a:ea typeface="Cambria" pitchFamily="34" charset="-122"/>
                <a:cs typeface="Cambria" pitchFamily="34" charset="-120"/>
              </a:rPr>
              <a:t>dim_localisation</a:t>
            </a:r>
            <a:endParaRPr lang="en-US" sz="1350" dirty="0"/>
          </a:p>
        </p:txBody>
      </p:sp>
      <p:sp>
        <p:nvSpPr>
          <p:cNvPr id="21" name="Text 19"/>
          <p:cNvSpPr/>
          <p:nvPr/>
        </p:nvSpPr>
        <p:spPr>
          <a:xfrm>
            <a:off x="8485632" y="5010912"/>
            <a:ext cx="2459736" cy="365760"/>
          </a:xfrm>
          <a:prstGeom prst="rect">
            <a:avLst/>
          </a:prstGeom>
          <a:noFill/>
          <a:ln/>
        </p:spPr>
        <p:txBody>
          <a:bodyPr wrap="square" lIns="0" tIns="0" rIns="0" bIns="0" rtlCol="0" anchor="ctr"/>
          <a:lstStyle/>
          <a:p>
            <a:pPr marL="0" indent="0">
              <a:buNone/>
            </a:pPr>
            <a:r>
              <a:rPr lang="en-US" sz="1100" dirty="0">
                <a:solidFill>
                  <a:srgbClr val="3949AB"/>
                </a:solidFill>
                <a:latin typeface="Calibri" pitchFamily="34" charset="0"/>
                <a:ea typeface="Calibri" pitchFamily="34" charset="-122"/>
                <a:cs typeface="Calibri" pitchFamily="34" charset="-120"/>
              </a:rPr>
              <a:t>Conformée</a:t>
            </a:r>
            <a:endParaRPr lang="en-US" sz="1100" dirty="0"/>
          </a:p>
        </p:txBody>
      </p:sp>
      <p:sp>
        <p:nvSpPr>
          <p:cNvPr id="22" name="Shape 20"/>
          <p:cNvSpPr/>
          <p:nvPr/>
        </p:nvSpPr>
        <p:spPr>
          <a:xfrm>
            <a:off x="4434840" y="5989320"/>
            <a:ext cx="2788920" cy="1051560"/>
          </a:xfrm>
          <a:prstGeom prst="roundRect">
            <a:avLst>
              <a:gd name="adj" fmla="val 6087"/>
            </a:avLst>
          </a:prstGeom>
          <a:solidFill>
            <a:srgbClr val="EEF0FA"/>
          </a:solidFill>
          <a:ln w="12700">
            <a:solidFill>
              <a:srgbClr val="E1E5F7"/>
            </a:solidFill>
            <a:prstDash val="solid"/>
          </a:ln>
        </p:spPr>
      </p:sp>
      <p:sp>
        <p:nvSpPr>
          <p:cNvPr id="23" name="Text 21"/>
          <p:cNvSpPr/>
          <p:nvPr/>
        </p:nvSpPr>
        <p:spPr>
          <a:xfrm>
            <a:off x="4599432" y="6117336"/>
            <a:ext cx="2459736" cy="365760"/>
          </a:xfrm>
          <a:prstGeom prst="rect">
            <a:avLst/>
          </a:prstGeom>
          <a:noFill/>
          <a:ln/>
        </p:spPr>
        <p:txBody>
          <a:bodyPr wrap="square" lIns="0" tIns="0" rIns="0" bIns="0" rtlCol="0" anchor="ctr"/>
          <a:lstStyle/>
          <a:p>
            <a:pPr marL="0" indent="0">
              <a:buNone/>
            </a:pPr>
            <a:r>
              <a:rPr lang="en-US" sz="1350" b="1" dirty="0">
                <a:solidFill>
                  <a:srgbClr val="1E2233"/>
                </a:solidFill>
                <a:latin typeface="Cambria" pitchFamily="34" charset="0"/>
                <a:ea typeface="Cambria" pitchFamily="34" charset="-122"/>
                <a:cs typeface="Cambria" pitchFamily="34" charset="-120"/>
              </a:rPr>
              <a:t>dim_date</a:t>
            </a:r>
            <a:endParaRPr lang="en-US" sz="1350" dirty="0"/>
          </a:p>
        </p:txBody>
      </p:sp>
      <p:sp>
        <p:nvSpPr>
          <p:cNvPr id="24" name="Text 22"/>
          <p:cNvSpPr/>
          <p:nvPr/>
        </p:nvSpPr>
        <p:spPr>
          <a:xfrm>
            <a:off x="4599432" y="6519672"/>
            <a:ext cx="2459736" cy="365760"/>
          </a:xfrm>
          <a:prstGeom prst="rect">
            <a:avLst/>
          </a:prstGeom>
          <a:noFill/>
          <a:ln/>
        </p:spPr>
        <p:txBody>
          <a:bodyPr wrap="square" lIns="0" tIns="0" rIns="0" bIns="0" rtlCol="0" anchor="ctr"/>
          <a:lstStyle/>
          <a:p>
            <a:pPr marL="0" indent="0">
              <a:buNone/>
            </a:pPr>
            <a:r>
              <a:rPr lang="en-US" sz="1100" dirty="0">
                <a:solidFill>
                  <a:srgbClr val="3949AB"/>
                </a:solidFill>
                <a:latin typeface="Calibri" pitchFamily="34" charset="0"/>
                <a:ea typeface="Calibri" pitchFamily="34" charset="-122"/>
                <a:cs typeface="Calibri" pitchFamily="34" charset="-120"/>
              </a:rPr>
              <a:t>2015 – 2035</a:t>
            </a:r>
            <a:endParaRPr lang="en-US" sz="1100" dirty="0"/>
          </a:p>
        </p:txBody>
      </p:sp>
      <p:sp>
        <p:nvSpPr>
          <p:cNvPr id="25" name="Shape 23"/>
          <p:cNvSpPr/>
          <p:nvPr/>
        </p:nvSpPr>
        <p:spPr>
          <a:xfrm>
            <a:off x="3246120" y="2286000"/>
            <a:ext cx="1371600" cy="1325880"/>
          </a:xfrm>
          <a:prstGeom prst="line">
            <a:avLst/>
          </a:prstGeom>
          <a:noFill/>
          <a:ln w="19050">
            <a:solidFill>
              <a:srgbClr val="B9C0EC"/>
            </a:solidFill>
            <a:prstDash val="solid"/>
          </a:ln>
        </p:spPr>
      </p:sp>
      <p:sp>
        <p:nvSpPr>
          <p:cNvPr id="26" name="Shape 24"/>
          <p:cNvSpPr/>
          <p:nvPr/>
        </p:nvSpPr>
        <p:spPr>
          <a:xfrm flipV="1">
            <a:off x="3246120" y="4526280"/>
            <a:ext cx="1371600" cy="457200"/>
          </a:xfrm>
          <a:prstGeom prst="line">
            <a:avLst/>
          </a:prstGeom>
          <a:noFill/>
          <a:ln w="19050">
            <a:solidFill>
              <a:srgbClr val="B9C0EC"/>
            </a:solidFill>
            <a:prstDash val="solid"/>
          </a:ln>
        </p:spPr>
      </p:sp>
      <p:sp>
        <p:nvSpPr>
          <p:cNvPr id="27" name="Shape 25"/>
          <p:cNvSpPr/>
          <p:nvPr/>
        </p:nvSpPr>
        <p:spPr>
          <a:xfrm flipH="1">
            <a:off x="7543800" y="2286000"/>
            <a:ext cx="777240" cy="1325880"/>
          </a:xfrm>
          <a:prstGeom prst="line">
            <a:avLst/>
          </a:prstGeom>
          <a:noFill/>
          <a:ln w="19050">
            <a:solidFill>
              <a:srgbClr val="B9C0EC"/>
            </a:solidFill>
            <a:prstDash val="solid"/>
          </a:ln>
        </p:spPr>
      </p:sp>
      <p:sp>
        <p:nvSpPr>
          <p:cNvPr id="28" name="Shape 26"/>
          <p:cNvSpPr/>
          <p:nvPr/>
        </p:nvSpPr>
        <p:spPr>
          <a:xfrm flipH="1" flipV="1">
            <a:off x="7543800" y="4526280"/>
            <a:ext cx="777240" cy="457200"/>
          </a:xfrm>
          <a:prstGeom prst="line">
            <a:avLst/>
          </a:prstGeom>
          <a:noFill/>
          <a:ln w="19050">
            <a:solidFill>
              <a:srgbClr val="B9C0EC"/>
            </a:solidFill>
            <a:prstDash val="solid"/>
          </a:ln>
        </p:spPr>
      </p:sp>
      <p:sp>
        <p:nvSpPr>
          <p:cNvPr id="29" name="Shape 27"/>
          <p:cNvSpPr/>
          <p:nvPr/>
        </p:nvSpPr>
        <p:spPr>
          <a:xfrm flipV="1">
            <a:off x="5824728" y="5394960"/>
            <a:ext cx="256032" cy="594360"/>
          </a:xfrm>
          <a:prstGeom prst="line">
            <a:avLst/>
          </a:prstGeom>
          <a:noFill/>
          <a:ln w="19050">
            <a:solidFill>
              <a:srgbClr val="B9C0EC"/>
            </a:solidFill>
            <a:prstDash val="solid"/>
          </a:ln>
        </p:spPr>
      </p:sp>
      <p:sp>
        <p:nvSpPr>
          <p:cNvPr id="30" name="Text 28"/>
          <p:cNvSpPr/>
          <p:nvPr/>
        </p:nvSpPr>
        <p:spPr>
          <a:xfrm>
            <a:off x="457200" y="6473952"/>
            <a:ext cx="7315200" cy="274320"/>
          </a:xfrm>
          <a:prstGeom prst="rect">
            <a:avLst/>
          </a:prstGeom>
          <a:noFill/>
          <a:ln/>
        </p:spPr>
        <p:txBody>
          <a:bodyPr wrap="square" lIns="0" tIns="0" rIns="0" bIns="0" rtlCol="0" anchor="ctr"/>
          <a:lstStyle/>
          <a:p>
            <a:pPr marL="0" indent="0" algn="l">
              <a:buNone/>
            </a:pPr>
            <a:r>
              <a:rPr lang="en-US" sz="900" dirty="0">
                <a:solidFill>
                  <a:srgbClr val="6B7080"/>
                </a:solidFill>
                <a:latin typeface="Calibri" pitchFamily="34" charset="0"/>
                <a:ea typeface="Calibri" pitchFamily="34" charset="-122"/>
                <a:cs typeface="Calibri" pitchFamily="34" charset="-120"/>
              </a:rPr>
              <a:t>Sahel Telecom - Documentation technique EDW</a:t>
            </a:r>
            <a:endParaRPr lang="en-US" sz="900" dirty="0"/>
          </a:p>
        </p:txBody>
      </p:sp>
      <p:sp>
        <p:nvSpPr>
          <p:cNvPr id="31" name="Text 29"/>
          <p:cNvSpPr/>
          <p:nvPr/>
        </p:nvSpPr>
        <p:spPr>
          <a:xfrm>
            <a:off x="11247120" y="6473952"/>
            <a:ext cx="457200" cy="274320"/>
          </a:xfrm>
          <a:prstGeom prst="rect">
            <a:avLst/>
          </a:prstGeom>
          <a:noFill/>
          <a:ln/>
        </p:spPr>
        <p:txBody>
          <a:bodyPr wrap="square" lIns="0" tIns="0" rIns="0" bIns="0" rtlCol="0" anchor="ctr"/>
          <a:lstStyle/>
          <a:p>
            <a:pPr marL="0" indent="0" algn="r">
              <a:buNone/>
            </a:pPr>
            <a:r>
              <a:rPr lang="en-US" sz="900" dirty="0">
                <a:solidFill>
                  <a:srgbClr val="6B7080"/>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47472"/>
            <a:ext cx="9144000" cy="274320"/>
          </a:xfrm>
          <a:prstGeom prst="rect">
            <a:avLst/>
          </a:prstGeom>
          <a:noFill/>
          <a:ln/>
        </p:spPr>
        <p:txBody>
          <a:bodyPr wrap="square" lIns="0" tIns="0" rIns="0" bIns="0" rtlCol="0" anchor="ctr"/>
          <a:lstStyle/>
          <a:p>
            <a:pPr marL="0" indent="0">
              <a:buNone/>
            </a:pPr>
            <a:r>
              <a:rPr lang="en-US" sz="1200" b="1" kern="0" spc="200" dirty="0">
                <a:solidFill>
                  <a:srgbClr val="3949AB"/>
                </a:solidFill>
                <a:latin typeface="Calibri" pitchFamily="34" charset="0"/>
                <a:ea typeface="Calibri" pitchFamily="34" charset="-122"/>
                <a:cs typeface="Calibri" pitchFamily="34" charset="-120"/>
              </a:rPr>
              <a:t>ARCHITECTURE</a:t>
            </a:r>
            <a:endParaRPr lang="en-US" sz="1200" dirty="0"/>
          </a:p>
        </p:txBody>
      </p:sp>
      <p:sp>
        <p:nvSpPr>
          <p:cNvPr id="3" name="Text 1"/>
          <p:cNvSpPr/>
          <p:nvPr/>
        </p:nvSpPr>
        <p:spPr>
          <a:xfrm>
            <a:off x="548640" y="603504"/>
            <a:ext cx="11064240" cy="685800"/>
          </a:xfrm>
          <a:prstGeom prst="rect">
            <a:avLst/>
          </a:prstGeom>
          <a:noFill/>
          <a:ln/>
        </p:spPr>
        <p:txBody>
          <a:bodyPr wrap="square" lIns="0" tIns="0" rIns="0" bIns="0" rtlCol="0" anchor="ctr"/>
          <a:lstStyle/>
          <a:p>
            <a:pPr marL="0" indent="0">
              <a:buNone/>
            </a:pPr>
            <a:r>
              <a:rPr lang="en-US" sz="3000" b="1" dirty="0">
                <a:solidFill>
                  <a:srgbClr val="1E2233"/>
                </a:solidFill>
                <a:latin typeface="Cambria" pitchFamily="34" charset="0"/>
                <a:ea typeface="Cambria" pitchFamily="34" charset="-122"/>
                <a:cs typeface="Cambria" pitchFamily="34" charset="-120"/>
              </a:rPr>
              <a:t>Dimensions et tables de faits en détail</a:t>
            </a:r>
            <a:endParaRPr lang="en-US" sz="3000" dirty="0"/>
          </a:p>
        </p:txBody>
      </p:sp>
      <p:sp>
        <p:nvSpPr>
          <p:cNvPr id="4" name="Shape 2"/>
          <p:cNvSpPr/>
          <p:nvPr/>
        </p:nvSpPr>
        <p:spPr>
          <a:xfrm>
            <a:off x="548640" y="1417320"/>
            <a:ext cx="5532120" cy="4892040"/>
          </a:xfrm>
          <a:prstGeom prst="roundRect">
            <a:avLst>
              <a:gd name="adj" fmla="val 1495"/>
            </a:avLst>
          </a:prstGeom>
          <a:solidFill>
            <a:srgbClr val="EEF0FA"/>
          </a:solidFill>
          <a:ln/>
        </p:spPr>
      </p:sp>
      <p:sp>
        <p:nvSpPr>
          <p:cNvPr id="5" name="Shape 3"/>
          <p:cNvSpPr/>
          <p:nvPr/>
        </p:nvSpPr>
        <p:spPr>
          <a:xfrm>
            <a:off x="822960" y="1691640"/>
            <a:ext cx="502920" cy="502920"/>
          </a:xfrm>
          <a:prstGeom prst="ellipse">
            <a:avLst/>
          </a:prstGeom>
          <a:solidFill>
            <a:srgbClr val="1A237E"/>
          </a:solidFill>
          <a:ln/>
        </p:spPr>
      </p:sp>
      <p:pic>
        <p:nvPicPr>
          <p:cNvPr id="6" name="Image 0" descr="preencoded.png"/>
          <p:cNvPicPr>
            <a:picLocks noChangeAspect="1"/>
          </p:cNvPicPr>
          <p:nvPr/>
        </p:nvPicPr>
        <p:blipFill>
          <a:blip r:embed="rId3"/>
          <a:stretch>
            <a:fillRect/>
          </a:stretch>
        </p:blipFill>
        <p:spPr>
          <a:xfrm>
            <a:off x="883310" y="1751990"/>
            <a:ext cx="382219" cy="382219"/>
          </a:xfrm>
          <a:prstGeom prst="rect">
            <a:avLst/>
          </a:prstGeom>
        </p:spPr>
      </p:pic>
      <p:sp>
        <p:nvSpPr>
          <p:cNvPr id="7" name="Text 4"/>
          <p:cNvSpPr/>
          <p:nvPr/>
        </p:nvSpPr>
        <p:spPr>
          <a:xfrm>
            <a:off x="1463040" y="1737360"/>
            <a:ext cx="4480560" cy="457200"/>
          </a:xfrm>
          <a:prstGeom prst="rect">
            <a:avLst/>
          </a:prstGeom>
          <a:noFill/>
          <a:ln/>
        </p:spPr>
        <p:txBody>
          <a:bodyPr wrap="square" lIns="0" tIns="0" rIns="0" bIns="0" rtlCol="0" anchor="ctr"/>
          <a:lstStyle/>
          <a:p>
            <a:pPr marL="0" indent="0">
              <a:buNone/>
            </a:pPr>
            <a:r>
              <a:rPr lang="en-US" sz="1500" b="1" dirty="0">
                <a:solidFill>
                  <a:srgbClr val="1E2233"/>
                </a:solidFill>
                <a:latin typeface="Cambria" pitchFamily="34" charset="0"/>
                <a:ea typeface="Cambria" pitchFamily="34" charset="-122"/>
                <a:cs typeface="Cambria" pitchFamily="34" charset="-120"/>
              </a:rPr>
              <a:t>Dimensions (contexte métier)</a:t>
            </a:r>
            <a:endParaRPr lang="en-US" sz="1500" dirty="0"/>
          </a:p>
        </p:txBody>
      </p:sp>
      <p:sp>
        <p:nvSpPr>
          <p:cNvPr id="8" name="Text 5"/>
          <p:cNvSpPr/>
          <p:nvPr/>
        </p:nvSpPr>
        <p:spPr>
          <a:xfrm>
            <a:off x="868680" y="2331720"/>
            <a:ext cx="4937760" cy="685800"/>
          </a:xfrm>
          <a:prstGeom prst="rect">
            <a:avLst/>
          </a:prstGeom>
          <a:noFill/>
          <a:ln/>
        </p:spPr>
        <p:txBody>
          <a:bodyPr wrap="square" lIns="0" tIns="0" rIns="0" bIns="0" rtlCol="0" anchor="ctr"/>
          <a:lstStyle/>
          <a:p>
            <a:pPr marL="0" indent="0">
              <a:lnSpc>
                <a:spcPct val="115000"/>
              </a:lnSpc>
              <a:buNone/>
            </a:pPr>
            <a:r>
              <a:rPr lang="en-US" sz="1200" b="1" dirty="0" err="1">
                <a:solidFill>
                  <a:srgbClr val="1A237E"/>
                </a:solidFill>
                <a:latin typeface="Calibri" pitchFamily="34" charset="0"/>
                <a:ea typeface="Calibri" pitchFamily="34" charset="-122"/>
                <a:cs typeface="Calibri" pitchFamily="34" charset="-120"/>
              </a:rPr>
              <a:t>dim_subscriber</a:t>
            </a:r>
            <a:r>
              <a:rPr lang="en-US" sz="1200" b="1" dirty="0">
                <a:solidFill>
                  <a:srgbClr val="1A237E"/>
                </a:solidFill>
                <a:latin typeface="Calibri" pitchFamily="34" charset="0"/>
                <a:ea typeface="Calibri" pitchFamily="34" charset="-122"/>
                <a:cs typeface="Calibri" pitchFamily="34" charset="-120"/>
              </a:rPr>
              <a:t> - </a:t>
            </a:r>
            <a:r>
              <a:rPr lang="en-US" sz="1200" dirty="0">
                <a:solidFill>
                  <a:srgbClr val="6B7080"/>
                </a:solidFill>
                <a:latin typeface="Calibri" pitchFamily="34" charset="0"/>
                <a:ea typeface="Calibri" pitchFamily="34" charset="-122"/>
                <a:cs typeface="Calibri" pitchFamily="34" charset="-120"/>
              </a:rPr>
              <a:t>Profil abonné (âge, segment, ville…) - SCD2 : ville, segment et forfait historisés.</a:t>
            </a:r>
            <a:endParaRPr lang="en-US" sz="1200" dirty="0"/>
          </a:p>
        </p:txBody>
      </p:sp>
      <p:sp>
        <p:nvSpPr>
          <p:cNvPr id="9" name="Text 6"/>
          <p:cNvSpPr/>
          <p:nvPr/>
        </p:nvSpPr>
        <p:spPr>
          <a:xfrm>
            <a:off x="868680" y="3090672"/>
            <a:ext cx="4937760" cy="685800"/>
          </a:xfrm>
          <a:prstGeom prst="rect">
            <a:avLst/>
          </a:prstGeom>
          <a:noFill/>
          <a:ln/>
        </p:spPr>
        <p:txBody>
          <a:bodyPr wrap="square" lIns="0" tIns="0" rIns="0" bIns="0" rtlCol="0" anchor="ctr"/>
          <a:lstStyle/>
          <a:p>
            <a:pPr marL="0" indent="0">
              <a:lnSpc>
                <a:spcPct val="115000"/>
              </a:lnSpc>
              <a:buNone/>
            </a:pPr>
            <a:r>
              <a:rPr lang="en-US" sz="1200" b="1" dirty="0" err="1">
                <a:solidFill>
                  <a:srgbClr val="1A237E"/>
                </a:solidFill>
                <a:latin typeface="Calibri" pitchFamily="34" charset="0"/>
                <a:ea typeface="Calibri" pitchFamily="34" charset="-122"/>
                <a:cs typeface="Calibri" pitchFamily="34" charset="-120"/>
              </a:rPr>
              <a:t>dim_plan</a:t>
            </a:r>
            <a:r>
              <a:rPr lang="en-US" sz="1200" b="1" dirty="0">
                <a:solidFill>
                  <a:srgbClr val="1A237E"/>
                </a:solidFill>
                <a:latin typeface="Calibri" pitchFamily="34" charset="0"/>
                <a:ea typeface="Calibri" pitchFamily="34" charset="-122"/>
                <a:cs typeface="Calibri" pitchFamily="34" charset="-120"/>
              </a:rPr>
              <a:t> - </a:t>
            </a:r>
            <a:r>
              <a:rPr lang="en-US" sz="1200" dirty="0">
                <a:solidFill>
                  <a:srgbClr val="6B7080"/>
                </a:solidFill>
                <a:latin typeface="Calibri" pitchFamily="34" charset="0"/>
                <a:ea typeface="Calibri" pitchFamily="34" charset="-122"/>
                <a:cs typeface="Calibri" pitchFamily="34" charset="-120"/>
              </a:rPr>
              <a:t>Caractéristiques des forfaits (mensualité, quota) - SCD2.</a:t>
            </a:r>
            <a:endParaRPr lang="en-US" sz="1200" dirty="0"/>
          </a:p>
        </p:txBody>
      </p:sp>
      <p:sp>
        <p:nvSpPr>
          <p:cNvPr id="10" name="Text 7"/>
          <p:cNvSpPr/>
          <p:nvPr/>
        </p:nvSpPr>
        <p:spPr>
          <a:xfrm>
            <a:off x="868680" y="3849624"/>
            <a:ext cx="4937760" cy="685800"/>
          </a:xfrm>
          <a:prstGeom prst="rect">
            <a:avLst/>
          </a:prstGeom>
          <a:noFill/>
          <a:ln/>
        </p:spPr>
        <p:txBody>
          <a:bodyPr wrap="square" lIns="0" tIns="0" rIns="0" bIns="0" rtlCol="0" anchor="ctr"/>
          <a:lstStyle/>
          <a:p>
            <a:pPr marL="0" indent="0">
              <a:lnSpc>
                <a:spcPct val="115000"/>
              </a:lnSpc>
              <a:buNone/>
            </a:pPr>
            <a:r>
              <a:rPr lang="en-US" sz="1200" b="1" dirty="0" err="1">
                <a:solidFill>
                  <a:srgbClr val="1A237E"/>
                </a:solidFill>
                <a:latin typeface="Calibri" pitchFamily="34" charset="0"/>
                <a:ea typeface="Calibri" pitchFamily="34" charset="-122"/>
                <a:cs typeface="Calibri" pitchFamily="34" charset="-120"/>
              </a:rPr>
              <a:t>dim_tower</a:t>
            </a:r>
            <a:r>
              <a:rPr lang="en-US" sz="1200" b="1" dirty="0">
                <a:solidFill>
                  <a:srgbClr val="1A237E"/>
                </a:solidFill>
                <a:latin typeface="Calibri" pitchFamily="34" charset="0"/>
                <a:ea typeface="Calibri" pitchFamily="34" charset="-122"/>
                <a:cs typeface="Calibri" pitchFamily="34" charset="-120"/>
              </a:rPr>
              <a:t> - </a:t>
            </a:r>
            <a:r>
              <a:rPr lang="en-US" sz="1200" dirty="0">
                <a:solidFill>
                  <a:srgbClr val="6B7080"/>
                </a:solidFill>
                <a:latin typeface="Calibri" pitchFamily="34" charset="0"/>
                <a:ea typeface="Calibri" pitchFamily="34" charset="-122"/>
                <a:cs typeface="Calibri" pitchFamily="34" charset="-120"/>
              </a:rPr>
              <a:t>Répertoire des antennes 2G/3G/4G - SCD1 (écrasement direct).</a:t>
            </a:r>
            <a:endParaRPr lang="en-US" sz="1200" dirty="0"/>
          </a:p>
        </p:txBody>
      </p:sp>
      <p:sp>
        <p:nvSpPr>
          <p:cNvPr id="11" name="Text 8"/>
          <p:cNvSpPr/>
          <p:nvPr/>
        </p:nvSpPr>
        <p:spPr>
          <a:xfrm>
            <a:off x="868680" y="4608576"/>
            <a:ext cx="4937760" cy="685800"/>
          </a:xfrm>
          <a:prstGeom prst="rect">
            <a:avLst/>
          </a:prstGeom>
          <a:noFill/>
          <a:ln/>
        </p:spPr>
        <p:txBody>
          <a:bodyPr wrap="square" lIns="0" tIns="0" rIns="0" bIns="0" rtlCol="0" anchor="ctr"/>
          <a:lstStyle/>
          <a:p>
            <a:pPr marL="0" indent="0">
              <a:lnSpc>
                <a:spcPct val="115000"/>
              </a:lnSpc>
              <a:buNone/>
            </a:pPr>
            <a:r>
              <a:rPr lang="en-US" sz="1200" b="1" dirty="0" err="1">
                <a:solidFill>
                  <a:srgbClr val="1A237E"/>
                </a:solidFill>
                <a:latin typeface="Calibri" pitchFamily="34" charset="0"/>
                <a:ea typeface="Calibri" pitchFamily="34" charset="-122"/>
                <a:cs typeface="Calibri" pitchFamily="34" charset="-120"/>
              </a:rPr>
              <a:t>dim_localisation</a:t>
            </a:r>
            <a:r>
              <a:rPr lang="en-US" sz="1200" b="1" dirty="0">
                <a:solidFill>
                  <a:srgbClr val="1A237E"/>
                </a:solidFill>
                <a:latin typeface="Calibri" pitchFamily="34" charset="0"/>
                <a:ea typeface="Calibri" pitchFamily="34" charset="-122"/>
                <a:cs typeface="Calibri" pitchFamily="34" charset="-120"/>
              </a:rPr>
              <a:t> - </a:t>
            </a:r>
            <a:r>
              <a:rPr lang="en-US" sz="1200" dirty="0">
                <a:solidFill>
                  <a:srgbClr val="6B7080"/>
                </a:solidFill>
                <a:latin typeface="Calibri" pitchFamily="34" charset="0"/>
                <a:ea typeface="Calibri" pitchFamily="34" charset="-122"/>
                <a:cs typeface="Calibri" pitchFamily="34" charset="-120"/>
              </a:rPr>
              <a:t>Regroupement normalisé des zones géographiques.</a:t>
            </a:r>
            <a:endParaRPr lang="en-US" sz="1200" dirty="0"/>
          </a:p>
        </p:txBody>
      </p:sp>
      <p:sp>
        <p:nvSpPr>
          <p:cNvPr id="12" name="Text 9"/>
          <p:cNvSpPr/>
          <p:nvPr/>
        </p:nvSpPr>
        <p:spPr>
          <a:xfrm>
            <a:off x="868680" y="5367528"/>
            <a:ext cx="4937760" cy="685800"/>
          </a:xfrm>
          <a:prstGeom prst="rect">
            <a:avLst/>
          </a:prstGeom>
          <a:noFill/>
          <a:ln/>
        </p:spPr>
        <p:txBody>
          <a:bodyPr wrap="square" lIns="0" tIns="0" rIns="0" bIns="0" rtlCol="0" anchor="ctr"/>
          <a:lstStyle/>
          <a:p>
            <a:pPr marL="0" indent="0">
              <a:lnSpc>
                <a:spcPct val="115000"/>
              </a:lnSpc>
              <a:buNone/>
            </a:pPr>
            <a:r>
              <a:rPr lang="en-US" sz="1200" b="1" dirty="0" err="1">
                <a:solidFill>
                  <a:srgbClr val="1A237E"/>
                </a:solidFill>
                <a:latin typeface="Calibri" pitchFamily="34" charset="0"/>
                <a:ea typeface="Calibri" pitchFamily="34" charset="-122"/>
                <a:cs typeface="Calibri" pitchFamily="34" charset="-120"/>
              </a:rPr>
              <a:t>dim_date</a:t>
            </a:r>
            <a:r>
              <a:rPr lang="en-US" sz="1200" b="1" dirty="0">
                <a:solidFill>
                  <a:srgbClr val="1A237E"/>
                </a:solidFill>
                <a:latin typeface="Calibri" pitchFamily="34" charset="0"/>
                <a:ea typeface="Calibri" pitchFamily="34" charset="-122"/>
                <a:cs typeface="Calibri" pitchFamily="34" charset="-120"/>
              </a:rPr>
              <a:t> - </a:t>
            </a:r>
            <a:r>
              <a:rPr lang="en-US" sz="1200" dirty="0">
                <a:solidFill>
                  <a:srgbClr val="6B7080"/>
                </a:solidFill>
                <a:latin typeface="Calibri" pitchFamily="34" charset="0"/>
                <a:ea typeface="Calibri" pitchFamily="34" charset="-122"/>
                <a:cs typeface="Calibri" pitchFamily="34" charset="-120"/>
              </a:rPr>
              <a:t>Table temporelle pré-calculée de 2015 à 2035.</a:t>
            </a:r>
            <a:endParaRPr lang="en-US" sz="1200" dirty="0"/>
          </a:p>
        </p:txBody>
      </p:sp>
      <p:sp>
        <p:nvSpPr>
          <p:cNvPr id="13" name="Shape 10"/>
          <p:cNvSpPr/>
          <p:nvPr/>
        </p:nvSpPr>
        <p:spPr>
          <a:xfrm>
            <a:off x="6263640" y="1417320"/>
            <a:ext cx="5349240" cy="4892040"/>
          </a:xfrm>
          <a:prstGeom prst="roundRect">
            <a:avLst>
              <a:gd name="adj" fmla="val 1495"/>
            </a:avLst>
          </a:prstGeom>
          <a:solidFill>
            <a:srgbClr val="1A237E"/>
          </a:solidFill>
          <a:ln/>
          <a:effectLst>
            <a:outerShdw blurRad="127000" dist="38100" dir="5400000" algn="bl" rotWithShape="0">
              <a:srgbClr val="1A237E">
                <a:alpha val="14000"/>
              </a:srgbClr>
            </a:outerShdw>
          </a:effectLst>
        </p:spPr>
      </p:sp>
      <p:sp>
        <p:nvSpPr>
          <p:cNvPr id="14" name="Shape 11"/>
          <p:cNvSpPr/>
          <p:nvPr/>
        </p:nvSpPr>
        <p:spPr>
          <a:xfrm>
            <a:off x="6537960" y="1691640"/>
            <a:ext cx="502920" cy="502920"/>
          </a:xfrm>
          <a:prstGeom prst="ellipse">
            <a:avLst/>
          </a:prstGeom>
          <a:solidFill>
            <a:srgbClr val="3949AB"/>
          </a:solidFill>
          <a:ln/>
        </p:spPr>
      </p:sp>
      <p:pic>
        <p:nvPicPr>
          <p:cNvPr id="15" name="Image 1" descr="preencoded.png"/>
          <p:cNvPicPr>
            <a:picLocks noChangeAspect="1"/>
          </p:cNvPicPr>
          <p:nvPr/>
        </p:nvPicPr>
        <p:blipFill>
          <a:blip r:embed="rId4"/>
          <a:stretch>
            <a:fillRect/>
          </a:stretch>
        </p:blipFill>
        <p:spPr>
          <a:xfrm>
            <a:off x="6598310" y="1751990"/>
            <a:ext cx="382219" cy="382219"/>
          </a:xfrm>
          <a:prstGeom prst="rect">
            <a:avLst/>
          </a:prstGeom>
        </p:spPr>
      </p:pic>
      <p:sp>
        <p:nvSpPr>
          <p:cNvPr id="16" name="Text 12"/>
          <p:cNvSpPr/>
          <p:nvPr/>
        </p:nvSpPr>
        <p:spPr>
          <a:xfrm>
            <a:off x="7360920" y="1737360"/>
            <a:ext cx="4114800" cy="457200"/>
          </a:xfrm>
          <a:prstGeom prst="rect">
            <a:avLst/>
          </a:prstGeom>
          <a:noFill/>
          <a:ln/>
        </p:spPr>
        <p:txBody>
          <a:bodyPr wrap="square" lIns="0" tIns="0" rIns="0" bIns="0" rtlCol="0" anchor="ctr"/>
          <a:lstStyle/>
          <a:p>
            <a:pPr marL="0" indent="0">
              <a:buNone/>
            </a:pPr>
            <a:r>
              <a:rPr lang="en-US" sz="1500" b="1" dirty="0">
                <a:solidFill>
                  <a:srgbClr val="FFFFFF"/>
                </a:solidFill>
                <a:latin typeface="Cambria" pitchFamily="34" charset="0"/>
                <a:ea typeface="Cambria" pitchFamily="34" charset="-122"/>
                <a:cs typeface="Cambria" pitchFamily="34" charset="-120"/>
              </a:rPr>
              <a:t>Tables de faits (mesures)</a:t>
            </a:r>
            <a:endParaRPr lang="en-US" sz="1500" dirty="0"/>
          </a:p>
        </p:txBody>
      </p:sp>
      <p:sp>
        <p:nvSpPr>
          <p:cNvPr id="17" name="Text 13"/>
          <p:cNvSpPr/>
          <p:nvPr/>
        </p:nvSpPr>
        <p:spPr>
          <a:xfrm>
            <a:off x="6583680" y="2423160"/>
            <a:ext cx="4754880" cy="320040"/>
          </a:xfrm>
          <a:prstGeom prst="rect">
            <a:avLst/>
          </a:prstGeom>
          <a:noFill/>
          <a:ln/>
        </p:spPr>
        <p:txBody>
          <a:bodyPr wrap="square" lIns="0" tIns="0" rIns="0" bIns="0" rtlCol="0" anchor="ctr"/>
          <a:lstStyle/>
          <a:p>
            <a:pPr marL="0" indent="0">
              <a:buNone/>
            </a:pPr>
            <a:r>
              <a:rPr lang="en-US" sz="1350" b="1" dirty="0">
                <a:solidFill>
                  <a:srgbClr val="F9A825"/>
                </a:solidFill>
                <a:latin typeface="Cambria" pitchFamily="34" charset="0"/>
                <a:ea typeface="Cambria" pitchFamily="34" charset="-122"/>
                <a:cs typeface="Cambria" pitchFamily="34" charset="-120"/>
              </a:rPr>
              <a:t>fact_usage</a:t>
            </a:r>
            <a:endParaRPr lang="en-US" sz="1350" dirty="0"/>
          </a:p>
        </p:txBody>
      </p:sp>
      <p:sp>
        <p:nvSpPr>
          <p:cNvPr id="18" name="Text 14"/>
          <p:cNvSpPr/>
          <p:nvPr/>
        </p:nvSpPr>
        <p:spPr>
          <a:xfrm>
            <a:off x="6583680" y="2770632"/>
            <a:ext cx="4754880" cy="594360"/>
          </a:xfrm>
          <a:prstGeom prst="rect">
            <a:avLst/>
          </a:prstGeom>
          <a:noFill/>
          <a:ln/>
        </p:spPr>
        <p:txBody>
          <a:bodyPr wrap="square" lIns="0" tIns="0" rIns="0" bIns="0" rtlCol="0" anchor="ctr"/>
          <a:lstStyle/>
          <a:p>
            <a:pPr marL="0" indent="0">
              <a:lnSpc>
                <a:spcPct val="120000"/>
              </a:lnSpc>
              <a:buNone/>
            </a:pPr>
            <a:r>
              <a:rPr lang="en-US" sz="1200" dirty="0">
                <a:solidFill>
                  <a:srgbClr val="D6DAF7"/>
                </a:solidFill>
                <a:latin typeface="Calibri" pitchFamily="34" charset="0"/>
                <a:ea typeface="Calibri" pitchFamily="34" charset="-122"/>
                <a:cs typeface="Calibri" pitchFamily="34" charset="-120"/>
              </a:rPr>
              <a:t>Granularité transactionnelle. Chaque appel, SMS ou session data. Partitionnée par date_sk.</a:t>
            </a:r>
            <a:endParaRPr lang="en-US" sz="1200" dirty="0"/>
          </a:p>
        </p:txBody>
      </p:sp>
      <p:sp>
        <p:nvSpPr>
          <p:cNvPr id="19" name="Text 15"/>
          <p:cNvSpPr/>
          <p:nvPr/>
        </p:nvSpPr>
        <p:spPr>
          <a:xfrm>
            <a:off x="6583680" y="3474720"/>
            <a:ext cx="4754880" cy="320040"/>
          </a:xfrm>
          <a:prstGeom prst="rect">
            <a:avLst/>
          </a:prstGeom>
          <a:noFill/>
          <a:ln/>
        </p:spPr>
        <p:txBody>
          <a:bodyPr wrap="square" lIns="0" tIns="0" rIns="0" bIns="0" rtlCol="0" anchor="ctr"/>
          <a:lstStyle/>
          <a:p>
            <a:pPr marL="0" indent="0">
              <a:buNone/>
            </a:pPr>
            <a:r>
              <a:rPr lang="en-US" sz="1350" b="1" dirty="0">
                <a:solidFill>
                  <a:srgbClr val="F9A825"/>
                </a:solidFill>
                <a:latin typeface="Cambria" pitchFamily="34" charset="0"/>
                <a:ea typeface="Cambria" pitchFamily="34" charset="-122"/>
                <a:cs typeface="Cambria" pitchFamily="34" charset="-120"/>
              </a:rPr>
              <a:t>fact_incident</a:t>
            </a:r>
            <a:endParaRPr lang="en-US" sz="1350" dirty="0"/>
          </a:p>
        </p:txBody>
      </p:sp>
      <p:sp>
        <p:nvSpPr>
          <p:cNvPr id="20" name="Text 16"/>
          <p:cNvSpPr/>
          <p:nvPr/>
        </p:nvSpPr>
        <p:spPr>
          <a:xfrm>
            <a:off x="6583680" y="3822192"/>
            <a:ext cx="4754880" cy="594360"/>
          </a:xfrm>
          <a:prstGeom prst="rect">
            <a:avLst/>
          </a:prstGeom>
          <a:noFill/>
          <a:ln/>
        </p:spPr>
        <p:txBody>
          <a:bodyPr wrap="square" lIns="0" tIns="0" rIns="0" bIns="0" rtlCol="0" anchor="ctr"/>
          <a:lstStyle/>
          <a:p>
            <a:pPr marL="0" indent="0">
              <a:lnSpc>
                <a:spcPct val="120000"/>
              </a:lnSpc>
              <a:buNone/>
            </a:pPr>
            <a:r>
              <a:rPr lang="en-US" sz="1200" dirty="0">
                <a:solidFill>
                  <a:srgbClr val="D6DAF7"/>
                </a:solidFill>
                <a:latin typeface="Calibri" pitchFamily="34" charset="0"/>
                <a:ea typeface="Calibri" pitchFamily="34" charset="-122"/>
                <a:cs typeface="Calibri" pitchFamily="34" charset="-120"/>
              </a:rPr>
              <a:t>Granularité événement. Pannes antenne et temps de résolution.</a:t>
            </a:r>
            <a:endParaRPr lang="en-US" sz="1200" dirty="0"/>
          </a:p>
        </p:txBody>
      </p:sp>
      <p:sp>
        <p:nvSpPr>
          <p:cNvPr id="21" name="Text 17"/>
          <p:cNvSpPr/>
          <p:nvPr/>
        </p:nvSpPr>
        <p:spPr>
          <a:xfrm>
            <a:off x="6583680" y="4526280"/>
            <a:ext cx="4754880" cy="320040"/>
          </a:xfrm>
          <a:prstGeom prst="rect">
            <a:avLst/>
          </a:prstGeom>
          <a:noFill/>
          <a:ln/>
        </p:spPr>
        <p:txBody>
          <a:bodyPr wrap="square" lIns="0" tIns="0" rIns="0" bIns="0" rtlCol="0" anchor="ctr"/>
          <a:lstStyle/>
          <a:p>
            <a:pPr marL="0" indent="0">
              <a:buNone/>
            </a:pPr>
            <a:r>
              <a:rPr lang="en-US" sz="1350" b="1" dirty="0">
                <a:solidFill>
                  <a:srgbClr val="F9A825"/>
                </a:solidFill>
                <a:latin typeface="Cambria" pitchFamily="34" charset="0"/>
                <a:ea typeface="Cambria" pitchFamily="34" charset="-122"/>
                <a:cs typeface="Cambria" pitchFamily="34" charset="-120"/>
              </a:rPr>
              <a:t>fact_subscriber_monthly</a:t>
            </a:r>
            <a:endParaRPr lang="en-US" sz="1350" dirty="0"/>
          </a:p>
        </p:txBody>
      </p:sp>
      <p:sp>
        <p:nvSpPr>
          <p:cNvPr id="22" name="Text 18"/>
          <p:cNvSpPr/>
          <p:nvPr/>
        </p:nvSpPr>
        <p:spPr>
          <a:xfrm>
            <a:off x="6583680" y="4873752"/>
            <a:ext cx="4754880" cy="594360"/>
          </a:xfrm>
          <a:prstGeom prst="rect">
            <a:avLst/>
          </a:prstGeom>
          <a:noFill/>
          <a:ln/>
        </p:spPr>
        <p:txBody>
          <a:bodyPr wrap="square" lIns="0" tIns="0" rIns="0" bIns="0" rtlCol="0" anchor="ctr"/>
          <a:lstStyle/>
          <a:p>
            <a:pPr marL="0" indent="0">
              <a:lnSpc>
                <a:spcPct val="120000"/>
              </a:lnSpc>
              <a:buNone/>
            </a:pPr>
            <a:r>
              <a:rPr lang="en-US" sz="1200" dirty="0">
                <a:solidFill>
                  <a:srgbClr val="D6DAF7"/>
                </a:solidFill>
                <a:latin typeface="Calibri" pitchFamily="34" charset="0"/>
                <a:ea typeface="Calibri" pitchFamily="34" charset="-122"/>
                <a:cs typeface="Calibri" pitchFamily="34" charset="-120"/>
              </a:rPr>
              <a:t>Couche ML : instantanés mensuels agrégés par abonné.</a:t>
            </a:r>
            <a:endParaRPr lang="en-US" sz="1200" dirty="0"/>
          </a:p>
        </p:txBody>
      </p:sp>
      <p:sp>
        <p:nvSpPr>
          <p:cNvPr id="23" name="Text 19"/>
          <p:cNvSpPr/>
          <p:nvPr/>
        </p:nvSpPr>
        <p:spPr>
          <a:xfrm>
            <a:off x="6583680" y="5623560"/>
            <a:ext cx="4754880" cy="548640"/>
          </a:xfrm>
          <a:prstGeom prst="rect">
            <a:avLst/>
          </a:prstGeom>
          <a:noFill/>
          <a:ln/>
        </p:spPr>
        <p:txBody>
          <a:bodyPr wrap="square" lIns="0" tIns="0" rIns="0" bIns="0" rtlCol="0" anchor="ctr"/>
          <a:lstStyle/>
          <a:p>
            <a:pPr marL="0" indent="0">
              <a:buNone/>
            </a:pPr>
            <a:r>
              <a:rPr lang="en-US" sz="1100" i="1" dirty="0">
                <a:solidFill>
                  <a:srgbClr val="AEB6E8"/>
                </a:solidFill>
                <a:latin typeface="Calibri" pitchFamily="34" charset="0"/>
                <a:ea typeface="Calibri" pitchFamily="34" charset="-122"/>
                <a:cs typeface="Calibri" pitchFamily="34" charset="-120"/>
              </a:rPr>
              <a:t>Chargement en lots de 5 000 lignes (INSERT IGNORE) pour éviter les doublons.</a:t>
            </a:r>
            <a:endParaRPr lang="en-US" sz="1100" dirty="0"/>
          </a:p>
        </p:txBody>
      </p:sp>
      <p:sp>
        <p:nvSpPr>
          <p:cNvPr id="24" name="Text 20"/>
          <p:cNvSpPr/>
          <p:nvPr/>
        </p:nvSpPr>
        <p:spPr>
          <a:xfrm>
            <a:off x="457200" y="6473952"/>
            <a:ext cx="7315200" cy="274320"/>
          </a:xfrm>
          <a:prstGeom prst="rect">
            <a:avLst/>
          </a:prstGeom>
          <a:noFill/>
          <a:ln/>
        </p:spPr>
        <p:txBody>
          <a:bodyPr wrap="square" lIns="0" tIns="0" rIns="0" bIns="0" rtlCol="0" anchor="ctr"/>
          <a:lstStyle/>
          <a:p>
            <a:pPr marL="0" indent="0" algn="l">
              <a:buNone/>
            </a:pPr>
            <a:r>
              <a:rPr lang="en-US" sz="900" dirty="0">
                <a:solidFill>
                  <a:srgbClr val="6B7080"/>
                </a:solidFill>
                <a:latin typeface="Calibri" pitchFamily="34" charset="0"/>
                <a:ea typeface="Calibri" pitchFamily="34" charset="-122"/>
                <a:cs typeface="Calibri" pitchFamily="34" charset="-120"/>
              </a:rPr>
              <a:t>Sahel Telecom - Documentation technique EDW</a:t>
            </a:r>
            <a:endParaRPr lang="en-US" sz="900" dirty="0"/>
          </a:p>
        </p:txBody>
      </p:sp>
      <p:sp>
        <p:nvSpPr>
          <p:cNvPr id="25" name="Text 21"/>
          <p:cNvSpPr/>
          <p:nvPr/>
        </p:nvSpPr>
        <p:spPr>
          <a:xfrm>
            <a:off x="11247120" y="6473952"/>
            <a:ext cx="457200" cy="274320"/>
          </a:xfrm>
          <a:prstGeom prst="rect">
            <a:avLst/>
          </a:prstGeom>
          <a:noFill/>
          <a:ln/>
        </p:spPr>
        <p:txBody>
          <a:bodyPr wrap="square" lIns="0" tIns="0" rIns="0" bIns="0" rtlCol="0" anchor="ctr"/>
          <a:lstStyle/>
          <a:p>
            <a:pPr marL="0" indent="0" algn="r">
              <a:buNone/>
            </a:pPr>
            <a:r>
              <a:rPr lang="en-US" sz="900" dirty="0">
                <a:solidFill>
                  <a:srgbClr val="6B7080"/>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47472"/>
            <a:ext cx="9144000" cy="274320"/>
          </a:xfrm>
          <a:prstGeom prst="rect">
            <a:avLst/>
          </a:prstGeom>
          <a:noFill/>
          <a:ln/>
        </p:spPr>
        <p:txBody>
          <a:bodyPr wrap="square" lIns="0" tIns="0" rIns="0" bIns="0" rtlCol="0" anchor="ctr"/>
          <a:lstStyle/>
          <a:p>
            <a:pPr marL="0" indent="0">
              <a:buNone/>
            </a:pPr>
            <a:r>
              <a:rPr lang="en-US" sz="1200" b="1" kern="0" spc="200" dirty="0">
                <a:solidFill>
                  <a:srgbClr val="3949AB"/>
                </a:solidFill>
                <a:latin typeface="Calibri" pitchFamily="34" charset="0"/>
                <a:ea typeface="Calibri" pitchFamily="34" charset="-122"/>
                <a:cs typeface="Calibri" pitchFamily="34" charset="-120"/>
              </a:rPr>
              <a:t>INTÉGRATION DES DONNÉES</a:t>
            </a:r>
            <a:endParaRPr lang="en-US" sz="1200" dirty="0"/>
          </a:p>
        </p:txBody>
      </p:sp>
      <p:sp>
        <p:nvSpPr>
          <p:cNvPr id="3" name="Text 1"/>
          <p:cNvSpPr/>
          <p:nvPr/>
        </p:nvSpPr>
        <p:spPr>
          <a:xfrm>
            <a:off x="548640" y="603504"/>
            <a:ext cx="11064240" cy="685800"/>
          </a:xfrm>
          <a:prstGeom prst="rect">
            <a:avLst/>
          </a:prstGeom>
          <a:noFill/>
          <a:ln/>
        </p:spPr>
        <p:txBody>
          <a:bodyPr wrap="square" lIns="0" tIns="0" rIns="0" bIns="0" rtlCol="0" anchor="ctr"/>
          <a:lstStyle/>
          <a:p>
            <a:pPr marL="0" indent="0">
              <a:buNone/>
            </a:pPr>
            <a:r>
              <a:rPr lang="en-US" sz="3000" b="1" dirty="0">
                <a:solidFill>
                  <a:srgbClr val="1E2233"/>
                </a:solidFill>
                <a:latin typeface="Cambria" pitchFamily="34" charset="0"/>
                <a:ea typeface="Cambria" pitchFamily="34" charset="-122"/>
                <a:cs typeface="Cambria" pitchFamily="34" charset="-120"/>
              </a:rPr>
              <a:t>Pipeline ETL en trois phases</a:t>
            </a:r>
            <a:endParaRPr lang="en-US" sz="3000" dirty="0"/>
          </a:p>
        </p:txBody>
      </p:sp>
      <p:sp>
        <p:nvSpPr>
          <p:cNvPr id="4" name="Shape 2"/>
          <p:cNvSpPr/>
          <p:nvPr/>
        </p:nvSpPr>
        <p:spPr>
          <a:xfrm>
            <a:off x="548640" y="1691640"/>
            <a:ext cx="3611880" cy="3383280"/>
          </a:xfrm>
          <a:prstGeom prst="roundRect">
            <a:avLst>
              <a:gd name="adj" fmla="val 2432"/>
            </a:avLst>
          </a:prstGeom>
          <a:solidFill>
            <a:srgbClr val="1A237E"/>
          </a:solidFill>
          <a:ln/>
          <a:effectLst>
            <a:outerShdw blurRad="127000" dist="38100" dir="5400000" algn="bl" rotWithShape="0">
              <a:srgbClr val="1A237E">
                <a:alpha val="14000"/>
              </a:srgbClr>
            </a:outerShdw>
          </a:effectLst>
        </p:spPr>
      </p:sp>
      <p:sp>
        <p:nvSpPr>
          <p:cNvPr id="5" name="Shape 3"/>
          <p:cNvSpPr/>
          <p:nvPr/>
        </p:nvSpPr>
        <p:spPr>
          <a:xfrm>
            <a:off x="822960" y="1965960"/>
            <a:ext cx="640080" cy="640080"/>
          </a:xfrm>
          <a:prstGeom prst="ellipse">
            <a:avLst/>
          </a:prstGeom>
          <a:solidFill>
            <a:srgbClr val="FFFFFF">
              <a:alpha val="25000"/>
            </a:srgbClr>
          </a:solidFill>
          <a:ln/>
        </p:spPr>
      </p:sp>
      <p:pic>
        <p:nvPicPr>
          <p:cNvPr id="6" name="Image 0" descr="preencoded.png"/>
          <p:cNvPicPr>
            <a:picLocks noChangeAspect="1"/>
          </p:cNvPicPr>
          <p:nvPr/>
        </p:nvPicPr>
        <p:blipFill>
          <a:blip r:embed="rId3"/>
          <a:stretch>
            <a:fillRect/>
          </a:stretch>
        </p:blipFill>
        <p:spPr>
          <a:xfrm>
            <a:off x="899770" y="2042770"/>
            <a:ext cx="486461" cy="486461"/>
          </a:xfrm>
          <a:prstGeom prst="rect">
            <a:avLst/>
          </a:prstGeom>
        </p:spPr>
      </p:pic>
      <p:sp>
        <p:nvSpPr>
          <p:cNvPr id="7" name="Text 4"/>
          <p:cNvSpPr/>
          <p:nvPr/>
        </p:nvSpPr>
        <p:spPr>
          <a:xfrm>
            <a:off x="822960" y="2788920"/>
            <a:ext cx="3063240" cy="365760"/>
          </a:xfrm>
          <a:prstGeom prst="rect">
            <a:avLst/>
          </a:prstGeom>
          <a:noFill/>
          <a:ln/>
        </p:spPr>
        <p:txBody>
          <a:bodyPr wrap="square" lIns="0" tIns="0" rIns="0" bIns="0" rtlCol="0" anchor="ctr"/>
          <a:lstStyle/>
          <a:p>
            <a:pPr marL="0" indent="0">
              <a:buNone/>
            </a:pPr>
            <a:r>
              <a:rPr lang="en-US" sz="1600" b="1" dirty="0">
                <a:solidFill>
                  <a:srgbClr val="FFFFFF"/>
                </a:solidFill>
                <a:latin typeface="Cambria" pitchFamily="34" charset="0"/>
                <a:ea typeface="Cambria" pitchFamily="34" charset="-122"/>
                <a:cs typeface="Cambria" pitchFamily="34" charset="-120"/>
              </a:rPr>
              <a:t>1. EXTRACT</a:t>
            </a:r>
            <a:endParaRPr lang="en-US" sz="1600" dirty="0"/>
          </a:p>
        </p:txBody>
      </p:sp>
      <p:sp>
        <p:nvSpPr>
          <p:cNvPr id="8" name="Text 5"/>
          <p:cNvSpPr/>
          <p:nvPr/>
        </p:nvSpPr>
        <p:spPr>
          <a:xfrm>
            <a:off x="822960" y="3200400"/>
            <a:ext cx="3063240" cy="1737360"/>
          </a:xfrm>
          <a:prstGeom prst="rect">
            <a:avLst/>
          </a:prstGeom>
          <a:noFill/>
          <a:ln/>
        </p:spPr>
        <p:txBody>
          <a:bodyPr wrap="square" lIns="0" tIns="0" rIns="0" bIns="0" rtlCol="0" anchor="ctr"/>
          <a:lstStyle/>
          <a:p>
            <a:pPr marL="0" indent="0">
              <a:lnSpc>
                <a:spcPct val="125000"/>
              </a:lnSpc>
              <a:buNone/>
            </a:pPr>
            <a:r>
              <a:rPr lang="en-US" sz="1200" dirty="0">
                <a:solidFill>
                  <a:srgbClr val="E4E7FA"/>
                </a:solidFill>
                <a:latin typeface="Calibri" pitchFamily="34" charset="0"/>
                <a:ea typeface="Calibri" pitchFamily="34" charset="-122"/>
                <a:cs typeface="Calibri" pitchFamily="34" charset="-120"/>
              </a:rPr>
              <a:t>Chargement des 5 fichiers CSV bruts (telecom_data/) : abonnés, forfaits, antennes, usage, incidents.</a:t>
            </a:r>
            <a:endParaRPr lang="en-US" sz="1200" dirty="0"/>
          </a:p>
        </p:txBody>
      </p:sp>
      <p:sp>
        <p:nvSpPr>
          <p:cNvPr id="9" name="Shape 6"/>
          <p:cNvSpPr/>
          <p:nvPr/>
        </p:nvSpPr>
        <p:spPr>
          <a:xfrm>
            <a:off x="4178808" y="3246120"/>
            <a:ext cx="256032" cy="256032"/>
          </a:xfrm>
          <a:prstGeom prst="ellipse">
            <a:avLst/>
          </a:prstGeom>
          <a:solidFill>
            <a:srgbClr val="F9A825"/>
          </a:solidFill>
          <a:ln/>
        </p:spPr>
      </p:sp>
      <p:sp>
        <p:nvSpPr>
          <p:cNvPr id="10" name="Shape 7"/>
          <p:cNvSpPr/>
          <p:nvPr/>
        </p:nvSpPr>
        <p:spPr>
          <a:xfrm>
            <a:off x="4416552" y="1691640"/>
            <a:ext cx="3611880" cy="3383280"/>
          </a:xfrm>
          <a:prstGeom prst="roundRect">
            <a:avLst>
              <a:gd name="adj" fmla="val 2432"/>
            </a:avLst>
          </a:prstGeom>
          <a:solidFill>
            <a:srgbClr val="3949AB"/>
          </a:solidFill>
          <a:ln/>
          <a:effectLst>
            <a:outerShdw blurRad="127000" dist="38100" dir="5400000" algn="bl" rotWithShape="0">
              <a:srgbClr val="1A237E">
                <a:alpha val="14000"/>
              </a:srgbClr>
            </a:outerShdw>
          </a:effectLst>
        </p:spPr>
      </p:sp>
      <p:sp>
        <p:nvSpPr>
          <p:cNvPr id="11" name="Shape 8"/>
          <p:cNvSpPr/>
          <p:nvPr/>
        </p:nvSpPr>
        <p:spPr>
          <a:xfrm>
            <a:off x="4690872" y="1965960"/>
            <a:ext cx="640080" cy="640080"/>
          </a:xfrm>
          <a:prstGeom prst="ellipse">
            <a:avLst/>
          </a:prstGeom>
          <a:solidFill>
            <a:srgbClr val="FFFFFF">
              <a:alpha val="25000"/>
            </a:srgbClr>
          </a:solidFill>
          <a:ln/>
        </p:spPr>
      </p:sp>
      <p:pic>
        <p:nvPicPr>
          <p:cNvPr id="12" name="Image 1" descr="preencoded.png"/>
          <p:cNvPicPr>
            <a:picLocks noChangeAspect="1"/>
          </p:cNvPicPr>
          <p:nvPr/>
        </p:nvPicPr>
        <p:blipFill>
          <a:blip r:embed="rId4"/>
          <a:stretch>
            <a:fillRect/>
          </a:stretch>
        </p:blipFill>
        <p:spPr>
          <a:xfrm>
            <a:off x="4767682" y="2042770"/>
            <a:ext cx="486461" cy="486461"/>
          </a:xfrm>
          <a:prstGeom prst="rect">
            <a:avLst/>
          </a:prstGeom>
        </p:spPr>
      </p:pic>
      <p:sp>
        <p:nvSpPr>
          <p:cNvPr id="13" name="Text 9"/>
          <p:cNvSpPr/>
          <p:nvPr/>
        </p:nvSpPr>
        <p:spPr>
          <a:xfrm>
            <a:off x="4690872" y="2788920"/>
            <a:ext cx="3063240" cy="365760"/>
          </a:xfrm>
          <a:prstGeom prst="rect">
            <a:avLst/>
          </a:prstGeom>
          <a:noFill/>
          <a:ln/>
        </p:spPr>
        <p:txBody>
          <a:bodyPr wrap="square" lIns="0" tIns="0" rIns="0" bIns="0" rtlCol="0" anchor="ctr"/>
          <a:lstStyle/>
          <a:p>
            <a:pPr marL="0" indent="0">
              <a:buNone/>
            </a:pPr>
            <a:r>
              <a:rPr lang="en-US" sz="1600" b="1" dirty="0">
                <a:solidFill>
                  <a:srgbClr val="FFFFFF"/>
                </a:solidFill>
                <a:latin typeface="Cambria" pitchFamily="34" charset="0"/>
                <a:ea typeface="Cambria" pitchFamily="34" charset="-122"/>
                <a:cs typeface="Cambria" pitchFamily="34" charset="-120"/>
              </a:rPr>
              <a:t>2. TRANSFORM</a:t>
            </a:r>
            <a:endParaRPr lang="en-US" sz="1600" dirty="0"/>
          </a:p>
        </p:txBody>
      </p:sp>
      <p:sp>
        <p:nvSpPr>
          <p:cNvPr id="14" name="Text 10"/>
          <p:cNvSpPr/>
          <p:nvPr/>
        </p:nvSpPr>
        <p:spPr>
          <a:xfrm>
            <a:off x="4690872" y="3200400"/>
            <a:ext cx="3063240" cy="1737360"/>
          </a:xfrm>
          <a:prstGeom prst="rect">
            <a:avLst/>
          </a:prstGeom>
          <a:noFill/>
          <a:ln/>
        </p:spPr>
        <p:txBody>
          <a:bodyPr wrap="square" lIns="0" tIns="0" rIns="0" bIns="0" rtlCol="0" anchor="ctr"/>
          <a:lstStyle/>
          <a:p>
            <a:pPr marL="0" indent="0">
              <a:lnSpc>
                <a:spcPct val="125000"/>
              </a:lnSpc>
              <a:buNone/>
            </a:pPr>
            <a:r>
              <a:rPr lang="en-US" sz="1200" dirty="0">
                <a:solidFill>
                  <a:srgbClr val="E4E7FA"/>
                </a:solidFill>
                <a:latin typeface="Calibri" pitchFamily="34" charset="0"/>
                <a:ea typeface="Calibri" pitchFamily="34" charset="-122"/>
                <a:cs typeface="Calibri" pitchFamily="34" charset="-120"/>
              </a:rPr>
              <a:t>Nettoyage strict : rejet des abonnés sans identifiant ou forfait. Mapping vectorisé via dictionnaires Python (zip ultra-rapide).</a:t>
            </a:r>
            <a:endParaRPr lang="en-US" sz="1200" dirty="0"/>
          </a:p>
        </p:txBody>
      </p:sp>
      <p:sp>
        <p:nvSpPr>
          <p:cNvPr id="15" name="Shape 11"/>
          <p:cNvSpPr/>
          <p:nvPr/>
        </p:nvSpPr>
        <p:spPr>
          <a:xfrm>
            <a:off x="8046720" y="3246120"/>
            <a:ext cx="256032" cy="256032"/>
          </a:xfrm>
          <a:prstGeom prst="ellipse">
            <a:avLst/>
          </a:prstGeom>
          <a:solidFill>
            <a:srgbClr val="F9A825"/>
          </a:solidFill>
          <a:ln/>
        </p:spPr>
      </p:sp>
      <p:sp>
        <p:nvSpPr>
          <p:cNvPr id="16" name="Shape 12"/>
          <p:cNvSpPr/>
          <p:nvPr/>
        </p:nvSpPr>
        <p:spPr>
          <a:xfrm>
            <a:off x="8284464" y="1691640"/>
            <a:ext cx="3611880" cy="3383280"/>
          </a:xfrm>
          <a:prstGeom prst="roundRect">
            <a:avLst>
              <a:gd name="adj" fmla="val 2432"/>
            </a:avLst>
          </a:prstGeom>
          <a:solidFill>
            <a:srgbClr val="5C6BC0"/>
          </a:solidFill>
          <a:ln/>
          <a:effectLst>
            <a:outerShdw blurRad="127000" dist="38100" dir="5400000" algn="bl" rotWithShape="0">
              <a:srgbClr val="1A237E">
                <a:alpha val="14000"/>
              </a:srgbClr>
            </a:outerShdw>
          </a:effectLst>
        </p:spPr>
      </p:sp>
      <p:sp>
        <p:nvSpPr>
          <p:cNvPr id="17" name="Shape 13"/>
          <p:cNvSpPr/>
          <p:nvPr/>
        </p:nvSpPr>
        <p:spPr>
          <a:xfrm>
            <a:off x="8558784" y="1965960"/>
            <a:ext cx="640080" cy="640080"/>
          </a:xfrm>
          <a:prstGeom prst="ellipse">
            <a:avLst/>
          </a:prstGeom>
          <a:solidFill>
            <a:srgbClr val="FFFFFF">
              <a:alpha val="25000"/>
            </a:srgbClr>
          </a:solidFill>
          <a:ln/>
        </p:spPr>
      </p:sp>
      <p:pic>
        <p:nvPicPr>
          <p:cNvPr id="18" name="Image 2" descr="preencoded.png"/>
          <p:cNvPicPr>
            <a:picLocks noChangeAspect="1"/>
          </p:cNvPicPr>
          <p:nvPr/>
        </p:nvPicPr>
        <p:blipFill>
          <a:blip r:embed="rId5"/>
          <a:stretch>
            <a:fillRect/>
          </a:stretch>
        </p:blipFill>
        <p:spPr>
          <a:xfrm>
            <a:off x="8635594" y="2042770"/>
            <a:ext cx="486461" cy="486461"/>
          </a:xfrm>
          <a:prstGeom prst="rect">
            <a:avLst/>
          </a:prstGeom>
        </p:spPr>
      </p:pic>
      <p:sp>
        <p:nvSpPr>
          <p:cNvPr id="19" name="Text 14"/>
          <p:cNvSpPr/>
          <p:nvPr/>
        </p:nvSpPr>
        <p:spPr>
          <a:xfrm>
            <a:off x="8558784" y="2788920"/>
            <a:ext cx="3063240" cy="365760"/>
          </a:xfrm>
          <a:prstGeom prst="rect">
            <a:avLst/>
          </a:prstGeom>
          <a:noFill/>
          <a:ln/>
        </p:spPr>
        <p:txBody>
          <a:bodyPr wrap="square" lIns="0" tIns="0" rIns="0" bIns="0" rtlCol="0" anchor="ctr"/>
          <a:lstStyle/>
          <a:p>
            <a:pPr marL="0" indent="0">
              <a:buNone/>
            </a:pPr>
            <a:r>
              <a:rPr lang="en-US" sz="1600" b="1" dirty="0">
                <a:solidFill>
                  <a:srgbClr val="FFFFFF"/>
                </a:solidFill>
                <a:latin typeface="Cambria" pitchFamily="34" charset="0"/>
                <a:ea typeface="Cambria" pitchFamily="34" charset="-122"/>
                <a:cs typeface="Cambria" pitchFamily="34" charset="-120"/>
              </a:rPr>
              <a:t>3. LOAD</a:t>
            </a:r>
            <a:endParaRPr lang="en-US" sz="1600" dirty="0"/>
          </a:p>
        </p:txBody>
      </p:sp>
      <p:sp>
        <p:nvSpPr>
          <p:cNvPr id="20" name="Text 15"/>
          <p:cNvSpPr/>
          <p:nvPr/>
        </p:nvSpPr>
        <p:spPr>
          <a:xfrm>
            <a:off x="8558784" y="3200400"/>
            <a:ext cx="3063240" cy="1737360"/>
          </a:xfrm>
          <a:prstGeom prst="rect">
            <a:avLst/>
          </a:prstGeom>
          <a:noFill/>
          <a:ln/>
        </p:spPr>
        <p:txBody>
          <a:bodyPr wrap="square" lIns="0" tIns="0" rIns="0" bIns="0" rtlCol="0" anchor="ctr"/>
          <a:lstStyle/>
          <a:p>
            <a:pPr marL="0" indent="0">
              <a:lnSpc>
                <a:spcPct val="125000"/>
              </a:lnSpc>
              <a:buNone/>
            </a:pPr>
            <a:r>
              <a:rPr lang="en-US" sz="1200" dirty="0">
                <a:solidFill>
                  <a:srgbClr val="E4E7FA"/>
                </a:solidFill>
                <a:latin typeface="Calibri" pitchFamily="34" charset="0"/>
                <a:ea typeface="Calibri" pitchFamily="34" charset="-122"/>
                <a:cs typeface="Calibri" pitchFamily="34" charset="-120"/>
              </a:rPr>
              <a:t>Bulk insert par lots de 5 000 lignes. 100 000 lignes initiales chargées en 1,5 seconde. SCD2 appliqué uniquement aux abonnés modifiés.</a:t>
            </a:r>
            <a:endParaRPr lang="en-US" sz="1200" dirty="0"/>
          </a:p>
        </p:txBody>
      </p:sp>
      <p:sp>
        <p:nvSpPr>
          <p:cNvPr id="21" name="Text 16"/>
          <p:cNvSpPr/>
          <p:nvPr/>
        </p:nvSpPr>
        <p:spPr>
          <a:xfrm>
            <a:off x="548640" y="5349240"/>
            <a:ext cx="11064240" cy="365760"/>
          </a:xfrm>
          <a:prstGeom prst="rect">
            <a:avLst/>
          </a:prstGeom>
          <a:noFill/>
          <a:ln/>
        </p:spPr>
        <p:txBody>
          <a:bodyPr wrap="square" lIns="0" tIns="0" rIns="0" bIns="0" rtlCol="0" anchor="ctr"/>
          <a:lstStyle/>
          <a:p>
            <a:pPr marL="0" indent="0">
              <a:buNone/>
            </a:pPr>
            <a:r>
              <a:rPr lang="en-US" sz="1200" i="1" dirty="0">
                <a:solidFill>
                  <a:srgbClr val="6B7080"/>
                </a:solidFill>
                <a:latin typeface="Calibri" pitchFamily="34" charset="0"/>
                <a:ea typeface="Calibri" pitchFamily="34" charset="-122"/>
                <a:cs typeface="Calibri" pitchFamily="34" charset="-120"/>
              </a:rPr>
              <a:t>Script principal : etl_pipeline_3.py  •  Connexion via mysql-connector-python</a:t>
            </a:r>
            <a:endParaRPr lang="en-US" sz="1200" dirty="0"/>
          </a:p>
        </p:txBody>
      </p:sp>
      <p:sp>
        <p:nvSpPr>
          <p:cNvPr id="22" name="Text 17"/>
          <p:cNvSpPr/>
          <p:nvPr/>
        </p:nvSpPr>
        <p:spPr>
          <a:xfrm>
            <a:off x="457200" y="6473952"/>
            <a:ext cx="7315200" cy="274320"/>
          </a:xfrm>
          <a:prstGeom prst="rect">
            <a:avLst/>
          </a:prstGeom>
          <a:noFill/>
          <a:ln/>
        </p:spPr>
        <p:txBody>
          <a:bodyPr wrap="square" lIns="0" tIns="0" rIns="0" bIns="0" rtlCol="0" anchor="ctr"/>
          <a:lstStyle/>
          <a:p>
            <a:pPr marL="0" indent="0" algn="l">
              <a:buNone/>
            </a:pPr>
            <a:r>
              <a:rPr lang="en-US" sz="900" dirty="0">
                <a:solidFill>
                  <a:srgbClr val="6B7080"/>
                </a:solidFill>
                <a:latin typeface="Calibri" pitchFamily="34" charset="0"/>
                <a:ea typeface="Calibri" pitchFamily="34" charset="-122"/>
                <a:cs typeface="Calibri" pitchFamily="34" charset="-120"/>
              </a:rPr>
              <a:t>Sahel Telecom - Documentation technique EDW</a:t>
            </a:r>
            <a:endParaRPr lang="en-US" sz="900" dirty="0"/>
          </a:p>
        </p:txBody>
      </p:sp>
      <p:sp>
        <p:nvSpPr>
          <p:cNvPr id="23" name="Text 18"/>
          <p:cNvSpPr/>
          <p:nvPr/>
        </p:nvSpPr>
        <p:spPr>
          <a:xfrm>
            <a:off x="11247120" y="6473952"/>
            <a:ext cx="457200" cy="274320"/>
          </a:xfrm>
          <a:prstGeom prst="rect">
            <a:avLst/>
          </a:prstGeom>
          <a:noFill/>
          <a:ln/>
        </p:spPr>
        <p:txBody>
          <a:bodyPr wrap="square" lIns="0" tIns="0" rIns="0" bIns="0" rtlCol="0" anchor="ctr"/>
          <a:lstStyle/>
          <a:p>
            <a:pPr marL="0" indent="0" algn="r">
              <a:buNone/>
            </a:pPr>
            <a:r>
              <a:rPr lang="en-US" sz="900" dirty="0">
                <a:solidFill>
                  <a:srgbClr val="6B7080"/>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47472"/>
            <a:ext cx="9144000" cy="274320"/>
          </a:xfrm>
          <a:prstGeom prst="rect">
            <a:avLst/>
          </a:prstGeom>
          <a:noFill/>
          <a:ln/>
        </p:spPr>
        <p:txBody>
          <a:bodyPr wrap="square" lIns="0" tIns="0" rIns="0" bIns="0" rtlCol="0" anchor="ctr"/>
          <a:lstStyle/>
          <a:p>
            <a:pPr marL="0" indent="0">
              <a:buNone/>
            </a:pPr>
            <a:r>
              <a:rPr lang="en-US" sz="1200" b="1" kern="0" spc="200" dirty="0">
                <a:solidFill>
                  <a:srgbClr val="3949AB"/>
                </a:solidFill>
                <a:latin typeface="Calibri" pitchFamily="34" charset="0"/>
                <a:ea typeface="Calibri" pitchFamily="34" charset="-122"/>
                <a:cs typeface="Calibri" pitchFamily="34" charset="-120"/>
              </a:rPr>
              <a:t>INDICATEURS DE PILOTAGE</a:t>
            </a:r>
            <a:endParaRPr lang="en-US" sz="1200" dirty="0"/>
          </a:p>
        </p:txBody>
      </p:sp>
      <p:sp>
        <p:nvSpPr>
          <p:cNvPr id="3" name="Text 1"/>
          <p:cNvSpPr/>
          <p:nvPr/>
        </p:nvSpPr>
        <p:spPr>
          <a:xfrm>
            <a:off x="548640" y="603504"/>
            <a:ext cx="11064240" cy="685800"/>
          </a:xfrm>
          <a:prstGeom prst="rect">
            <a:avLst/>
          </a:prstGeom>
          <a:noFill/>
          <a:ln/>
        </p:spPr>
        <p:txBody>
          <a:bodyPr wrap="square" lIns="0" tIns="0" rIns="0" bIns="0" rtlCol="0" anchor="ctr"/>
          <a:lstStyle/>
          <a:p>
            <a:pPr marL="0" indent="0">
              <a:buNone/>
            </a:pPr>
            <a:r>
              <a:rPr lang="en-US" sz="3000" b="1" dirty="0">
                <a:solidFill>
                  <a:srgbClr val="1E2233"/>
                </a:solidFill>
                <a:latin typeface="Cambria" pitchFamily="34" charset="0"/>
                <a:ea typeface="Cambria" pitchFamily="34" charset="-122"/>
                <a:cs typeface="Cambria" pitchFamily="34" charset="-120"/>
              </a:rPr>
              <a:t>Les sept KPI matérialisés</a:t>
            </a:r>
            <a:endParaRPr lang="en-US" sz="3000" dirty="0"/>
          </a:p>
        </p:txBody>
      </p:sp>
      <p:sp>
        <p:nvSpPr>
          <p:cNvPr id="4" name="Shape 2"/>
          <p:cNvSpPr/>
          <p:nvPr/>
        </p:nvSpPr>
        <p:spPr>
          <a:xfrm>
            <a:off x="548640" y="1508760"/>
            <a:ext cx="2670048" cy="1965960"/>
          </a:xfrm>
          <a:prstGeom prst="roundRect">
            <a:avLst>
              <a:gd name="adj" fmla="val 3721"/>
            </a:avLst>
          </a:prstGeom>
          <a:solidFill>
            <a:srgbClr val="EEF0FA"/>
          </a:solidFill>
          <a:ln/>
          <a:effectLst>
            <a:outerShdw blurRad="127000" dist="38100" dir="5400000" algn="bl" rotWithShape="0">
              <a:srgbClr val="1A237E">
                <a:alpha val="14000"/>
              </a:srgbClr>
            </a:outerShdw>
          </a:effectLst>
        </p:spPr>
      </p:sp>
      <p:sp>
        <p:nvSpPr>
          <p:cNvPr id="5" name="Shape 3"/>
          <p:cNvSpPr/>
          <p:nvPr/>
        </p:nvSpPr>
        <p:spPr>
          <a:xfrm>
            <a:off x="749808" y="1709928"/>
            <a:ext cx="502920" cy="502920"/>
          </a:xfrm>
          <a:prstGeom prst="ellipse">
            <a:avLst/>
          </a:prstGeom>
          <a:solidFill>
            <a:srgbClr val="1A237E"/>
          </a:solidFill>
          <a:ln/>
        </p:spPr>
      </p:sp>
      <p:pic>
        <p:nvPicPr>
          <p:cNvPr id="6" name="Image 0" descr="preencoded.png"/>
          <p:cNvPicPr>
            <a:picLocks noChangeAspect="1"/>
          </p:cNvPicPr>
          <p:nvPr/>
        </p:nvPicPr>
        <p:blipFill>
          <a:blip r:embed="rId3"/>
          <a:stretch>
            <a:fillRect/>
          </a:stretch>
        </p:blipFill>
        <p:spPr>
          <a:xfrm>
            <a:off x="810158" y="1770278"/>
            <a:ext cx="382219" cy="382219"/>
          </a:xfrm>
          <a:prstGeom prst="rect">
            <a:avLst/>
          </a:prstGeom>
        </p:spPr>
      </p:pic>
      <p:sp>
        <p:nvSpPr>
          <p:cNvPr id="7" name="Text 4"/>
          <p:cNvSpPr/>
          <p:nvPr/>
        </p:nvSpPr>
        <p:spPr>
          <a:xfrm>
            <a:off x="749808" y="2331720"/>
            <a:ext cx="2267712" cy="502920"/>
          </a:xfrm>
          <a:prstGeom prst="rect">
            <a:avLst/>
          </a:prstGeom>
          <a:noFill/>
          <a:ln/>
        </p:spPr>
        <p:txBody>
          <a:bodyPr wrap="square" lIns="0" tIns="0" rIns="0" bIns="0" rtlCol="0" anchor="ctr"/>
          <a:lstStyle/>
          <a:p>
            <a:pPr marL="0" indent="0">
              <a:buNone/>
            </a:pPr>
            <a:r>
              <a:rPr lang="en-US" sz="1200" b="1" dirty="0">
                <a:solidFill>
                  <a:srgbClr val="1E2233"/>
                </a:solidFill>
                <a:latin typeface="Cambria" pitchFamily="34" charset="0"/>
                <a:ea typeface="Cambria" pitchFamily="34" charset="-122"/>
                <a:cs typeface="Cambria" pitchFamily="34" charset="-120"/>
              </a:rPr>
              <a:t>kpi_churn_mensuel</a:t>
            </a:r>
            <a:endParaRPr lang="en-US" sz="1200" dirty="0"/>
          </a:p>
        </p:txBody>
      </p:sp>
      <p:sp>
        <p:nvSpPr>
          <p:cNvPr id="8" name="Text 5"/>
          <p:cNvSpPr/>
          <p:nvPr/>
        </p:nvSpPr>
        <p:spPr>
          <a:xfrm>
            <a:off x="749808" y="2807208"/>
            <a:ext cx="2267712" cy="594360"/>
          </a:xfrm>
          <a:prstGeom prst="rect">
            <a:avLst/>
          </a:prstGeom>
          <a:noFill/>
          <a:ln/>
        </p:spPr>
        <p:txBody>
          <a:bodyPr wrap="square" lIns="0" tIns="0" rIns="0" bIns="0" rtlCol="0" anchor="ctr"/>
          <a:lstStyle/>
          <a:p>
            <a:pPr marL="0" indent="0">
              <a:lnSpc>
                <a:spcPct val="110000"/>
              </a:lnSpc>
              <a:buNone/>
            </a:pPr>
            <a:r>
              <a:rPr lang="en-US" sz="950" dirty="0">
                <a:solidFill>
                  <a:srgbClr val="6B7080"/>
                </a:solidFill>
                <a:latin typeface="Calibri" pitchFamily="34" charset="0"/>
                <a:ea typeface="Calibri" pitchFamily="34" charset="-122"/>
                <a:cs typeface="Calibri" pitchFamily="34" charset="-120"/>
              </a:rPr>
              <a:t>Taux de churn par segment, pays et forfait</a:t>
            </a:r>
            <a:endParaRPr lang="en-US" sz="950" dirty="0"/>
          </a:p>
        </p:txBody>
      </p:sp>
      <p:sp>
        <p:nvSpPr>
          <p:cNvPr id="9" name="Shape 6"/>
          <p:cNvSpPr/>
          <p:nvPr/>
        </p:nvSpPr>
        <p:spPr>
          <a:xfrm>
            <a:off x="3401568" y="1508760"/>
            <a:ext cx="2670048" cy="1965960"/>
          </a:xfrm>
          <a:prstGeom prst="roundRect">
            <a:avLst>
              <a:gd name="adj" fmla="val 3721"/>
            </a:avLst>
          </a:prstGeom>
          <a:solidFill>
            <a:srgbClr val="EEF0FA"/>
          </a:solidFill>
          <a:ln/>
          <a:effectLst>
            <a:outerShdw blurRad="127000" dist="38100" dir="5400000" algn="bl" rotWithShape="0">
              <a:srgbClr val="1A237E">
                <a:alpha val="14000"/>
              </a:srgbClr>
            </a:outerShdw>
          </a:effectLst>
        </p:spPr>
      </p:sp>
      <p:sp>
        <p:nvSpPr>
          <p:cNvPr id="10" name="Shape 7"/>
          <p:cNvSpPr/>
          <p:nvPr/>
        </p:nvSpPr>
        <p:spPr>
          <a:xfrm>
            <a:off x="3602736" y="1709928"/>
            <a:ext cx="502920" cy="502920"/>
          </a:xfrm>
          <a:prstGeom prst="ellipse">
            <a:avLst/>
          </a:prstGeom>
          <a:solidFill>
            <a:srgbClr val="1A237E"/>
          </a:solidFill>
          <a:ln/>
        </p:spPr>
      </p:sp>
      <p:pic>
        <p:nvPicPr>
          <p:cNvPr id="11" name="Image 1" descr="preencoded.png"/>
          <p:cNvPicPr>
            <a:picLocks noChangeAspect="1"/>
          </p:cNvPicPr>
          <p:nvPr/>
        </p:nvPicPr>
        <p:blipFill>
          <a:blip r:embed="rId4"/>
          <a:stretch>
            <a:fillRect/>
          </a:stretch>
        </p:blipFill>
        <p:spPr>
          <a:xfrm>
            <a:off x="3663086" y="1770278"/>
            <a:ext cx="382219" cy="382219"/>
          </a:xfrm>
          <a:prstGeom prst="rect">
            <a:avLst/>
          </a:prstGeom>
        </p:spPr>
      </p:pic>
      <p:sp>
        <p:nvSpPr>
          <p:cNvPr id="12" name="Text 8"/>
          <p:cNvSpPr/>
          <p:nvPr/>
        </p:nvSpPr>
        <p:spPr>
          <a:xfrm>
            <a:off x="3602736" y="2331720"/>
            <a:ext cx="2267712" cy="502920"/>
          </a:xfrm>
          <a:prstGeom prst="rect">
            <a:avLst/>
          </a:prstGeom>
          <a:noFill/>
          <a:ln/>
        </p:spPr>
        <p:txBody>
          <a:bodyPr wrap="square" lIns="0" tIns="0" rIns="0" bIns="0" rtlCol="0" anchor="ctr"/>
          <a:lstStyle/>
          <a:p>
            <a:pPr marL="0" indent="0">
              <a:buNone/>
            </a:pPr>
            <a:r>
              <a:rPr lang="en-US" sz="1200" b="1" dirty="0">
                <a:solidFill>
                  <a:srgbClr val="1E2233"/>
                </a:solidFill>
                <a:latin typeface="Cambria" pitchFamily="34" charset="0"/>
                <a:ea typeface="Cambria" pitchFamily="34" charset="-122"/>
                <a:cs typeface="Cambria" pitchFamily="34" charset="-120"/>
              </a:rPr>
              <a:t>kpi_arpu</a:t>
            </a:r>
            <a:endParaRPr lang="en-US" sz="1200" dirty="0"/>
          </a:p>
        </p:txBody>
      </p:sp>
      <p:sp>
        <p:nvSpPr>
          <p:cNvPr id="13" name="Text 9"/>
          <p:cNvSpPr/>
          <p:nvPr/>
        </p:nvSpPr>
        <p:spPr>
          <a:xfrm>
            <a:off x="3602736" y="2807208"/>
            <a:ext cx="2267712" cy="594360"/>
          </a:xfrm>
          <a:prstGeom prst="rect">
            <a:avLst/>
          </a:prstGeom>
          <a:noFill/>
          <a:ln/>
        </p:spPr>
        <p:txBody>
          <a:bodyPr wrap="square" lIns="0" tIns="0" rIns="0" bIns="0" rtlCol="0" anchor="ctr"/>
          <a:lstStyle/>
          <a:p>
            <a:pPr marL="0" indent="0">
              <a:lnSpc>
                <a:spcPct val="110000"/>
              </a:lnSpc>
              <a:buNone/>
            </a:pPr>
            <a:r>
              <a:rPr lang="en-US" sz="950" dirty="0">
                <a:solidFill>
                  <a:srgbClr val="6B7080"/>
                </a:solidFill>
                <a:latin typeface="Calibri" pitchFamily="34" charset="0"/>
                <a:ea typeface="Calibri" pitchFamily="34" charset="-122"/>
                <a:cs typeface="Calibri" pitchFamily="34" charset="-120"/>
              </a:rPr>
              <a:t>Revenu moyen par abonné actif (ARPU)</a:t>
            </a:r>
            <a:endParaRPr lang="en-US" sz="950" dirty="0"/>
          </a:p>
        </p:txBody>
      </p:sp>
      <p:sp>
        <p:nvSpPr>
          <p:cNvPr id="14" name="Shape 10"/>
          <p:cNvSpPr/>
          <p:nvPr/>
        </p:nvSpPr>
        <p:spPr>
          <a:xfrm>
            <a:off x="6254496" y="1508760"/>
            <a:ext cx="2670048" cy="1965960"/>
          </a:xfrm>
          <a:prstGeom prst="roundRect">
            <a:avLst>
              <a:gd name="adj" fmla="val 3721"/>
            </a:avLst>
          </a:prstGeom>
          <a:solidFill>
            <a:srgbClr val="EEF0FA"/>
          </a:solidFill>
          <a:ln/>
          <a:effectLst>
            <a:outerShdw blurRad="127000" dist="38100" dir="5400000" algn="bl" rotWithShape="0">
              <a:srgbClr val="1A237E">
                <a:alpha val="14000"/>
              </a:srgbClr>
            </a:outerShdw>
          </a:effectLst>
        </p:spPr>
      </p:sp>
      <p:sp>
        <p:nvSpPr>
          <p:cNvPr id="15" name="Shape 11"/>
          <p:cNvSpPr/>
          <p:nvPr/>
        </p:nvSpPr>
        <p:spPr>
          <a:xfrm>
            <a:off x="6455664" y="1709928"/>
            <a:ext cx="502920" cy="502920"/>
          </a:xfrm>
          <a:prstGeom prst="ellipse">
            <a:avLst/>
          </a:prstGeom>
          <a:solidFill>
            <a:srgbClr val="1A237E"/>
          </a:solidFill>
          <a:ln/>
        </p:spPr>
      </p:sp>
      <p:pic>
        <p:nvPicPr>
          <p:cNvPr id="16" name="Image 2" descr="preencoded.png"/>
          <p:cNvPicPr>
            <a:picLocks noChangeAspect="1"/>
          </p:cNvPicPr>
          <p:nvPr/>
        </p:nvPicPr>
        <p:blipFill>
          <a:blip r:embed="rId5"/>
          <a:stretch>
            <a:fillRect/>
          </a:stretch>
        </p:blipFill>
        <p:spPr>
          <a:xfrm>
            <a:off x="6516014" y="1770278"/>
            <a:ext cx="382219" cy="382219"/>
          </a:xfrm>
          <a:prstGeom prst="rect">
            <a:avLst/>
          </a:prstGeom>
        </p:spPr>
      </p:pic>
      <p:sp>
        <p:nvSpPr>
          <p:cNvPr id="17" name="Text 12"/>
          <p:cNvSpPr/>
          <p:nvPr/>
        </p:nvSpPr>
        <p:spPr>
          <a:xfrm>
            <a:off x="6455664" y="2331720"/>
            <a:ext cx="2267712" cy="502920"/>
          </a:xfrm>
          <a:prstGeom prst="rect">
            <a:avLst/>
          </a:prstGeom>
          <a:noFill/>
          <a:ln/>
        </p:spPr>
        <p:txBody>
          <a:bodyPr wrap="square" lIns="0" tIns="0" rIns="0" bIns="0" rtlCol="0" anchor="ctr"/>
          <a:lstStyle/>
          <a:p>
            <a:pPr marL="0" indent="0">
              <a:buNone/>
            </a:pPr>
            <a:r>
              <a:rPr lang="en-US" sz="1200" b="1" dirty="0">
                <a:solidFill>
                  <a:srgbClr val="1E2233"/>
                </a:solidFill>
                <a:latin typeface="Cambria" pitchFamily="34" charset="0"/>
                <a:ea typeface="Cambria" pitchFamily="34" charset="-122"/>
                <a:cs typeface="Cambria" pitchFamily="34" charset="-120"/>
              </a:rPr>
              <a:t>kpi_utilisation_reseau</a:t>
            </a:r>
            <a:endParaRPr lang="en-US" sz="1200" dirty="0"/>
          </a:p>
        </p:txBody>
      </p:sp>
      <p:sp>
        <p:nvSpPr>
          <p:cNvPr id="18" name="Text 13"/>
          <p:cNvSpPr/>
          <p:nvPr/>
        </p:nvSpPr>
        <p:spPr>
          <a:xfrm>
            <a:off x="6455664" y="2807208"/>
            <a:ext cx="2267712" cy="594360"/>
          </a:xfrm>
          <a:prstGeom prst="rect">
            <a:avLst/>
          </a:prstGeom>
          <a:noFill/>
          <a:ln/>
        </p:spPr>
        <p:txBody>
          <a:bodyPr wrap="square" lIns="0" tIns="0" rIns="0" bIns="0" rtlCol="0" anchor="ctr"/>
          <a:lstStyle/>
          <a:p>
            <a:pPr marL="0" indent="0">
              <a:lnSpc>
                <a:spcPct val="110000"/>
              </a:lnSpc>
              <a:buNone/>
            </a:pPr>
            <a:r>
              <a:rPr lang="en-US" sz="950" dirty="0">
                <a:solidFill>
                  <a:srgbClr val="6B7080"/>
                </a:solidFill>
                <a:latin typeface="Calibri" pitchFamily="34" charset="0"/>
                <a:ea typeface="Calibri" pitchFamily="34" charset="-122"/>
                <a:cs typeface="Calibri" pitchFamily="34" charset="-120"/>
              </a:rPr>
              <a:t>Saturation et trafic des antennes</a:t>
            </a:r>
            <a:endParaRPr lang="en-US" sz="950" dirty="0"/>
          </a:p>
        </p:txBody>
      </p:sp>
      <p:sp>
        <p:nvSpPr>
          <p:cNvPr id="19" name="Shape 14"/>
          <p:cNvSpPr/>
          <p:nvPr/>
        </p:nvSpPr>
        <p:spPr>
          <a:xfrm>
            <a:off x="9107424" y="1508760"/>
            <a:ext cx="2670048" cy="1965960"/>
          </a:xfrm>
          <a:prstGeom prst="roundRect">
            <a:avLst>
              <a:gd name="adj" fmla="val 3721"/>
            </a:avLst>
          </a:prstGeom>
          <a:solidFill>
            <a:srgbClr val="EEF0FA"/>
          </a:solidFill>
          <a:ln/>
          <a:effectLst>
            <a:outerShdw blurRad="127000" dist="38100" dir="5400000" algn="bl" rotWithShape="0">
              <a:srgbClr val="1A237E">
                <a:alpha val="14000"/>
              </a:srgbClr>
            </a:outerShdw>
          </a:effectLst>
        </p:spPr>
      </p:sp>
      <p:sp>
        <p:nvSpPr>
          <p:cNvPr id="20" name="Shape 15"/>
          <p:cNvSpPr/>
          <p:nvPr/>
        </p:nvSpPr>
        <p:spPr>
          <a:xfrm>
            <a:off x="9308592" y="1709928"/>
            <a:ext cx="502920" cy="502920"/>
          </a:xfrm>
          <a:prstGeom prst="ellipse">
            <a:avLst/>
          </a:prstGeom>
          <a:solidFill>
            <a:srgbClr val="1A237E"/>
          </a:solidFill>
          <a:ln/>
        </p:spPr>
      </p:sp>
      <p:pic>
        <p:nvPicPr>
          <p:cNvPr id="21" name="Image 3" descr="preencoded.png"/>
          <p:cNvPicPr>
            <a:picLocks noChangeAspect="1"/>
          </p:cNvPicPr>
          <p:nvPr/>
        </p:nvPicPr>
        <p:blipFill>
          <a:blip r:embed="rId6"/>
          <a:stretch>
            <a:fillRect/>
          </a:stretch>
        </p:blipFill>
        <p:spPr>
          <a:xfrm>
            <a:off x="9368942" y="1770278"/>
            <a:ext cx="382219" cy="382219"/>
          </a:xfrm>
          <a:prstGeom prst="rect">
            <a:avLst/>
          </a:prstGeom>
        </p:spPr>
      </p:pic>
      <p:sp>
        <p:nvSpPr>
          <p:cNvPr id="22" name="Text 16"/>
          <p:cNvSpPr/>
          <p:nvPr/>
        </p:nvSpPr>
        <p:spPr>
          <a:xfrm>
            <a:off x="9308592" y="2331720"/>
            <a:ext cx="2267712" cy="502920"/>
          </a:xfrm>
          <a:prstGeom prst="rect">
            <a:avLst/>
          </a:prstGeom>
          <a:noFill/>
          <a:ln/>
        </p:spPr>
        <p:txBody>
          <a:bodyPr wrap="square" lIns="0" tIns="0" rIns="0" bIns="0" rtlCol="0" anchor="ctr"/>
          <a:lstStyle/>
          <a:p>
            <a:pPr marL="0" indent="0">
              <a:buNone/>
            </a:pPr>
            <a:r>
              <a:rPr lang="en-US" sz="1200" b="1" dirty="0">
                <a:solidFill>
                  <a:srgbClr val="1E2233"/>
                </a:solidFill>
                <a:latin typeface="Cambria" pitchFamily="34" charset="0"/>
                <a:ea typeface="Cambria" pitchFamily="34" charset="-122"/>
                <a:cs typeface="Cambria" pitchFamily="34" charset="-120"/>
              </a:rPr>
              <a:t>kpi_incidents_qualite</a:t>
            </a:r>
            <a:endParaRPr lang="en-US" sz="1200" dirty="0"/>
          </a:p>
        </p:txBody>
      </p:sp>
      <p:sp>
        <p:nvSpPr>
          <p:cNvPr id="23" name="Text 17"/>
          <p:cNvSpPr/>
          <p:nvPr/>
        </p:nvSpPr>
        <p:spPr>
          <a:xfrm>
            <a:off x="9308592" y="2807208"/>
            <a:ext cx="2267712" cy="594360"/>
          </a:xfrm>
          <a:prstGeom prst="rect">
            <a:avLst/>
          </a:prstGeom>
          <a:noFill/>
          <a:ln/>
        </p:spPr>
        <p:txBody>
          <a:bodyPr wrap="square" lIns="0" tIns="0" rIns="0" bIns="0" rtlCol="0" anchor="ctr"/>
          <a:lstStyle/>
          <a:p>
            <a:pPr marL="0" indent="0">
              <a:lnSpc>
                <a:spcPct val="110000"/>
              </a:lnSpc>
              <a:buNone/>
            </a:pPr>
            <a:r>
              <a:rPr lang="en-US" sz="950" dirty="0">
                <a:solidFill>
                  <a:srgbClr val="6B7080"/>
                </a:solidFill>
                <a:latin typeface="Calibri" pitchFamily="34" charset="0"/>
                <a:ea typeface="Calibri" pitchFamily="34" charset="-122"/>
                <a:cs typeface="Calibri" pitchFamily="34" charset="-120"/>
              </a:rPr>
              <a:t>Anomalies et pannes réseau par zone</a:t>
            </a:r>
            <a:endParaRPr lang="en-US" sz="950" dirty="0"/>
          </a:p>
        </p:txBody>
      </p:sp>
      <p:sp>
        <p:nvSpPr>
          <p:cNvPr id="24" name="Shape 18"/>
          <p:cNvSpPr/>
          <p:nvPr/>
        </p:nvSpPr>
        <p:spPr>
          <a:xfrm>
            <a:off x="548640" y="3703320"/>
            <a:ext cx="2670048" cy="1965960"/>
          </a:xfrm>
          <a:prstGeom prst="roundRect">
            <a:avLst>
              <a:gd name="adj" fmla="val 3721"/>
            </a:avLst>
          </a:prstGeom>
          <a:solidFill>
            <a:srgbClr val="EEF0FA"/>
          </a:solidFill>
          <a:ln/>
          <a:effectLst>
            <a:outerShdw blurRad="127000" dist="38100" dir="5400000" algn="bl" rotWithShape="0">
              <a:srgbClr val="1A237E">
                <a:alpha val="14000"/>
              </a:srgbClr>
            </a:outerShdw>
          </a:effectLst>
        </p:spPr>
      </p:sp>
      <p:sp>
        <p:nvSpPr>
          <p:cNvPr id="25" name="Shape 19"/>
          <p:cNvSpPr/>
          <p:nvPr/>
        </p:nvSpPr>
        <p:spPr>
          <a:xfrm>
            <a:off x="749808" y="3904488"/>
            <a:ext cx="502920" cy="502920"/>
          </a:xfrm>
          <a:prstGeom prst="ellipse">
            <a:avLst/>
          </a:prstGeom>
          <a:solidFill>
            <a:srgbClr val="1A237E"/>
          </a:solidFill>
          <a:ln/>
        </p:spPr>
      </p:sp>
      <p:pic>
        <p:nvPicPr>
          <p:cNvPr id="26" name="Image 4" descr="preencoded.png"/>
          <p:cNvPicPr>
            <a:picLocks noChangeAspect="1"/>
          </p:cNvPicPr>
          <p:nvPr/>
        </p:nvPicPr>
        <p:blipFill>
          <a:blip r:embed="rId7"/>
          <a:stretch>
            <a:fillRect/>
          </a:stretch>
        </p:blipFill>
        <p:spPr>
          <a:xfrm>
            <a:off x="810158" y="3964838"/>
            <a:ext cx="382219" cy="382219"/>
          </a:xfrm>
          <a:prstGeom prst="rect">
            <a:avLst/>
          </a:prstGeom>
        </p:spPr>
      </p:pic>
      <p:sp>
        <p:nvSpPr>
          <p:cNvPr id="27" name="Text 20"/>
          <p:cNvSpPr/>
          <p:nvPr/>
        </p:nvSpPr>
        <p:spPr>
          <a:xfrm>
            <a:off x="749808" y="4526280"/>
            <a:ext cx="2267712" cy="502920"/>
          </a:xfrm>
          <a:prstGeom prst="rect">
            <a:avLst/>
          </a:prstGeom>
          <a:noFill/>
          <a:ln/>
        </p:spPr>
        <p:txBody>
          <a:bodyPr wrap="square" lIns="0" tIns="0" rIns="0" bIns="0" rtlCol="0" anchor="ctr"/>
          <a:lstStyle/>
          <a:p>
            <a:pPr marL="0" indent="0">
              <a:buNone/>
            </a:pPr>
            <a:r>
              <a:rPr lang="en-US" sz="1200" b="1" dirty="0">
                <a:solidFill>
                  <a:srgbClr val="1E2233"/>
                </a:solidFill>
                <a:latin typeface="Cambria" pitchFamily="34" charset="0"/>
                <a:ea typeface="Cambria" pitchFamily="34" charset="-122"/>
                <a:cs typeface="Cambria" pitchFamily="34" charset="-120"/>
              </a:rPr>
              <a:t>kpi_duree_appels</a:t>
            </a:r>
            <a:endParaRPr lang="en-US" sz="1200" dirty="0"/>
          </a:p>
        </p:txBody>
      </p:sp>
      <p:sp>
        <p:nvSpPr>
          <p:cNvPr id="28" name="Text 21"/>
          <p:cNvSpPr/>
          <p:nvPr/>
        </p:nvSpPr>
        <p:spPr>
          <a:xfrm>
            <a:off x="749808" y="5001768"/>
            <a:ext cx="2267712" cy="594360"/>
          </a:xfrm>
          <a:prstGeom prst="rect">
            <a:avLst/>
          </a:prstGeom>
          <a:noFill/>
          <a:ln/>
        </p:spPr>
        <p:txBody>
          <a:bodyPr wrap="square" lIns="0" tIns="0" rIns="0" bIns="0" rtlCol="0" anchor="ctr"/>
          <a:lstStyle/>
          <a:p>
            <a:pPr marL="0" indent="0">
              <a:lnSpc>
                <a:spcPct val="110000"/>
              </a:lnSpc>
              <a:buNone/>
            </a:pPr>
            <a:r>
              <a:rPr lang="en-US" sz="950" dirty="0">
                <a:solidFill>
                  <a:srgbClr val="6B7080"/>
                </a:solidFill>
                <a:latin typeface="Calibri" pitchFamily="34" charset="0"/>
                <a:ea typeface="Calibri" pitchFamily="34" charset="-122"/>
                <a:cs typeface="Calibri" pitchFamily="34" charset="-120"/>
              </a:rPr>
              <a:t>Trafic voix et taux d'échec par réseau</a:t>
            </a:r>
            <a:endParaRPr lang="en-US" sz="950" dirty="0"/>
          </a:p>
        </p:txBody>
      </p:sp>
      <p:sp>
        <p:nvSpPr>
          <p:cNvPr id="29" name="Shape 22"/>
          <p:cNvSpPr/>
          <p:nvPr/>
        </p:nvSpPr>
        <p:spPr>
          <a:xfrm>
            <a:off x="3401568" y="3703320"/>
            <a:ext cx="2670048" cy="1965960"/>
          </a:xfrm>
          <a:prstGeom prst="roundRect">
            <a:avLst>
              <a:gd name="adj" fmla="val 3721"/>
            </a:avLst>
          </a:prstGeom>
          <a:solidFill>
            <a:srgbClr val="EEF0FA"/>
          </a:solidFill>
          <a:ln/>
          <a:effectLst>
            <a:outerShdw blurRad="127000" dist="38100" dir="5400000" algn="bl" rotWithShape="0">
              <a:srgbClr val="1A237E">
                <a:alpha val="14000"/>
              </a:srgbClr>
            </a:outerShdw>
          </a:effectLst>
        </p:spPr>
      </p:sp>
      <p:sp>
        <p:nvSpPr>
          <p:cNvPr id="30" name="Shape 23"/>
          <p:cNvSpPr/>
          <p:nvPr/>
        </p:nvSpPr>
        <p:spPr>
          <a:xfrm>
            <a:off x="3602736" y="3904488"/>
            <a:ext cx="502920" cy="502920"/>
          </a:xfrm>
          <a:prstGeom prst="ellipse">
            <a:avLst/>
          </a:prstGeom>
          <a:solidFill>
            <a:srgbClr val="1A237E"/>
          </a:solidFill>
          <a:ln/>
        </p:spPr>
      </p:sp>
      <p:pic>
        <p:nvPicPr>
          <p:cNvPr id="31" name="Image 5" descr="preencoded.png"/>
          <p:cNvPicPr>
            <a:picLocks noChangeAspect="1"/>
          </p:cNvPicPr>
          <p:nvPr/>
        </p:nvPicPr>
        <p:blipFill>
          <a:blip r:embed="rId8"/>
          <a:stretch>
            <a:fillRect/>
          </a:stretch>
        </p:blipFill>
        <p:spPr>
          <a:xfrm>
            <a:off x="3663086" y="3964838"/>
            <a:ext cx="382219" cy="382219"/>
          </a:xfrm>
          <a:prstGeom prst="rect">
            <a:avLst/>
          </a:prstGeom>
        </p:spPr>
      </p:pic>
      <p:sp>
        <p:nvSpPr>
          <p:cNvPr id="32" name="Text 24"/>
          <p:cNvSpPr/>
          <p:nvPr/>
        </p:nvSpPr>
        <p:spPr>
          <a:xfrm>
            <a:off x="3602736" y="4526280"/>
            <a:ext cx="2267712" cy="502920"/>
          </a:xfrm>
          <a:prstGeom prst="rect">
            <a:avLst/>
          </a:prstGeom>
          <a:noFill/>
          <a:ln/>
        </p:spPr>
        <p:txBody>
          <a:bodyPr wrap="square" lIns="0" tIns="0" rIns="0" bIns="0" rtlCol="0" anchor="ctr"/>
          <a:lstStyle/>
          <a:p>
            <a:pPr marL="0" indent="0">
              <a:buNone/>
            </a:pPr>
            <a:r>
              <a:rPr lang="en-US" sz="1200" b="1" dirty="0">
                <a:solidFill>
                  <a:srgbClr val="1E2233"/>
                </a:solidFill>
                <a:latin typeface="Cambria" pitchFamily="34" charset="0"/>
                <a:ea typeface="Cambria" pitchFamily="34" charset="-122"/>
                <a:cs typeface="Cambria" pitchFamily="34" charset="-120"/>
              </a:rPr>
              <a:t>kpi_retention_par_offre</a:t>
            </a:r>
            <a:endParaRPr lang="en-US" sz="1200" dirty="0"/>
          </a:p>
        </p:txBody>
      </p:sp>
      <p:sp>
        <p:nvSpPr>
          <p:cNvPr id="33" name="Text 25"/>
          <p:cNvSpPr/>
          <p:nvPr/>
        </p:nvSpPr>
        <p:spPr>
          <a:xfrm>
            <a:off x="3602736" y="5001768"/>
            <a:ext cx="2267712" cy="594360"/>
          </a:xfrm>
          <a:prstGeom prst="rect">
            <a:avLst/>
          </a:prstGeom>
          <a:noFill/>
          <a:ln/>
        </p:spPr>
        <p:txBody>
          <a:bodyPr wrap="square" lIns="0" tIns="0" rIns="0" bIns="0" rtlCol="0" anchor="ctr"/>
          <a:lstStyle/>
          <a:p>
            <a:pPr marL="0" indent="0">
              <a:lnSpc>
                <a:spcPct val="110000"/>
              </a:lnSpc>
              <a:buNone/>
            </a:pPr>
            <a:r>
              <a:rPr lang="en-US" sz="950" dirty="0">
                <a:solidFill>
                  <a:srgbClr val="6B7080"/>
                </a:solidFill>
                <a:latin typeface="Calibri" pitchFamily="34" charset="0"/>
                <a:ea typeface="Calibri" pitchFamily="34" charset="-122"/>
                <a:cs typeface="Calibri" pitchFamily="34" charset="-120"/>
              </a:rPr>
              <a:t>Fidélité des abonnés par contrat</a:t>
            </a:r>
            <a:endParaRPr lang="en-US" sz="950" dirty="0"/>
          </a:p>
        </p:txBody>
      </p:sp>
      <p:sp>
        <p:nvSpPr>
          <p:cNvPr id="34" name="Shape 26"/>
          <p:cNvSpPr/>
          <p:nvPr/>
        </p:nvSpPr>
        <p:spPr>
          <a:xfrm>
            <a:off x="6254496" y="3703320"/>
            <a:ext cx="2670048" cy="1965960"/>
          </a:xfrm>
          <a:prstGeom prst="roundRect">
            <a:avLst>
              <a:gd name="adj" fmla="val 3721"/>
            </a:avLst>
          </a:prstGeom>
          <a:solidFill>
            <a:srgbClr val="EEF0FA"/>
          </a:solidFill>
          <a:ln/>
          <a:effectLst>
            <a:outerShdw blurRad="127000" dist="38100" dir="5400000" algn="bl" rotWithShape="0">
              <a:srgbClr val="1A237E">
                <a:alpha val="14000"/>
              </a:srgbClr>
            </a:outerShdw>
          </a:effectLst>
        </p:spPr>
      </p:sp>
      <p:sp>
        <p:nvSpPr>
          <p:cNvPr id="35" name="Shape 27"/>
          <p:cNvSpPr/>
          <p:nvPr/>
        </p:nvSpPr>
        <p:spPr>
          <a:xfrm>
            <a:off x="6455664" y="3904488"/>
            <a:ext cx="502920" cy="502920"/>
          </a:xfrm>
          <a:prstGeom prst="ellipse">
            <a:avLst/>
          </a:prstGeom>
          <a:solidFill>
            <a:srgbClr val="1A237E"/>
          </a:solidFill>
          <a:ln/>
        </p:spPr>
      </p:sp>
      <p:pic>
        <p:nvPicPr>
          <p:cNvPr id="36" name="Image 6" descr="preencoded.png"/>
          <p:cNvPicPr>
            <a:picLocks noChangeAspect="1"/>
          </p:cNvPicPr>
          <p:nvPr/>
        </p:nvPicPr>
        <p:blipFill>
          <a:blip r:embed="rId9"/>
          <a:stretch>
            <a:fillRect/>
          </a:stretch>
        </p:blipFill>
        <p:spPr>
          <a:xfrm>
            <a:off x="6516014" y="3964838"/>
            <a:ext cx="382219" cy="382219"/>
          </a:xfrm>
          <a:prstGeom prst="rect">
            <a:avLst/>
          </a:prstGeom>
        </p:spPr>
      </p:pic>
      <p:sp>
        <p:nvSpPr>
          <p:cNvPr id="37" name="Text 28"/>
          <p:cNvSpPr/>
          <p:nvPr/>
        </p:nvSpPr>
        <p:spPr>
          <a:xfrm>
            <a:off x="6455664" y="4526280"/>
            <a:ext cx="2267712" cy="502920"/>
          </a:xfrm>
          <a:prstGeom prst="rect">
            <a:avLst/>
          </a:prstGeom>
          <a:noFill/>
          <a:ln/>
        </p:spPr>
        <p:txBody>
          <a:bodyPr wrap="square" lIns="0" tIns="0" rIns="0" bIns="0" rtlCol="0" anchor="ctr"/>
          <a:lstStyle/>
          <a:p>
            <a:pPr marL="0" indent="0">
              <a:buNone/>
            </a:pPr>
            <a:r>
              <a:rPr lang="en-US" sz="1200" b="1" dirty="0">
                <a:solidFill>
                  <a:srgbClr val="1E2233"/>
                </a:solidFill>
                <a:latin typeface="Cambria" pitchFamily="34" charset="0"/>
                <a:ea typeface="Cambria" pitchFamily="34" charset="-122"/>
                <a:cs typeface="Cambria" pitchFamily="34" charset="-120"/>
              </a:rPr>
              <a:t>kpi_data_par_region</a:t>
            </a:r>
            <a:endParaRPr lang="en-US" sz="1200" dirty="0"/>
          </a:p>
        </p:txBody>
      </p:sp>
      <p:sp>
        <p:nvSpPr>
          <p:cNvPr id="38" name="Text 29"/>
          <p:cNvSpPr/>
          <p:nvPr/>
        </p:nvSpPr>
        <p:spPr>
          <a:xfrm>
            <a:off x="6455664" y="5001768"/>
            <a:ext cx="2267712" cy="594360"/>
          </a:xfrm>
          <a:prstGeom prst="rect">
            <a:avLst/>
          </a:prstGeom>
          <a:noFill/>
          <a:ln/>
        </p:spPr>
        <p:txBody>
          <a:bodyPr wrap="square" lIns="0" tIns="0" rIns="0" bIns="0" rtlCol="0" anchor="ctr"/>
          <a:lstStyle/>
          <a:p>
            <a:pPr marL="0" indent="0">
              <a:lnSpc>
                <a:spcPct val="110000"/>
              </a:lnSpc>
              <a:buNone/>
            </a:pPr>
            <a:r>
              <a:rPr lang="en-US" sz="950" dirty="0">
                <a:solidFill>
                  <a:srgbClr val="6B7080"/>
                </a:solidFill>
                <a:latin typeface="Calibri" pitchFamily="34" charset="0"/>
                <a:ea typeface="Calibri" pitchFamily="34" charset="-122"/>
                <a:cs typeface="Calibri" pitchFamily="34" charset="-120"/>
              </a:rPr>
              <a:t>Consommation internet et revenus data</a:t>
            </a:r>
            <a:endParaRPr lang="en-US" sz="950" dirty="0"/>
          </a:p>
        </p:txBody>
      </p:sp>
      <p:sp>
        <p:nvSpPr>
          <p:cNvPr id="39" name="Shape 30"/>
          <p:cNvSpPr/>
          <p:nvPr/>
        </p:nvSpPr>
        <p:spPr>
          <a:xfrm>
            <a:off x="9107424" y="3703320"/>
            <a:ext cx="2670048" cy="1965960"/>
          </a:xfrm>
          <a:prstGeom prst="roundRect">
            <a:avLst>
              <a:gd name="adj" fmla="val 3721"/>
            </a:avLst>
          </a:prstGeom>
          <a:solidFill>
            <a:srgbClr val="1A237E"/>
          </a:solidFill>
          <a:ln/>
        </p:spPr>
      </p:sp>
      <p:sp>
        <p:nvSpPr>
          <p:cNvPr id="40" name="Text 31"/>
          <p:cNvSpPr/>
          <p:nvPr/>
        </p:nvSpPr>
        <p:spPr>
          <a:xfrm>
            <a:off x="9290304" y="3886200"/>
            <a:ext cx="2304288" cy="365760"/>
          </a:xfrm>
          <a:prstGeom prst="rect">
            <a:avLst/>
          </a:prstGeom>
          <a:noFill/>
          <a:ln/>
        </p:spPr>
        <p:txBody>
          <a:bodyPr wrap="square" lIns="0" tIns="0" rIns="0" bIns="0" rtlCol="0" anchor="ctr"/>
          <a:lstStyle/>
          <a:p>
            <a:pPr marL="0" indent="0">
              <a:buNone/>
            </a:pPr>
            <a:r>
              <a:rPr lang="en-US" sz="1100" b="1" dirty="0">
                <a:solidFill>
                  <a:srgbClr val="F9A825"/>
                </a:solidFill>
                <a:latin typeface="Calibri" pitchFamily="34" charset="0"/>
                <a:ea typeface="Calibri" pitchFamily="34" charset="-122"/>
                <a:cs typeface="Calibri" pitchFamily="34" charset="-120"/>
              </a:rPr>
              <a:t>Contrainte pédagogique :</a:t>
            </a:r>
            <a:endParaRPr lang="en-US" sz="1100" dirty="0"/>
          </a:p>
        </p:txBody>
      </p:sp>
      <p:sp>
        <p:nvSpPr>
          <p:cNvPr id="41" name="Text 32"/>
          <p:cNvSpPr/>
          <p:nvPr/>
        </p:nvSpPr>
        <p:spPr>
          <a:xfrm>
            <a:off x="9290304" y="4270248"/>
            <a:ext cx="2304288" cy="1280160"/>
          </a:xfrm>
          <a:prstGeom prst="rect">
            <a:avLst/>
          </a:prstGeom>
          <a:noFill/>
          <a:ln/>
        </p:spPr>
        <p:txBody>
          <a:bodyPr wrap="square" lIns="0" tIns="0" rIns="0" bIns="0" rtlCol="0" anchor="ctr"/>
          <a:lstStyle/>
          <a:p>
            <a:pPr marL="0" indent="0">
              <a:lnSpc>
                <a:spcPct val="120000"/>
              </a:lnSpc>
              <a:buNone/>
            </a:pPr>
            <a:r>
              <a:rPr lang="en-US" sz="1050" dirty="0">
                <a:solidFill>
                  <a:srgbClr val="E4E7FA"/>
                </a:solidFill>
                <a:latin typeface="Calibri" pitchFamily="34" charset="0"/>
                <a:ea typeface="Calibri" pitchFamily="34" charset="-122"/>
                <a:cs typeface="Calibri" pitchFamily="34" charset="-120"/>
              </a:rPr>
              <a:t>maximum de 7 indicateurs décisionnels, physiquement matérialisés en tables indexées.</a:t>
            </a:r>
            <a:endParaRPr lang="en-US" sz="1050" dirty="0"/>
          </a:p>
        </p:txBody>
      </p:sp>
      <p:sp>
        <p:nvSpPr>
          <p:cNvPr id="42" name="Text 33"/>
          <p:cNvSpPr/>
          <p:nvPr/>
        </p:nvSpPr>
        <p:spPr>
          <a:xfrm>
            <a:off x="457200" y="6473952"/>
            <a:ext cx="7315200" cy="274320"/>
          </a:xfrm>
          <a:prstGeom prst="rect">
            <a:avLst/>
          </a:prstGeom>
          <a:noFill/>
          <a:ln/>
        </p:spPr>
        <p:txBody>
          <a:bodyPr wrap="square" lIns="0" tIns="0" rIns="0" bIns="0" rtlCol="0" anchor="ctr"/>
          <a:lstStyle/>
          <a:p>
            <a:pPr marL="0" indent="0" algn="l">
              <a:buNone/>
            </a:pPr>
            <a:r>
              <a:rPr lang="en-US" sz="900" dirty="0">
                <a:solidFill>
                  <a:srgbClr val="6B7080"/>
                </a:solidFill>
                <a:latin typeface="Calibri" pitchFamily="34" charset="0"/>
                <a:ea typeface="Calibri" pitchFamily="34" charset="-122"/>
                <a:cs typeface="Calibri" pitchFamily="34" charset="-120"/>
              </a:rPr>
              <a:t>Sahel Telecom - Documentation technique EDW</a:t>
            </a:r>
            <a:endParaRPr lang="en-US" sz="900" dirty="0"/>
          </a:p>
        </p:txBody>
      </p:sp>
      <p:sp>
        <p:nvSpPr>
          <p:cNvPr id="43" name="Text 34"/>
          <p:cNvSpPr/>
          <p:nvPr/>
        </p:nvSpPr>
        <p:spPr>
          <a:xfrm>
            <a:off x="11247120" y="6473952"/>
            <a:ext cx="457200" cy="274320"/>
          </a:xfrm>
          <a:prstGeom prst="rect">
            <a:avLst/>
          </a:prstGeom>
          <a:noFill/>
          <a:ln/>
        </p:spPr>
        <p:txBody>
          <a:bodyPr wrap="square" lIns="0" tIns="0" rIns="0" bIns="0" rtlCol="0" anchor="ctr"/>
          <a:lstStyle/>
          <a:p>
            <a:pPr marL="0" indent="0" algn="r">
              <a:buNone/>
            </a:pPr>
            <a:r>
              <a:rPr lang="en-US" sz="900" dirty="0">
                <a:solidFill>
                  <a:srgbClr val="6B7080"/>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A237E"/>
        </a:solidFill>
        <a:effectLst/>
      </p:bgPr>
    </p:bg>
    <p:spTree>
      <p:nvGrpSpPr>
        <p:cNvPr id="1" name=""/>
        <p:cNvGrpSpPr/>
        <p:nvPr/>
      </p:nvGrpSpPr>
      <p:grpSpPr>
        <a:xfrm>
          <a:off x="0" y="0"/>
          <a:ext cx="0" cy="0"/>
          <a:chOff x="0" y="0"/>
          <a:chExt cx="0" cy="0"/>
        </a:xfrm>
      </p:grpSpPr>
      <p:sp>
        <p:nvSpPr>
          <p:cNvPr id="2" name="Text 0"/>
          <p:cNvSpPr/>
          <p:nvPr/>
        </p:nvSpPr>
        <p:spPr>
          <a:xfrm>
            <a:off x="548640" y="457200"/>
            <a:ext cx="9144000" cy="274320"/>
          </a:xfrm>
          <a:prstGeom prst="rect">
            <a:avLst/>
          </a:prstGeom>
          <a:noFill/>
          <a:ln/>
        </p:spPr>
        <p:txBody>
          <a:bodyPr wrap="square" lIns="0" tIns="0" rIns="0" bIns="0" rtlCol="0" anchor="ctr"/>
          <a:lstStyle/>
          <a:p>
            <a:pPr marL="0" indent="0">
              <a:buNone/>
            </a:pPr>
            <a:r>
              <a:rPr lang="en-US" sz="1200" b="1" kern="0" spc="200" dirty="0">
                <a:solidFill>
                  <a:srgbClr val="AEB6E8"/>
                </a:solidFill>
                <a:latin typeface="Calibri" pitchFamily="34" charset="0"/>
                <a:ea typeface="Calibri" pitchFamily="34" charset="-122"/>
                <a:cs typeface="Calibri" pitchFamily="34" charset="-120"/>
              </a:rPr>
              <a:t>PERFORMANCE</a:t>
            </a:r>
            <a:endParaRPr lang="en-US" sz="1200" dirty="0"/>
          </a:p>
        </p:txBody>
      </p:sp>
      <p:sp>
        <p:nvSpPr>
          <p:cNvPr id="3" name="Text 1"/>
          <p:cNvSpPr/>
          <p:nvPr/>
        </p:nvSpPr>
        <p:spPr>
          <a:xfrm>
            <a:off x="548640" y="731520"/>
            <a:ext cx="11064240" cy="640080"/>
          </a:xfrm>
          <a:prstGeom prst="rect">
            <a:avLst/>
          </a:prstGeom>
          <a:noFill/>
          <a:ln/>
        </p:spPr>
        <p:txBody>
          <a:bodyPr wrap="square" lIns="0" tIns="0" rIns="0" bIns="0" rtlCol="0" anchor="ctr"/>
          <a:lstStyle/>
          <a:p>
            <a:pPr marL="0" indent="0">
              <a:buNone/>
            </a:pPr>
            <a:r>
              <a:rPr lang="en-US" sz="2700" b="1" dirty="0">
                <a:solidFill>
                  <a:srgbClr val="FFFFFF"/>
                </a:solidFill>
                <a:latin typeface="Cambria" pitchFamily="34" charset="0"/>
                <a:ea typeface="Cambria" pitchFamily="34" charset="-122"/>
                <a:cs typeface="Cambria" pitchFamily="34" charset="-120"/>
              </a:rPr>
              <a:t>Matérialisation des KPI : un gain de performance décisif</a:t>
            </a:r>
            <a:endParaRPr lang="en-US" sz="2700" dirty="0"/>
          </a:p>
        </p:txBody>
      </p:sp>
      <p:sp>
        <p:nvSpPr>
          <p:cNvPr id="4" name="Text 2"/>
          <p:cNvSpPr/>
          <p:nvPr/>
        </p:nvSpPr>
        <p:spPr>
          <a:xfrm>
            <a:off x="548640" y="1508760"/>
            <a:ext cx="11064240" cy="685800"/>
          </a:xfrm>
          <a:prstGeom prst="rect">
            <a:avLst/>
          </a:prstGeom>
          <a:noFill/>
          <a:ln/>
        </p:spPr>
        <p:txBody>
          <a:bodyPr wrap="square" lIns="0" tIns="0" rIns="0" bIns="0" rtlCol="0" anchor="ctr"/>
          <a:lstStyle/>
          <a:p>
            <a:pPr marL="0" indent="0">
              <a:lnSpc>
                <a:spcPct val="125000"/>
              </a:lnSpc>
              <a:buNone/>
            </a:pPr>
            <a:r>
              <a:rPr lang="en-US" sz="1300" dirty="0">
                <a:solidFill>
                  <a:srgbClr val="C7CCF0"/>
                </a:solidFill>
                <a:latin typeface="Calibri" pitchFamily="34" charset="0"/>
                <a:ea typeface="Calibri" pitchFamily="34" charset="-122"/>
                <a:cs typeface="Calibri" pitchFamily="34" charset="-120"/>
              </a:rPr>
              <a:t>Dans les architectures décisionnelles professionnelles, le tableau de bord ne doit pas exécuter d'agrégations en direct sur des millions de lignes. Le script refresh_kpis.py matérialise les 7 vues SQL en tables physiques indexées à la fin de l'ETL.</a:t>
            </a:r>
            <a:endParaRPr lang="en-US" sz="1300" dirty="0"/>
          </a:p>
        </p:txBody>
      </p:sp>
      <p:sp>
        <p:nvSpPr>
          <p:cNvPr id="5" name="Shape 3"/>
          <p:cNvSpPr/>
          <p:nvPr/>
        </p:nvSpPr>
        <p:spPr>
          <a:xfrm>
            <a:off x="822960" y="2606040"/>
            <a:ext cx="4937760" cy="3017520"/>
          </a:xfrm>
          <a:prstGeom prst="roundRect">
            <a:avLst>
              <a:gd name="adj" fmla="val 2727"/>
            </a:avLst>
          </a:prstGeom>
          <a:solidFill>
            <a:srgbClr val="232B6E"/>
          </a:solidFill>
          <a:ln/>
        </p:spPr>
      </p:sp>
      <p:sp>
        <p:nvSpPr>
          <p:cNvPr id="6" name="Text 4"/>
          <p:cNvSpPr/>
          <p:nvPr/>
        </p:nvSpPr>
        <p:spPr>
          <a:xfrm>
            <a:off x="1097280" y="2788920"/>
            <a:ext cx="4389120" cy="320040"/>
          </a:xfrm>
          <a:prstGeom prst="rect">
            <a:avLst/>
          </a:prstGeom>
          <a:noFill/>
          <a:ln/>
        </p:spPr>
        <p:txBody>
          <a:bodyPr wrap="square" lIns="0" tIns="0" rIns="0" bIns="0" rtlCol="0" anchor="ctr"/>
          <a:lstStyle/>
          <a:p>
            <a:pPr marL="0" indent="0">
              <a:buNone/>
            </a:pPr>
            <a:r>
              <a:rPr lang="en-US" sz="1200" b="1" kern="0" spc="150" dirty="0">
                <a:solidFill>
                  <a:srgbClr val="E53935"/>
                </a:solidFill>
                <a:latin typeface="Calibri" pitchFamily="34" charset="0"/>
                <a:ea typeface="Calibri" pitchFamily="34" charset="-122"/>
                <a:cs typeface="Calibri" pitchFamily="34" charset="-120"/>
              </a:rPr>
              <a:t>AVANT</a:t>
            </a:r>
            <a:endParaRPr lang="en-US" sz="1200" dirty="0"/>
          </a:p>
        </p:txBody>
      </p:sp>
      <p:sp>
        <p:nvSpPr>
          <p:cNvPr id="7" name="Text 5"/>
          <p:cNvSpPr/>
          <p:nvPr/>
        </p:nvSpPr>
        <p:spPr>
          <a:xfrm>
            <a:off x="1097280" y="3108960"/>
            <a:ext cx="4389120" cy="914400"/>
          </a:xfrm>
          <a:prstGeom prst="rect">
            <a:avLst/>
          </a:prstGeom>
          <a:noFill/>
          <a:ln/>
        </p:spPr>
        <p:txBody>
          <a:bodyPr wrap="square" lIns="0" tIns="0" rIns="0" bIns="0" rtlCol="0" anchor="ctr"/>
          <a:lstStyle/>
          <a:p>
            <a:pPr marL="0" indent="0">
              <a:buNone/>
            </a:pPr>
            <a:r>
              <a:rPr lang="en-US" sz="4600" b="1" dirty="0">
                <a:solidFill>
                  <a:srgbClr val="FFFFFF"/>
                </a:solidFill>
                <a:latin typeface="Cambria" pitchFamily="34" charset="0"/>
                <a:ea typeface="Cambria" pitchFamily="34" charset="-122"/>
                <a:cs typeface="Cambria" pitchFamily="34" charset="-120"/>
              </a:rPr>
              <a:t>10 minutes</a:t>
            </a:r>
            <a:endParaRPr lang="en-US" sz="4600" dirty="0"/>
          </a:p>
        </p:txBody>
      </p:sp>
      <p:sp>
        <p:nvSpPr>
          <p:cNvPr id="8" name="Text 6"/>
          <p:cNvSpPr/>
          <p:nvPr/>
        </p:nvSpPr>
        <p:spPr>
          <a:xfrm>
            <a:off x="1097280" y="4114800"/>
            <a:ext cx="4206240" cy="1280160"/>
          </a:xfrm>
          <a:prstGeom prst="rect">
            <a:avLst/>
          </a:prstGeom>
          <a:noFill/>
          <a:ln/>
        </p:spPr>
        <p:txBody>
          <a:bodyPr wrap="square" lIns="0" tIns="0" rIns="0" bIns="0" rtlCol="0" anchor="ctr"/>
          <a:lstStyle/>
          <a:p>
            <a:pPr marL="0" indent="0">
              <a:lnSpc>
                <a:spcPct val="125000"/>
              </a:lnSpc>
              <a:buNone/>
            </a:pPr>
            <a:r>
              <a:rPr lang="en-US" sz="1250" dirty="0">
                <a:solidFill>
                  <a:srgbClr val="C7CCF0"/>
                </a:solidFill>
                <a:latin typeface="Calibri" pitchFamily="34" charset="0"/>
                <a:ea typeface="Calibri" pitchFamily="34" charset="-122"/>
                <a:cs typeface="Calibri" pitchFamily="34" charset="-120"/>
              </a:rPr>
              <a:t>Requêtes d'agrégation exécutées en direct sur des millions de lignes brutes.</a:t>
            </a:r>
            <a:endParaRPr lang="en-US" sz="1250" dirty="0"/>
          </a:p>
        </p:txBody>
      </p:sp>
      <p:sp>
        <p:nvSpPr>
          <p:cNvPr id="9" name="Shape 7"/>
          <p:cNvSpPr/>
          <p:nvPr/>
        </p:nvSpPr>
        <p:spPr>
          <a:xfrm>
            <a:off x="5989320" y="3840480"/>
            <a:ext cx="457200" cy="457200"/>
          </a:xfrm>
          <a:prstGeom prst="ellipse">
            <a:avLst/>
          </a:prstGeom>
          <a:solidFill>
            <a:srgbClr val="F9A825"/>
          </a:solidFill>
          <a:ln/>
        </p:spPr>
      </p:sp>
      <p:sp>
        <p:nvSpPr>
          <p:cNvPr id="10" name="Shape 8"/>
          <p:cNvSpPr/>
          <p:nvPr/>
        </p:nvSpPr>
        <p:spPr>
          <a:xfrm>
            <a:off x="6400800" y="2606040"/>
            <a:ext cx="4937760" cy="3017520"/>
          </a:xfrm>
          <a:prstGeom prst="roundRect">
            <a:avLst>
              <a:gd name="adj" fmla="val 2727"/>
            </a:avLst>
          </a:prstGeom>
          <a:solidFill>
            <a:srgbClr val="FFFFFF"/>
          </a:solidFill>
          <a:ln/>
          <a:effectLst>
            <a:outerShdw blurRad="127000" dist="38100" dir="5400000" algn="bl" rotWithShape="0">
              <a:srgbClr val="1A237E">
                <a:alpha val="14000"/>
              </a:srgbClr>
            </a:outerShdw>
          </a:effectLst>
        </p:spPr>
      </p:sp>
      <p:sp>
        <p:nvSpPr>
          <p:cNvPr id="11" name="Text 9"/>
          <p:cNvSpPr/>
          <p:nvPr/>
        </p:nvSpPr>
        <p:spPr>
          <a:xfrm>
            <a:off x="6675120" y="2788920"/>
            <a:ext cx="4389120" cy="320040"/>
          </a:xfrm>
          <a:prstGeom prst="rect">
            <a:avLst/>
          </a:prstGeom>
          <a:noFill/>
          <a:ln/>
        </p:spPr>
        <p:txBody>
          <a:bodyPr wrap="square" lIns="0" tIns="0" rIns="0" bIns="0" rtlCol="0" anchor="ctr"/>
          <a:lstStyle/>
          <a:p>
            <a:pPr marL="0" indent="0">
              <a:buNone/>
            </a:pPr>
            <a:r>
              <a:rPr lang="en-US" sz="1200" b="1" kern="0" spc="150" dirty="0">
                <a:solidFill>
                  <a:srgbClr val="2E7D32"/>
                </a:solidFill>
                <a:latin typeface="Calibri" pitchFamily="34" charset="0"/>
                <a:ea typeface="Calibri" pitchFamily="34" charset="-122"/>
                <a:cs typeface="Calibri" pitchFamily="34" charset="-120"/>
              </a:rPr>
              <a:t>APRÈS</a:t>
            </a:r>
            <a:endParaRPr lang="en-US" sz="1200" dirty="0"/>
          </a:p>
        </p:txBody>
      </p:sp>
      <p:sp>
        <p:nvSpPr>
          <p:cNvPr id="12" name="Text 10"/>
          <p:cNvSpPr/>
          <p:nvPr/>
        </p:nvSpPr>
        <p:spPr>
          <a:xfrm>
            <a:off x="6675120" y="3108960"/>
            <a:ext cx="4389120" cy="914400"/>
          </a:xfrm>
          <a:prstGeom prst="rect">
            <a:avLst/>
          </a:prstGeom>
          <a:noFill/>
          <a:ln/>
        </p:spPr>
        <p:txBody>
          <a:bodyPr wrap="square" lIns="0" tIns="0" rIns="0" bIns="0" rtlCol="0" anchor="ctr"/>
          <a:lstStyle/>
          <a:p>
            <a:pPr marL="0" indent="0">
              <a:buNone/>
            </a:pPr>
            <a:r>
              <a:rPr lang="en-US" sz="4600" b="1" dirty="0">
                <a:solidFill>
                  <a:srgbClr val="1E2233"/>
                </a:solidFill>
                <a:latin typeface="Cambria" pitchFamily="34" charset="0"/>
                <a:ea typeface="Cambria" pitchFamily="34" charset="-122"/>
                <a:cs typeface="Cambria" pitchFamily="34" charset="-120"/>
              </a:rPr>
              <a:t>0,001 seconde</a:t>
            </a:r>
            <a:endParaRPr lang="en-US" sz="4600" dirty="0"/>
          </a:p>
        </p:txBody>
      </p:sp>
      <p:sp>
        <p:nvSpPr>
          <p:cNvPr id="13" name="Text 11"/>
          <p:cNvSpPr/>
          <p:nvPr/>
        </p:nvSpPr>
        <p:spPr>
          <a:xfrm>
            <a:off x="6675120" y="4114800"/>
            <a:ext cx="4206240" cy="1280160"/>
          </a:xfrm>
          <a:prstGeom prst="rect">
            <a:avLst/>
          </a:prstGeom>
          <a:noFill/>
          <a:ln/>
        </p:spPr>
        <p:txBody>
          <a:bodyPr wrap="square" lIns="0" tIns="0" rIns="0" bIns="0" rtlCol="0" anchor="ctr"/>
          <a:lstStyle/>
          <a:p>
            <a:pPr marL="0" indent="0">
              <a:lnSpc>
                <a:spcPct val="125000"/>
              </a:lnSpc>
              <a:buNone/>
            </a:pPr>
            <a:r>
              <a:rPr lang="en-US" sz="1250" dirty="0">
                <a:solidFill>
                  <a:srgbClr val="6B7080"/>
                </a:solidFill>
                <a:latin typeface="Calibri" pitchFamily="34" charset="0"/>
                <a:ea typeface="Calibri" pitchFamily="34" charset="-122"/>
                <a:cs typeface="Calibri" pitchFamily="34" charset="-120"/>
              </a:rPr>
              <a:t>Le dashboard interroge des tables statiques ne contenant que quelques dizaines de lignes pré-agrégées.</a:t>
            </a:r>
            <a:endParaRPr lang="en-US" sz="1250" dirty="0"/>
          </a:p>
        </p:txBody>
      </p:sp>
      <p:sp>
        <p:nvSpPr>
          <p:cNvPr id="14" name="Text 12"/>
          <p:cNvSpPr/>
          <p:nvPr/>
        </p:nvSpPr>
        <p:spPr>
          <a:xfrm>
            <a:off x="457200" y="6473952"/>
            <a:ext cx="7315200" cy="274320"/>
          </a:xfrm>
          <a:prstGeom prst="rect">
            <a:avLst/>
          </a:prstGeom>
          <a:noFill/>
          <a:ln/>
        </p:spPr>
        <p:txBody>
          <a:bodyPr wrap="square" lIns="0" tIns="0" rIns="0" bIns="0" rtlCol="0" anchor="ctr"/>
          <a:lstStyle/>
          <a:p>
            <a:pPr marL="0" indent="0" algn="l">
              <a:buNone/>
            </a:pPr>
            <a:r>
              <a:rPr lang="en-US" sz="900" dirty="0">
                <a:solidFill>
                  <a:srgbClr val="6B7080"/>
                </a:solidFill>
                <a:latin typeface="Calibri" pitchFamily="34" charset="0"/>
                <a:ea typeface="Calibri" pitchFamily="34" charset="-122"/>
                <a:cs typeface="Calibri" pitchFamily="34" charset="-120"/>
              </a:rPr>
              <a:t>Sahel Telecom - Documentation technique EDW</a:t>
            </a:r>
            <a:endParaRPr lang="en-US" sz="900" dirty="0"/>
          </a:p>
        </p:txBody>
      </p:sp>
      <p:sp>
        <p:nvSpPr>
          <p:cNvPr id="15" name="Text 13"/>
          <p:cNvSpPr/>
          <p:nvPr/>
        </p:nvSpPr>
        <p:spPr>
          <a:xfrm>
            <a:off x="11247120" y="6473952"/>
            <a:ext cx="457200" cy="274320"/>
          </a:xfrm>
          <a:prstGeom prst="rect">
            <a:avLst/>
          </a:prstGeom>
          <a:noFill/>
          <a:ln/>
        </p:spPr>
        <p:txBody>
          <a:bodyPr wrap="square" lIns="0" tIns="0" rIns="0" bIns="0" rtlCol="0" anchor="ctr"/>
          <a:lstStyle/>
          <a:p>
            <a:pPr marL="0" indent="0" algn="r">
              <a:buNone/>
            </a:pPr>
            <a:r>
              <a:rPr lang="en-US" sz="900" dirty="0">
                <a:solidFill>
                  <a:srgbClr val="6B7080"/>
                </a:solidFill>
                <a:latin typeface="Calibri" pitchFamily="34" charset="0"/>
                <a:ea typeface="Calibri" pitchFamily="34" charset="-122"/>
                <a:cs typeface="Calibri"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47472"/>
            <a:ext cx="9144000" cy="274320"/>
          </a:xfrm>
          <a:prstGeom prst="rect">
            <a:avLst/>
          </a:prstGeom>
          <a:noFill/>
          <a:ln/>
        </p:spPr>
        <p:txBody>
          <a:bodyPr wrap="square" lIns="0" tIns="0" rIns="0" bIns="0" rtlCol="0" anchor="ctr"/>
          <a:lstStyle/>
          <a:p>
            <a:pPr marL="0" indent="0">
              <a:buNone/>
            </a:pPr>
            <a:r>
              <a:rPr lang="en-US" sz="1200" b="1" kern="0" spc="200" dirty="0">
                <a:solidFill>
                  <a:srgbClr val="3949AB"/>
                </a:solidFill>
                <a:latin typeface="Calibri" pitchFamily="34" charset="0"/>
                <a:ea typeface="Calibri" pitchFamily="34" charset="-122"/>
                <a:cs typeface="Calibri" pitchFamily="34" charset="-120"/>
              </a:rPr>
              <a:t>INTELLIGENCE ARTIFICIELLE</a:t>
            </a:r>
            <a:endParaRPr lang="en-US" sz="1200" dirty="0"/>
          </a:p>
        </p:txBody>
      </p:sp>
      <p:sp>
        <p:nvSpPr>
          <p:cNvPr id="3" name="Text 1"/>
          <p:cNvSpPr/>
          <p:nvPr/>
        </p:nvSpPr>
        <p:spPr>
          <a:xfrm>
            <a:off x="548640" y="603504"/>
            <a:ext cx="11064240" cy="685800"/>
          </a:xfrm>
          <a:prstGeom prst="rect">
            <a:avLst/>
          </a:prstGeom>
          <a:noFill/>
          <a:ln/>
        </p:spPr>
        <p:txBody>
          <a:bodyPr wrap="square" lIns="0" tIns="0" rIns="0" bIns="0" rtlCol="0" anchor="ctr"/>
          <a:lstStyle/>
          <a:p>
            <a:pPr marL="0" indent="0">
              <a:buNone/>
            </a:pPr>
            <a:r>
              <a:rPr lang="en-US" sz="3000" b="1" dirty="0">
                <a:solidFill>
                  <a:srgbClr val="1E2233"/>
                </a:solidFill>
                <a:latin typeface="Cambria" pitchFamily="34" charset="0"/>
                <a:ea typeface="Cambria" pitchFamily="34" charset="-122"/>
                <a:cs typeface="Cambria" pitchFamily="34" charset="-120"/>
              </a:rPr>
              <a:t>Prédiction du churn : préparation et stratégie</a:t>
            </a:r>
            <a:endParaRPr lang="en-US" sz="3000" dirty="0"/>
          </a:p>
        </p:txBody>
      </p:sp>
      <p:sp>
        <p:nvSpPr>
          <p:cNvPr id="4" name="Shape 2"/>
          <p:cNvSpPr/>
          <p:nvPr/>
        </p:nvSpPr>
        <p:spPr>
          <a:xfrm>
            <a:off x="548640" y="1463040"/>
            <a:ext cx="5486400" cy="4846320"/>
          </a:xfrm>
          <a:prstGeom prst="roundRect">
            <a:avLst>
              <a:gd name="adj" fmla="val 1509"/>
            </a:avLst>
          </a:prstGeom>
          <a:solidFill>
            <a:srgbClr val="EEF0FA"/>
          </a:solidFill>
          <a:ln/>
        </p:spPr>
      </p:sp>
      <p:sp>
        <p:nvSpPr>
          <p:cNvPr id="5" name="Shape 3"/>
          <p:cNvSpPr/>
          <p:nvPr/>
        </p:nvSpPr>
        <p:spPr>
          <a:xfrm>
            <a:off x="822960" y="1737360"/>
            <a:ext cx="548640" cy="548640"/>
          </a:xfrm>
          <a:prstGeom prst="ellipse">
            <a:avLst/>
          </a:prstGeom>
          <a:solidFill>
            <a:srgbClr val="1A237E"/>
          </a:solidFill>
          <a:ln/>
        </p:spPr>
      </p:sp>
      <p:pic>
        <p:nvPicPr>
          <p:cNvPr id="6" name="Image 0" descr="preencoded.png"/>
          <p:cNvPicPr>
            <a:picLocks noChangeAspect="1"/>
          </p:cNvPicPr>
          <p:nvPr/>
        </p:nvPicPr>
        <p:blipFill>
          <a:blip r:embed="rId3"/>
          <a:stretch>
            <a:fillRect/>
          </a:stretch>
        </p:blipFill>
        <p:spPr>
          <a:xfrm>
            <a:off x="888797" y="1803197"/>
            <a:ext cx="416966" cy="416966"/>
          </a:xfrm>
          <a:prstGeom prst="rect">
            <a:avLst/>
          </a:prstGeom>
        </p:spPr>
      </p:pic>
      <p:sp>
        <p:nvSpPr>
          <p:cNvPr id="7" name="Text 4"/>
          <p:cNvSpPr/>
          <p:nvPr/>
        </p:nvSpPr>
        <p:spPr>
          <a:xfrm>
            <a:off x="1508760" y="1810512"/>
            <a:ext cx="4389120" cy="457200"/>
          </a:xfrm>
          <a:prstGeom prst="rect">
            <a:avLst/>
          </a:prstGeom>
          <a:noFill/>
          <a:ln/>
        </p:spPr>
        <p:txBody>
          <a:bodyPr wrap="square" lIns="0" tIns="0" rIns="0" bIns="0" rtlCol="0" anchor="ctr"/>
          <a:lstStyle/>
          <a:p>
            <a:pPr marL="0" indent="0">
              <a:buNone/>
            </a:pPr>
            <a:r>
              <a:rPr lang="en-US" sz="1500" b="1" dirty="0">
                <a:solidFill>
                  <a:srgbClr val="1E2233"/>
                </a:solidFill>
                <a:latin typeface="Cambria" pitchFamily="34" charset="0"/>
                <a:ea typeface="Cambria" pitchFamily="34" charset="-122"/>
                <a:cs typeface="Cambria" pitchFamily="34" charset="-120"/>
              </a:rPr>
              <a:t>Feature Engineering</a:t>
            </a:r>
            <a:endParaRPr lang="en-US" sz="1500" dirty="0"/>
          </a:p>
        </p:txBody>
      </p:sp>
      <p:sp>
        <p:nvSpPr>
          <p:cNvPr id="8" name="Text 5"/>
          <p:cNvSpPr/>
          <p:nvPr/>
        </p:nvSpPr>
        <p:spPr>
          <a:xfrm>
            <a:off x="868680" y="2514600"/>
            <a:ext cx="4846320" cy="320040"/>
          </a:xfrm>
          <a:prstGeom prst="rect">
            <a:avLst/>
          </a:prstGeom>
          <a:noFill/>
          <a:ln/>
        </p:spPr>
        <p:txBody>
          <a:bodyPr wrap="square" lIns="0" tIns="0" rIns="0" bIns="0" rtlCol="0" anchor="ctr"/>
          <a:lstStyle/>
          <a:p>
            <a:pPr marL="0" indent="0">
              <a:buNone/>
            </a:pPr>
            <a:r>
              <a:rPr lang="en-US" sz="1300" b="1" dirty="0">
                <a:solidFill>
                  <a:srgbClr val="1A237E"/>
                </a:solidFill>
                <a:latin typeface="Calibri" pitchFamily="34" charset="0"/>
                <a:ea typeface="Calibri" pitchFamily="34" charset="-122"/>
                <a:cs typeface="Calibri" pitchFamily="34" charset="-120"/>
              </a:rPr>
              <a:t>Taux de consommation data :</a:t>
            </a:r>
            <a:endParaRPr lang="en-US" sz="1300" dirty="0"/>
          </a:p>
        </p:txBody>
      </p:sp>
      <p:sp>
        <p:nvSpPr>
          <p:cNvPr id="9" name="Shape 6"/>
          <p:cNvSpPr/>
          <p:nvPr/>
        </p:nvSpPr>
        <p:spPr>
          <a:xfrm>
            <a:off x="868680" y="2834640"/>
            <a:ext cx="4846320" cy="502920"/>
          </a:xfrm>
          <a:prstGeom prst="roundRect">
            <a:avLst>
              <a:gd name="adj" fmla="val 10909"/>
            </a:avLst>
          </a:prstGeom>
          <a:solidFill>
            <a:srgbClr val="1A237E"/>
          </a:solidFill>
          <a:ln/>
        </p:spPr>
      </p:sp>
      <p:sp>
        <p:nvSpPr>
          <p:cNvPr id="10" name="Text 7"/>
          <p:cNvSpPr/>
          <p:nvPr/>
        </p:nvSpPr>
        <p:spPr>
          <a:xfrm>
            <a:off x="1005840" y="2834640"/>
            <a:ext cx="4572000" cy="502920"/>
          </a:xfrm>
          <a:prstGeom prst="rect">
            <a:avLst/>
          </a:prstGeom>
          <a:noFill/>
          <a:ln/>
        </p:spPr>
        <p:txBody>
          <a:bodyPr wrap="square" lIns="0" tIns="0" rIns="0" bIns="0" rtlCol="0" anchor="ctr"/>
          <a:lstStyle/>
          <a:p>
            <a:pPr marL="0" indent="0">
              <a:buNone/>
            </a:pPr>
            <a:r>
              <a:rPr lang="en-US" sz="1150" dirty="0">
                <a:solidFill>
                  <a:srgbClr val="FFFFFF"/>
                </a:solidFill>
                <a:latin typeface="Courier New" pitchFamily="34" charset="0"/>
                <a:ea typeface="Courier New" pitchFamily="34" charset="-122"/>
                <a:cs typeface="Courier New" pitchFamily="34" charset="-120"/>
              </a:rPr>
              <a:t>data_usage_ratio = data_used_mb / data_quota_gb</a:t>
            </a:r>
            <a:endParaRPr lang="en-US" sz="1150" dirty="0"/>
          </a:p>
        </p:txBody>
      </p:sp>
      <p:sp>
        <p:nvSpPr>
          <p:cNvPr id="11" name="Text 8"/>
          <p:cNvSpPr/>
          <p:nvPr/>
        </p:nvSpPr>
        <p:spPr>
          <a:xfrm>
            <a:off x="868680" y="3520440"/>
            <a:ext cx="4846320" cy="320040"/>
          </a:xfrm>
          <a:prstGeom prst="rect">
            <a:avLst/>
          </a:prstGeom>
          <a:noFill/>
          <a:ln/>
        </p:spPr>
        <p:txBody>
          <a:bodyPr wrap="square" lIns="0" tIns="0" rIns="0" bIns="0" rtlCol="0" anchor="ctr"/>
          <a:lstStyle/>
          <a:p>
            <a:pPr marL="0" indent="0">
              <a:buNone/>
            </a:pPr>
            <a:r>
              <a:rPr lang="en-US" sz="1300" b="1" dirty="0">
                <a:solidFill>
                  <a:srgbClr val="1A237E"/>
                </a:solidFill>
                <a:latin typeface="Calibri" pitchFamily="34" charset="0"/>
                <a:ea typeface="Calibri" pitchFamily="34" charset="-122"/>
                <a:cs typeface="Calibri" pitchFamily="34" charset="-120"/>
              </a:rPr>
              <a:t>Taux d'échec des appels :</a:t>
            </a:r>
            <a:endParaRPr lang="en-US" sz="1300" dirty="0"/>
          </a:p>
        </p:txBody>
      </p:sp>
      <p:sp>
        <p:nvSpPr>
          <p:cNvPr id="12" name="Shape 9"/>
          <p:cNvSpPr/>
          <p:nvPr/>
        </p:nvSpPr>
        <p:spPr>
          <a:xfrm>
            <a:off x="868680" y="3840480"/>
            <a:ext cx="4846320" cy="502920"/>
          </a:xfrm>
          <a:prstGeom prst="roundRect">
            <a:avLst>
              <a:gd name="adj" fmla="val 10909"/>
            </a:avLst>
          </a:prstGeom>
          <a:solidFill>
            <a:srgbClr val="1A237E"/>
          </a:solidFill>
          <a:ln/>
        </p:spPr>
      </p:sp>
      <p:sp>
        <p:nvSpPr>
          <p:cNvPr id="13" name="Text 10"/>
          <p:cNvSpPr/>
          <p:nvPr/>
        </p:nvSpPr>
        <p:spPr>
          <a:xfrm>
            <a:off x="1005840" y="3840480"/>
            <a:ext cx="4572000" cy="502920"/>
          </a:xfrm>
          <a:prstGeom prst="rect">
            <a:avLst/>
          </a:prstGeom>
          <a:noFill/>
          <a:ln/>
        </p:spPr>
        <p:txBody>
          <a:bodyPr wrap="square" lIns="0" tIns="0" rIns="0" bIns="0" rtlCol="0" anchor="ctr"/>
          <a:lstStyle/>
          <a:p>
            <a:pPr marL="0" indent="0">
              <a:buNone/>
            </a:pPr>
            <a:r>
              <a:rPr lang="en-US" sz="1150" dirty="0">
                <a:solidFill>
                  <a:srgbClr val="FFFFFF"/>
                </a:solidFill>
                <a:latin typeface="Courier New" pitchFamily="34" charset="0"/>
                <a:ea typeface="Courier New" pitchFamily="34" charset="-122"/>
                <a:cs typeface="Courier New" pitchFamily="34" charset="-120"/>
              </a:rPr>
              <a:t>call_failure_rate = failed_calls / total_calls</a:t>
            </a:r>
            <a:endParaRPr lang="en-US" sz="1150" dirty="0"/>
          </a:p>
        </p:txBody>
      </p:sp>
      <p:sp>
        <p:nvSpPr>
          <p:cNvPr id="14" name="Text 11"/>
          <p:cNvSpPr/>
          <p:nvPr/>
        </p:nvSpPr>
        <p:spPr>
          <a:xfrm>
            <a:off x="868680" y="4572000"/>
            <a:ext cx="4846320" cy="1463040"/>
          </a:xfrm>
          <a:prstGeom prst="rect">
            <a:avLst/>
          </a:prstGeom>
          <a:noFill/>
          <a:ln/>
        </p:spPr>
        <p:txBody>
          <a:bodyPr wrap="square" lIns="0" tIns="0" rIns="0" bIns="0" rtlCol="0" anchor="ctr"/>
          <a:lstStyle/>
          <a:p>
            <a:pPr marL="0" indent="0">
              <a:lnSpc>
                <a:spcPct val="125000"/>
              </a:lnSpc>
              <a:buNone/>
            </a:pPr>
            <a:r>
              <a:rPr lang="en-US" sz="1150" dirty="0">
                <a:solidFill>
                  <a:srgbClr val="6B7080"/>
                </a:solidFill>
                <a:latin typeface="Calibri" pitchFamily="34" charset="0"/>
                <a:ea typeface="Calibri" pitchFamily="34" charset="-122"/>
                <a:cs typeface="Calibri" pitchFamily="34" charset="-120"/>
              </a:rPr>
              <a:t>Variables analysées : segment client, genre, âge, pannes réseau subies, quota internet, prix du forfait, jours sans activité, revenu généré, volume consommé, durée d'appels…</a:t>
            </a:r>
            <a:endParaRPr lang="en-US" sz="1150" dirty="0"/>
          </a:p>
        </p:txBody>
      </p:sp>
      <p:sp>
        <p:nvSpPr>
          <p:cNvPr id="15" name="Shape 12"/>
          <p:cNvSpPr/>
          <p:nvPr/>
        </p:nvSpPr>
        <p:spPr>
          <a:xfrm>
            <a:off x="6263640" y="1463040"/>
            <a:ext cx="5349240" cy="4846320"/>
          </a:xfrm>
          <a:prstGeom prst="roundRect">
            <a:avLst>
              <a:gd name="adj" fmla="val 1509"/>
            </a:avLst>
          </a:prstGeom>
          <a:solidFill>
            <a:srgbClr val="1A237E"/>
          </a:solidFill>
          <a:ln/>
          <a:effectLst>
            <a:outerShdw blurRad="127000" dist="38100" dir="5400000" algn="bl" rotWithShape="0">
              <a:srgbClr val="1A237E">
                <a:alpha val="14000"/>
              </a:srgbClr>
            </a:outerShdw>
          </a:effectLst>
        </p:spPr>
      </p:sp>
      <p:sp>
        <p:nvSpPr>
          <p:cNvPr id="16" name="Shape 13"/>
          <p:cNvSpPr/>
          <p:nvPr/>
        </p:nvSpPr>
        <p:spPr>
          <a:xfrm>
            <a:off x="6537960" y="1737360"/>
            <a:ext cx="548640" cy="548640"/>
          </a:xfrm>
          <a:prstGeom prst="ellipse">
            <a:avLst/>
          </a:prstGeom>
          <a:solidFill>
            <a:srgbClr val="3949AB"/>
          </a:solidFill>
          <a:ln/>
        </p:spPr>
      </p:sp>
      <p:pic>
        <p:nvPicPr>
          <p:cNvPr id="17" name="Image 1" descr="preencoded.png"/>
          <p:cNvPicPr>
            <a:picLocks noChangeAspect="1"/>
          </p:cNvPicPr>
          <p:nvPr/>
        </p:nvPicPr>
        <p:blipFill>
          <a:blip r:embed="rId4"/>
          <a:stretch>
            <a:fillRect/>
          </a:stretch>
        </p:blipFill>
        <p:spPr>
          <a:xfrm>
            <a:off x="6603797" y="1803197"/>
            <a:ext cx="416966" cy="416966"/>
          </a:xfrm>
          <a:prstGeom prst="rect">
            <a:avLst/>
          </a:prstGeom>
        </p:spPr>
      </p:pic>
      <p:sp>
        <p:nvSpPr>
          <p:cNvPr id="18" name="Text 14"/>
          <p:cNvSpPr/>
          <p:nvPr/>
        </p:nvSpPr>
        <p:spPr>
          <a:xfrm>
            <a:off x="7223760" y="1810512"/>
            <a:ext cx="4206240" cy="457200"/>
          </a:xfrm>
          <a:prstGeom prst="rect">
            <a:avLst/>
          </a:prstGeom>
          <a:noFill/>
          <a:ln/>
        </p:spPr>
        <p:txBody>
          <a:bodyPr wrap="square" lIns="0" tIns="0" rIns="0" bIns="0" rtlCol="0" anchor="ctr"/>
          <a:lstStyle/>
          <a:p>
            <a:pPr marL="0" indent="0">
              <a:buNone/>
            </a:pPr>
            <a:r>
              <a:rPr lang="en-US" sz="1500" b="1" dirty="0">
                <a:solidFill>
                  <a:srgbClr val="FFFFFF"/>
                </a:solidFill>
                <a:latin typeface="Cambria" pitchFamily="34" charset="0"/>
                <a:ea typeface="Cambria" pitchFamily="34" charset="-122"/>
                <a:cs typeface="Cambria" pitchFamily="34" charset="-120"/>
              </a:rPr>
              <a:t>Stratégie d'entraînement</a:t>
            </a:r>
            <a:endParaRPr lang="en-US" sz="1500" dirty="0"/>
          </a:p>
        </p:txBody>
      </p:sp>
      <p:sp>
        <p:nvSpPr>
          <p:cNvPr id="19" name="Shape 15"/>
          <p:cNvSpPr/>
          <p:nvPr/>
        </p:nvSpPr>
        <p:spPr>
          <a:xfrm>
            <a:off x="6583680" y="2560320"/>
            <a:ext cx="128016" cy="128016"/>
          </a:xfrm>
          <a:prstGeom prst="ellipse">
            <a:avLst/>
          </a:prstGeom>
          <a:solidFill>
            <a:srgbClr val="F9A825"/>
          </a:solidFill>
          <a:ln/>
        </p:spPr>
      </p:sp>
      <p:sp>
        <p:nvSpPr>
          <p:cNvPr id="20" name="Text 16"/>
          <p:cNvSpPr/>
          <p:nvPr/>
        </p:nvSpPr>
        <p:spPr>
          <a:xfrm>
            <a:off x="6858000" y="2441448"/>
            <a:ext cx="4480560" cy="320040"/>
          </a:xfrm>
          <a:prstGeom prst="rect">
            <a:avLst/>
          </a:prstGeom>
          <a:noFill/>
          <a:ln/>
        </p:spPr>
        <p:txBody>
          <a:bodyPr wrap="square" lIns="0" tIns="0" rIns="0" bIns="0" rtlCol="0" anchor="ctr"/>
          <a:lstStyle/>
          <a:p>
            <a:pPr marL="0" indent="0">
              <a:buNone/>
            </a:pPr>
            <a:r>
              <a:rPr lang="en-US" sz="1350" b="1" dirty="0">
                <a:solidFill>
                  <a:srgbClr val="F9A825"/>
                </a:solidFill>
                <a:latin typeface="Cambria" pitchFamily="34" charset="0"/>
                <a:ea typeface="Cambria" pitchFamily="34" charset="-122"/>
                <a:cs typeface="Cambria" pitchFamily="34" charset="-120"/>
              </a:rPr>
              <a:t>Validation temporelle</a:t>
            </a:r>
            <a:endParaRPr lang="en-US" sz="1350" dirty="0"/>
          </a:p>
        </p:txBody>
      </p:sp>
      <p:sp>
        <p:nvSpPr>
          <p:cNvPr id="21" name="Text 17"/>
          <p:cNvSpPr/>
          <p:nvPr/>
        </p:nvSpPr>
        <p:spPr>
          <a:xfrm>
            <a:off x="6858000" y="2788920"/>
            <a:ext cx="4480560" cy="685800"/>
          </a:xfrm>
          <a:prstGeom prst="rect">
            <a:avLst/>
          </a:prstGeom>
          <a:noFill/>
          <a:ln/>
        </p:spPr>
        <p:txBody>
          <a:bodyPr wrap="square" lIns="0" tIns="0" rIns="0" bIns="0" rtlCol="0" anchor="ctr"/>
          <a:lstStyle/>
          <a:p>
            <a:pPr marL="0" indent="0">
              <a:lnSpc>
                <a:spcPct val="120000"/>
              </a:lnSpc>
              <a:buNone/>
            </a:pPr>
            <a:r>
              <a:rPr lang="en-US" sz="1200" dirty="0">
                <a:solidFill>
                  <a:srgbClr val="D6DAF7"/>
                </a:solidFill>
                <a:latin typeface="Calibri" pitchFamily="34" charset="0"/>
                <a:ea typeface="Calibri" pitchFamily="34" charset="-122"/>
                <a:cs typeface="Calibri" pitchFamily="34" charset="-120"/>
              </a:rPr>
              <a:t>Time-Series Split : entraînement sur nov. 2025 – avril 2026, test sur mai 2026 (le mois le plus récent).</a:t>
            </a:r>
            <a:endParaRPr lang="en-US" sz="1200" dirty="0"/>
          </a:p>
        </p:txBody>
      </p:sp>
      <p:sp>
        <p:nvSpPr>
          <p:cNvPr id="22" name="Shape 18"/>
          <p:cNvSpPr/>
          <p:nvPr/>
        </p:nvSpPr>
        <p:spPr>
          <a:xfrm>
            <a:off x="6583680" y="3611880"/>
            <a:ext cx="128016" cy="128016"/>
          </a:xfrm>
          <a:prstGeom prst="ellipse">
            <a:avLst/>
          </a:prstGeom>
          <a:solidFill>
            <a:srgbClr val="F9A825"/>
          </a:solidFill>
          <a:ln/>
        </p:spPr>
      </p:sp>
      <p:sp>
        <p:nvSpPr>
          <p:cNvPr id="23" name="Text 19"/>
          <p:cNvSpPr/>
          <p:nvPr/>
        </p:nvSpPr>
        <p:spPr>
          <a:xfrm>
            <a:off x="6858000" y="3493008"/>
            <a:ext cx="4480560" cy="320040"/>
          </a:xfrm>
          <a:prstGeom prst="rect">
            <a:avLst/>
          </a:prstGeom>
          <a:noFill/>
          <a:ln/>
        </p:spPr>
        <p:txBody>
          <a:bodyPr wrap="square" lIns="0" tIns="0" rIns="0" bIns="0" rtlCol="0" anchor="ctr"/>
          <a:lstStyle/>
          <a:p>
            <a:pPr marL="0" indent="0">
              <a:buNone/>
            </a:pPr>
            <a:r>
              <a:rPr lang="en-US" sz="1350" b="1" dirty="0">
                <a:solidFill>
                  <a:srgbClr val="F9A825"/>
                </a:solidFill>
                <a:latin typeface="Cambria" pitchFamily="34" charset="0"/>
                <a:ea typeface="Cambria" pitchFamily="34" charset="-122"/>
                <a:cs typeface="Cambria" pitchFamily="34" charset="-120"/>
              </a:rPr>
              <a:t>Équilibrage SMOTE</a:t>
            </a:r>
            <a:endParaRPr lang="en-US" sz="1350" dirty="0"/>
          </a:p>
        </p:txBody>
      </p:sp>
      <p:sp>
        <p:nvSpPr>
          <p:cNvPr id="24" name="Text 20"/>
          <p:cNvSpPr/>
          <p:nvPr/>
        </p:nvSpPr>
        <p:spPr>
          <a:xfrm>
            <a:off x="6858000" y="3840480"/>
            <a:ext cx="4480560" cy="685800"/>
          </a:xfrm>
          <a:prstGeom prst="rect">
            <a:avLst/>
          </a:prstGeom>
          <a:noFill/>
          <a:ln/>
        </p:spPr>
        <p:txBody>
          <a:bodyPr wrap="square" lIns="0" tIns="0" rIns="0" bIns="0" rtlCol="0" anchor="ctr"/>
          <a:lstStyle/>
          <a:p>
            <a:pPr marL="0" indent="0">
              <a:lnSpc>
                <a:spcPct val="120000"/>
              </a:lnSpc>
              <a:buNone/>
            </a:pPr>
            <a:r>
              <a:rPr lang="en-US" sz="1200" dirty="0">
                <a:solidFill>
                  <a:srgbClr val="D6DAF7"/>
                </a:solidFill>
                <a:latin typeface="Calibri" pitchFamily="34" charset="0"/>
                <a:ea typeface="Calibri" pitchFamily="34" charset="-122"/>
                <a:cs typeface="Calibri" pitchFamily="34" charset="-120"/>
              </a:rPr>
              <a:t>Sur-échantillonnage synthétique de la classe minoritaire (clients en résiliation).</a:t>
            </a:r>
            <a:endParaRPr lang="en-US" sz="1200" dirty="0"/>
          </a:p>
        </p:txBody>
      </p:sp>
      <p:sp>
        <p:nvSpPr>
          <p:cNvPr id="25" name="Shape 21"/>
          <p:cNvSpPr/>
          <p:nvPr/>
        </p:nvSpPr>
        <p:spPr>
          <a:xfrm>
            <a:off x="6583680" y="4663440"/>
            <a:ext cx="128016" cy="128016"/>
          </a:xfrm>
          <a:prstGeom prst="ellipse">
            <a:avLst/>
          </a:prstGeom>
          <a:solidFill>
            <a:srgbClr val="F9A825"/>
          </a:solidFill>
          <a:ln/>
        </p:spPr>
      </p:sp>
      <p:sp>
        <p:nvSpPr>
          <p:cNvPr id="26" name="Text 22"/>
          <p:cNvSpPr/>
          <p:nvPr/>
        </p:nvSpPr>
        <p:spPr>
          <a:xfrm>
            <a:off x="6858000" y="4544568"/>
            <a:ext cx="4480560" cy="320040"/>
          </a:xfrm>
          <a:prstGeom prst="rect">
            <a:avLst/>
          </a:prstGeom>
          <a:noFill/>
          <a:ln/>
        </p:spPr>
        <p:txBody>
          <a:bodyPr wrap="square" lIns="0" tIns="0" rIns="0" bIns="0" rtlCol="0" anchor="ctr"/>
          <a:lstStyle/>
          <a:p>
            <a:pPr marL="0" indent="0">
              <a:buNone/>
            </a:pPr>
            <a:r>
              <a:rPr lang="en-US" sz="1350" b="1" dirty="0">
                <a:solidFill>
                  <a:srgbClr val="F9A825"/>
                </a:solidFill>
                <a:latin typeface="Cambria" pitchFamily="34" charset="0"/>
                <a:ea typeface="Cambria" pitchFamily="34" charset="-122"/>
                <a:cs typeface="Cambria" pitchFamily="34" charset="-120"/>
              </a:rPr>
              <a:t>Algorithme</a:t>
            </a:r>
            <a:endParaRPr lang="en-US" sz="1350" dirty="0"/>
          </a:p>
        </p:txBody>
      </p:sp>
      <p:sp>
        <p:nvSpPr>
          <p:cNvPr id="27" name="Text 23"/>
          <p:cNvSpPr/>
          <p:nvPr/>
        </p:nvSpPr>
        <p:spPr>
          <a:xfrm>
            <a:off x="6858000" y="4892040"/>
            <a:ext cx="4480560" cy="685800"/>
          </a:xfrm>
          <a:prstGeom prst="rect">
            <a:avLst/>
          </a:prstGeom>
          <a:noFill/>
          <a:ln/>
        </p:spPr>
        <p:txBody>
          <a:bodyPr wrap="square" lIns="0" tIns="0" rIns="0" bIns="0" rtlCol="0" anchor="ctr"/>
          <a:lstStyle/>
          <a:p>
            <a:pPr marL="0" indent="0">
              <a:lnSpc>
                <a:spcPct val="120000"/>
              </a:lnSpc>
              <a:buNone/>
            </a:pPr>
            <a:r>
              <a:rPr lang="en-US" sz="1200" dirty="0">
                <a:solidFill>
                  <a:srgbClr val="D6DAF7"/>
                </a:solidFill>
                <a:latin typeface="Calibri" pitchFamily="34" charset="0"/>
                <a:ea typeface="Calibri" pitchFamily="34" charset="-122"/>
                <a:cs typeface="Calibri" pitchFamily="34" charset="-120"/>
              </a:rPr>
              <a:t>Classificateur XGBoost (Extreme Gradient Boosting).</a:t>
            </a:r>
            <a:endParaRPr lang="en-US" sz="1200" dirty="0"/>
          </a:p>
        </p:txBody>
      </p:sp>
      <p:sp>
        <p:nvSpPr>
          <p:cNvPr id="28" name="Text 24"/>
          <p:cNvSpPr/>
          <p:nvPr/>
        </p:nvSpPr>
        <p:spPr>
          <a:xfrm>
            <a:off x="457200" y="6473952"/>
            <a:ext cx="7315200" cy="274320"/>
          </a:xfrm>
          <a:prstGeom prst="rect">
            <a:avLst/>
          </a:prstGeom>
          <a:noFill/>
          <a:ln/>
        </p:spPr>
        <p:txBody>
          <a:bodyPr wrap="square" lIns="0" tIns="0" rIns="0" bIns="0" rtlCol="0" anchor="ctr"/>
          <a:lstStyle/>
          <a:p>
            <a:pPr marL="0" indent="0" algn="l">
              <a:buNone/>
            </a:pPr>
            <a:r>
              <a:rPr lang="en-US" sz="900" dirty="0">
                <a:solidFill>
                  <a:srgbClr val="6B7080"/>
                </a:solidFill>
                <a:latin typeface="Calibri" pitchFamily="34" charset="0"/>
                <a:ea typeface="Calibri" pitchFamily="34" charset="-122"/>
                <a:cs typeface="Calibri" pitchFamily="34" charset="-120"/>
              </a:rPr>
              <a:t>Sahel Telecom - Documentation technique EDW</a:t>
            </a:r>
            <a:endParaRPr lang="en-US" sz="900" dirty="0"/>
          </a:p>
        </p:txBody>
      </p:sp>
      <p:sp>
        <p:nvSpPr>
          <p:cNvPr id="29" name="Text 25"/>
          <p:cNvSpPr/>
          <p:nvPr/>
        </p:nvSpPr>
        <p:spPr>
          <a:xfrm>
            <a:off x="11247120" y="6473952"/>
            <a:ext cx="457200" cy="274320"/>
          </a:xfrm>
          <a:prstGeom prst="rect">
            <a:avLst/>
          </a:prstGeom>
          <a:noFill/>
          <a:ln/>
        </p:spPr>
        <p:txBody>
          <a:bodyPr wrap="square" lIns="0" tIns="0" rIns="0" bIns="0" rtlCol="0" anchor="ctr"/>
          <a:lstStyle/>
          <a:p>
            <a:pPr marL="0" indent="0" algn="r">
              <a:buNone/>
            </a:pPr>
            <a:r>
              <a:rPr lang="en-US" sz="900" dirty="0">
                <a:solidFill>
                  <a:srgbClr val="6B7080"/>
                </a:solidFill>
                <a:latin typeface="Calibri" pitchFamily="34" charset="0"/>
                <a:ea typeface="Calibri" pitchFamily="34" charset="-122"/>
                <a:cs typeface="Calibri" pitchFamily="34" charset="-120"/>
              </a:rPr>
              <a:t>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47472"/>
            <a:ext cx="9144000" cy="274320"/>
          </a:xfrm>
          <a:prstGeom prst="rect">
            <a:avLst/>
          </a:prstGeom>
          <a:noFill/>
          <a:ln/>
        </p:spPr>
        <p:txBody>
          <a:bodyPr wrap="square" lIns="0" tIns="0" rIns="0" bIns="0" rtlCol="0" anchor="ctr"/>
          <a:lstStyle/>
          <a:p>
            <a:pPr marL="0" indent="0">
              <a:buNone/>
            </a:pPr>
            <a:r>
              <a:rPr lang="en-US" sz="1200" b="1" kern="0" spc="200" dirty="0">
                <a:solidFill>
                  <a:srgbClr val="3949AB"/>
                </a:solidFill>
                <a:latin typeface="Calibri" pitchFamily="34" charset="0"/>
                <a:ea typeface="Calibri" pitchFamily="34" charset="-122"/>
                <a:cs typeface="Calibri" pitchFamily="34" charset="-120"/>
              </a:rPr>
              <a:t>INTELLIGENCE ARTIFICIELLE</a:t>
            </a:r>
            <a:endParaRPr lang="en-US" sz="1200" dirty="0"/>
          </a:p>
        </p:txBody>
      </p:sp>
      <p:sp>
        <p:nvSpPr>
          <p:cNvPr id="3" name="Text 1"/>
          <p:cNvSpPr/>
          <p:nvPr/>
        </p:nvSpPr>
        <p:spPr>
          <a:xfrm>
            <a:off x="548640" y="603504"/>
            <a:ext cx="11064240" cy="685800"/>
          </a:xfrm>
          <a:prstGeom prst="rect">
            <a:avLst/>
          </a:prstGeom>
          <a:noFill/>
          <a:ln/>
        </p:spPr>
        <p:txBody>
          <a:bodyPr wrap="square" lIns="0" tIns="0" rIns="0" bIns="0" rtlCol="0" anchor="ctr"/>
          <a:lstStyle/>
          <a:p>
            <a:pPr marL="0" indent="0">
              <a:buNone/>
            </a:pPr>
            <a:r>
              <a:rPr lang="en-US" sz="3000" b="1" dirty="0">
                <a:solidFill>
                  <a:srgbClr val="1E2233"/>
                </a:solidFill>
                <a:latin typeface="Cambria" pitchFamily="34" charset="0"/>
                <a:ea typeface="Cambria" pitchFamily="34" charset="-122"/>
                <a:cs typeface="Cambria" pitchFamily="34" charset="-120"/>
              </a:rPr>
              <a:t>Résultats réels de performance du modèle</a:t>
            </a:r>
            <a:endParaRPr lang="en-US" sz="3000" dirty="0"/>
          </a:p>
        </p:txBody>
      </p:sp>
      <p:sp>
        <p:nvSpPr>
          <p:cNvPr id="4" name="Shape 2"/>
          <p:cNvSpPr/>
          <p:nvPr/>
        </p:nvSpPr>
        <p:spPr>
          <a:xfrm>
            <a:off x="548640" y="1463040"/>
            <a:ext cx="2084832" cy="1554480"/>
          </a:xfrm>
          <a:prstGeom prst="roundRect">
            <a:avLst>
              <a:gd name="adj" fmla="val 4706"/>
            </a:avLst>
          </a:prstGeom>
          <a:solidFill>
            <a:srgbClr val="1A237E"/>
          </a:solidFill>
          <a:ln/>
          <a:effectLst>
            <a:outerShdw blurRad="127000" dist="38100" dir="5400000" algn="bl" rotWithShape="0">
              <a:srgbClr val="1A237E">
                <a:alpha val="14000"/>
              </a:srgbClr>
            </a:outerShdw>
          </a:effectLst>
        </p:spPr>
      </p:sp>
      <p:sp>
        <p:nvSpPr>
          <p:cNvPr id="5" name="Text 3"/>
          <p:cNvSpPr/>
          <p:nvPr/>
        </p:nvSpPr>
        <p:spPr>
          <a:xfrm>
            <a:off x="694944" y="1600200"/>
            <a:ext cx="1792224" cy="274320"/>
          </a:xfrm>
          <a:prstGeom prst="rect">
            <a:avLst/>
          </a:prstGeom>
          <a:noFill/>
          <a:ln/>
        </p:spPr>
        <p:txBody>
          <a:bodyPr wrap="square" lIns="0" tIns="0" rIns="0" bIns="0" rtlCol="0" anchor="ctr"/>
          <a:lstStyle/>
          <a:p>
            <a:pPr marL="0" indent="0">
              <a:buNone/>
            </a:pPr>
            <a:r>
              <a:rPr lang="en-US" sz="1000" b="1" kern="0" spc="100" dirty="0">
                <a:solidFill>
                  <a:srgbClr val="AEB6E8"/>
                </a:solidFill>
                <a:latin typeface="Calibri" pitchFamily="34" charset="0"/>
                <a:ea typeface="Calibri" pitchFamily="34" charset="-122"/>
                <a:cs typeface="Calibri" pitchFamily="34" charset="-120"/>
              </a:rPr>
              <a:t>EXACTITUDE</a:t>
            </a:r>
            <a:endParaRPr lang="en-US" sz="1000" dirty="0"/>
          </a:p>
        </p:txBody>
      </p:sp>
      <p:sp>
        <p:nvSpPr>
          <p:cNvPr id="6" name="Text 4"/>
          <p:cNvSpPr/>
          <p:nvPr/>
        </p:nvSpPr>
        <p:spPr>
          <a:xfrm>
            <a:off x="694944" y="1874520"/>
            <a:ext cx="1792224" cy="548640"/>
          </a:xfrm>
          <a:prstGeom prst="rect">
            <a:avLst/>
          </a:prstGeom>
          <a:noFill/>
          <a:ln/>
        </p:spPr>
        <p:txBody>
          <a:bodyPr wrap="square" lIns="0" tIns="0" rIns="0" bIns="0" rtlCol="0" anchor="ctr"/>
          <a:lstStyle/>
          <a:p>
            <a:pPr marL="0" indent="0">
              <a:buNone/>
            </a:pPr>
            <a:r>
              <a:rPr lang="en-US" sz="2600" b="1" dirty="0">
                <a:solidFill>
                  <a:srgbClr val="FFFFFF"/>
                </a:solidFill>
                <a:latin typeface="Cambria" pitchFamily="34" charset="0"/>
                <a:ea typeface="Cambria" pitchFamily="34" charset="-122"/>
                <a:cs typeface="Cambria" pitchFamily="34" charset="-120"/>
              </a:rPr>
              <a:t>64,8 %</a:t>
            </a:r>
            <a:endParaRPr lang="en-US" sz="2600" dirty="0"/>
          </a:p>
        </p:txBody>
      </p:sp>
      <p:sp>
        <p:nvSpPr>
          <p:cNvPr id="7" name="Text 5"/>
          <p:cNvSpPr/>
          <p:nvPr/>
        </p:nvSpPr>
        <p:spPr>
          <a:xfrm>
            <a:off x="694944" y="2450592"/>
            <a:ext cx="1810512" cy="548640"/>
          </a:xfrm>
          <a:prstGeom prst="rect">
            <a:avLst/>
          </a:prstGeom>
          <a:noFill/>
          <a:ln/>
        </p:spPr>
        <p:txBody>
          <a:bodyPr wrap="square" lIns="0" tIns="0" rIns="0" bIns="0" rtlCol="0" anchor="ctr"/>
          <a:lstStyle/>
          <a:p>
            <a:pPr marL="0" indent="0">
              <a:lnSpc>
                <a:spcPct val="110000"/>
              </a:lnSpc>
              <a:buNone/>
            </a:pPr>
            <a:r>
              <a:rPr lang="en-US" sz="880" dirty="0">
                <a:solidFill>
                  <a:srgbClr val="C7CCF0"/>
                </a:solidFill>
                <a:latin typeface="Calibri" pitchFamily="34" charset="0"/>
                <a:ea typeface="Calibri" pitchFamily="34" charset="-122"/>
                <a:cs typeface="Calibri" pitchFamily="34" charset="-120"/>
              </a:rPr>
              <a:t>Proportion globale de prédictions correctes</a:t>
            </a:r>
            <a:endParaRPr lang="en-US" sz="880" dirty="0"/>
          </a:p>
        </p:txBody>
      </p:sp>
      <p:sp>
        <p:nvSpPr>
          <p:cNvPr id="8" name="Shape 6"/>
          <p:cNvSpPr/>
          <p:nvPr/>
        </p:nvSpPr>
        <p:spPr>
          <a:xfrm>
            <a:off x="2779776" y="1463040"/>
            <a:ext cx="2084832" cy="1554480"/>
          </a:xfrm>
          <a:prstGeom prst="roundRect">
            <a:avLst>
              <a:gd name="adj" fmla="val 4706"/>
            </a:avLst>
          </a:prstGeom>
          <a:solidFill>
            <a:srgbClr val="EEF0FA"/>
          </a:solidFill>
          <a:ln/>
          <a:effectLst>
            <a:outerShdw blurRad="127000" dist="38100" dir="5400000" algn="bl" rotWithShape="0">
              <a:srgbClr val="1A237E">
                <a:alpha val="14000"/>
              </a:srgbClr>
            </a:outerShdw>
          </a:effectLst>
        </p:spPr>
      </p:sp>
      <p:sp>
        <p:nvSpPr>
          <p:cNvPr id="9" name="Text 7"/>
          <p:cNvSpPr/>
          <p:nvPr/>
        </p:nvSpPr>
        <p:spPr>
          <a:xfrm>
            <a:off x="2926080" y="1600200"/>
            <a:ext cx="1792224" cy="274320"/>
          </a:xfrm>
          <a:prstGeom prst="rect">
            <a:avLst/>
          </a:prstGeom>
          <a:noFill/>
          <a:ln/>
        </p:spPr>
        <p:txBody>
          <a:bodyPr wrap="square" lIns="0" tIns="0" rIns="0" bIns="0" rtlCol="0" anchor="ctr"/>
          <a:lstStyle/>
          <a:p>
            <a:pPr marL="0" indent="0">
              <a:buNone/>
            </a:pPr>
            <a:r>
              <a:rPr lang="en-US" sz="1000" b="1" kern="0" spc="100" dirty="0">
                <a:solidFill>
                  <a:srgbClr val="3949AB"/>
                </a:solidFill>
                <a:latin typeface="Calibri" pitchFamily="34" charset="0"/>
                <a:ea typeface="Calibri" pitchFamily="34" charset="-122"/>
                <a:cs typeface="Calibri" pitchFamily="34" charset="-120"/>
              </a:rPr>
              <a:t>PRÉCISION</a:t>
            </a:r>
            <a:endParaRPr lang="en-US" sz="1000" dirty="0"/>
          </a:p>
        </p:txBody>
      </p:sp>
      <p:sp>
        <p:nvSpPr>
          <p:cNvPr id="10" name="Text 8"/>
          <p:cNvSpPr/>
          <p:nvPr/>
        </p:nvSpPr>
        <p:spPr>
          <a:xfrm>
            <a:off x="2926080" y="1874520"/>
            <a:ext cx="1792224" cy="548640"/>
          </a:xfrm>
          <a:prstGeom prst="rect">
            <a:avLst/>
          </a:prstGeom>
          <a:noFill/>
          <a:ln/>
        </p:spPr>
        <p:txBody>
          <a:bodyPr wrap="square" lIns="0" tIns="0" rIns="0" bIns="0" rtlCol="0" anchor="ctr"/>
          <a:lstStyle/>
          <a:p>
            <a:pPr marL="0" indent="0">
              <a:buNone/>
            </a:pPr>
            <a:r>
              <a:rPr lang="en-US" sz="2600" b="1" dirty="0">
                <a:solidFill>
                  <a:srgbClr val="1E2233"/>
                </a:solidFill>
                <a:latin typeface="Cambria" pitchFamily="34" charset="0"/>
                <a:ea typeface="Cambria" pitchFamily="34" charset="-122"/>
                <a:cs typeface="Cambria" pitchFamily="34" charset="-120"/>
              </a:rPr>
              <a:t>17,1 %</a:t>
            </a:r>
            <a:endParaRPr lang="en-US" sz="2600" dirty="0"/>
          </a:p>
        </p:txBody>
      </p:sp>
      <p:sp>
        <p:nvSpPr>
          <p:cNvPr id="11" name="Text 9"/>
          <p:cNvSpPr/>
          <p:nvPr/>
        </p:nvSpPr>
        <p:spPr>
          <a:xfrm>
            <a:off x="2926080" y="2450592"/>
            <a:ext cx="1810512" cy="548640"/>
          </a:xfrm>
          <a:prstGeom prst="rect">
            <a:avLst/>
          </a:prstGeom>
          <a:noFill/>
          <a:ln/>
        </p:spPr>
        <p:txBody>
          <a:bodyPr wrap="square" lIns="0" tIns="0" rIns="0" bIns="0" rtlCol="0" anchor="ctr"/>
          <a:lstStyle/>
          <a:p>
            <a:pPr marL="0" indent="0">
              <a:lnSpc>
                <a:spcPct val="110000"/>
              </a:lnSpc>
              <a:buNone/>
            </a:pPr>
            <a:r>
              <a:rPr lang="en-US" sz="880" dirty="0">
                <a:solidFill>
                  <a:srgbClr val="6B7080"/>
                </a:solidFill>
                <a:latin typeface="Calibri" pitchFamily="34" charset="0"/>
                <a:ea typeface="Calibri" pitchFamily="34" charset="-122"/>
                <a:cs typeface="Calibri" pitchFamily="34" charset="-120"/>
              </a:rPr>
              <a:t>Fiabilité quand le modèle prédit une résiliation</a:t>
            </a:r>
            <a:endParaRPr lang="en-US" sz="880" dirty="0"/>
          </a:p>
        </p:txBody>
      </p:sp>
      <p:sp>
        <p:nvSpPr>
          <p:cNvPr id="12" name="Shape 10"/>
          <p:cNvSpPr/>
          <p:nvPr/>
        </p:nvSpPr>
        <p:spPr>
          <a:xfrm>
            <a:off x="5010912" y="1463040"/>
            <a:ext cx="2084832" cy="1554480"/>
          </a:xfrm>
          <a:prstGeom prst="roundRect">
            <a:avLst>
              <a:gd name="adj" fmla="val 4706"/>
            </a:avLst>
          </a:prstGeom>
          <a:solidFill>
            <a:srgbClr val="EEF0FA"/>
          </a:solidFill>
          <a:ln/>
          <a:effectLst>
            <a:outerShdw blurRad="127000" dist="38100" dir="5400000" algn="bl" rotWithShape="0">
              <a:srgbClr val="1A237E">
                <a:alpha val="14000"/>
              </a:srgbClr>
            </a:outerShdw>
          </a:effectLst>
        </p:spPr>
      </p:sp>
      <p:sp>
        <p:nvSpPr>
          <p:cNvPr id="13" name="Text 11"/>
          <p:cNvSpPr/>
          <p:nvPr/>
        </p:nvSpPr>
        <p:spPr>
          <a:xfrm>
            <a:off x="5157216" y="1600200"/>
            <a:ext cx="1792224" cy="274320"/>
          </a:xfrm>
          <a:prstGeom prst="rect">
            <a:avLst/>
          </a:prstGeom>
          <a:noFill/>
          <a:ln/>
        </p:spPr>
        <p:txBody>
          <a:bodyPr wrap="square" lIns="0" tIns="0" rIns="0" bIns="0" rtlCol="0" anchor="ctr"/>
          <a:lstStyle/>
          <a:p>
            <a:pPr marL="0" indent="0">
              <a:buNone/>
            </a:pPr>
            <a:r>
              <a:rPr lang="en-US" sz="1000" b="1" kern="0" spc="100" dirty="0">
                <a:solidFill>
                  <a:srgbClr val="3949AB"/>
                </a:solidFill>
                <a:latin typeface="Calibri" pitchFamily="34" charset="0"/>
                <a:ea typeface="Calibri" pitchFamily="34" charset="-122"/>
                <a:cs typeface="Calibri" pitchFamily="34" charset="-120"/>
              </a:rPr>
              <a:t>RAPPEL</a:t>
            </a:r>
            <a:endParaRPr lang="en-US" sz="1000" dirty="0"/>
          </a:p>
        </p:txBody>
      </p:sp>
      <p:sp>
        <p:nvSpPr>
          <p:cNvPr id="14" name="Text 12"/>
          <p:cNvSpPr/>
          <p:nvPr/>
        </p:nvSpPr>
        <p:spPr>
          <a:xfrm>
            <a:off x="5157216" y="1874520"/>
            <a:ext cx="1792224" cy="548640"/>
          </a:xfrm>
          <a:prstGeom prst="rect">
            <a:avLst/>
          </a:prstGeom>
          <a:noFill/>
          <a:ln/>
        </p:spPr>
        <p:txBody>
          <a:bodyPr wrap="square" lIns="0" tIns="0" rIns="0" bIns="0" rtlCol="0" anchor="ctr"/>
          <a:lstStyle/>
          <a:p>
            <a:pPr marL="0" indent="0">
              <a:buNone/>
            </a:pPr>
            <a:r>
              <a:rPr lang="en-US" sz="2600" b="1" dirty="0">
                <a:solidFill>
                  <a:srgbClr val="1E2233"/>
                </a:solidFill>
                <a:latin typeface="Cambria" pitchFamily="34" charset="0"/>
                <a:ea typeface="Cambria" pitchFamily="34" charset="-122"/>
                <a:cs typeface="Cambria" pitchFamily="34" charset="-120"/>
              </a:rPr>
              <a:t>28,7 %</a:t>
            </a:r>
            <a:endParaRPr lang="en-US" sz="2600" dirty="0"/>
          </a:p>
        </p:txBody>
      </p:sp>
      <p:sp>
        <p:nvSpPr>
          <p:cNvPr id="15" name="Text 13"/>
          <p:cNvSpPr/>
          <p:nvPr/>
        </p:nvSpPr>
        <p:spPr>
          <a:xfrm>
            <a:off x="5157216" y="2450592"/>
            <a:ext cx="1810512" cy="548640"/>
          </a:xfrm>
          <a:prstGeom prst="rect">
            <a:avLst/>
          </a:prstGeom>
          <a:noFill/>
          <a:ln/>
        </p:spPr>
        <p:txBody>
          <a:bodyPr wrap="square" lIns="0" tIns="0" rIns="0" bIns="0" rtlCol="0" anchor="ctr"/>
          <a:lstStyle/>
          <a:p>
            <a:pPr marL="0" indent="0">
              <a:lnSpc>
                <a:spcPct val="110000"/>
              </a:lnSpc>
              <a:buNone/>
            </a:pPr>
            <a:r>
              <a:rPr lang="en-US" sz="880" dirty="0">
                <a:solidFill>
                  <a:srgbClr val="6B7080"/>
                </a:solidFill>
                <a:latin typeface="Calibri" pitchFamily="34" charset="0"/>
                <a:ea typeface="Calibri" pitchFamily="34" charset="-122"/>
                <a:cs typeface="Calibri" pitchFamily="34" charset="-120"/>
              </a:rPr>
              <a:t>Capacité à identifier les clients réellement en fuite</a:t>
            </a:r>
            <a:endParaRPr lang="en-US" sz="880" dirty="0"/>
          </a:p>
        </p:txBody>
      </p:sp>
      <p:sp>
        <p:nvSpPr>
          <p:cNvPr id="16" name="Shape 14"/>
          <p:cNvSpPr/>
          <p:nvPr/>
        </p:nvSpPr>
        <p:spPr>
          <a:xfrm>
            <a:off x="7242048" y="1463040"/>
            <a:ext cx="2084832" cy="1554480"/>
          </a:xfrm>
          <a:prstGeom prst="roundRect">
            <a:avLst>
              <a:gd name="adj" fmla="val 4706"/>
            </a:avLst>
          </a:prstGeom>
          <a:solidFill>
            <a:srgbClr val="EEF0FA"/>
          </a:solidFill>
          <a:ln/>
          <a:effectLst>
            <a:outerShdw blurRad="127000" dist="38100" dir="5400000" algn="bl" rotWithShape="0">
              <a:srgbClr val="1A237E">
                <a:alpha val="14000"/>
              </a:srgbClr>
            </a:outerShdw>
          </a:effectLst>
        </p:spPr>
      </p:sp>
      <p:sp>
        <p:nvSpPr>
          <p:cNvPr id="17" name="Text 15"/>
          <p:cNvSpPr/>
          <p:nvPr/>
        </p:nvSpPr>
        <p:spPr>
          <a:xfrm>
            <a:off x="7388352" y="1600200"/>
            <a:ext cx="1792224" cy="274320"/>
          </a:xfrm>
          <a:prstGeom prst="rect">
            <a:avLst/>
          </a:prstGeom>
          <a:noFill/>
          <a:ln/>
        </p:spPr>
        <p:txBody>
          <a:bodyPr wrap="square" lIns="0" tIns="0" rIns="0" bIns="0" rtlCol="0" anchor="ctr"/>
          <a:lstStyle/>
          <a:p>
            <a:pPr marL="0" indent="0">
              <a:buNone/>
            </a:pPr>
            <a:r>
              <a:rPr lang="en-US" sz="1000" b="1" kern="0" spc="100" dirty="0">
                <a:solidFill>
                  <a:srgbClr val="3949AB"/>
                </a:solidFill>
                <a:latin typeface="Calibri" pitchFamily="34" charset="0"/>
                <a:ea typeface="Calibri" pitchFamily="34" charset="-122"/>
                <a:cs typeface="Calibri" pitchFamily="34" charset="-120"/>
              </a:rPr>
              <a:t>F1-SCORE</a:t>
            </a:r>
            <a:endParaRPr lang="en-US" sz="1000" dirty="0"/>
          </a:p>
        </p:txBody>
      </p:sp>
      <p:sp>
        <p:nvSpPr>
          <p:cNvPr id="18" name="Text 16"/>
          <p:cNvSpPr/>
          <p:nvPr/>
        </p:nvSpPr>
        <p:spPr>
          <a:xfrm>
            <a:off x="7388352" y="1874520"/>
            <a:ext cx="1792224" cy="548640"/>
          </a:xfrm>
          <a:prstGeom prst="rect">
            <a:avLst/>
          </a:prstGeom>
          <a:noFill/>
          <a:ln/>
        </p:spPr>
        <p:txBody>
          <a:bodyPr wrap="square" lIns="0" tIns="0" rIns="0" bIns="0" rtlCol="0" anchor="ctr"/>
          <a:lstStyle/>
          <a:p>
            <a:pPr marL="0" indent="0">
              <a:buNone/>
            </a:pPr>
            <a:r>
              <a:rPr lang="en-US" sz="2600" b="1" dirty="0">
                <a:solidFill>
                  <a:srgbClr val="1E2233"/>
                </a:solidFill>
                <a:latin typeface="Cambria" pitchFamily="34" charset="0"/>
                <a:ea typeface="Cambria" pitchFamily="34" charset="-122"/>
                <a:cs typeface="Cambria" pitchFamily="34" charset="-120"/>
              </a:rPr>
              <a:t>21,4 %</a:t>
            </a:r>
            <a:endParaRPr lang="en-US" sz="2600" dirty="0"/>
          </a:p>
        </p:txBody>
      </p:sp>
      <p:sp>
        <p:nvSpPr>
          <p:cNvPr id="19" name="Text 17"/>
          <p:cNvSpPr/>
          <p:nvPr/>
        </p:nvSpPr>
        <p:spPr>
          <a:xfrm>
            <a:off x="7388352" y="2450592"/>
            <a:ext cx="1810512" cy="548640"/>
          </a:xfrm>
          <a:prstGeom prst="rect">
            <a:avLst/>
          </a:prstGeom>
          <a:noFill/>
          <a:ln/>
        </p:spPr>
        <p:txBody>
          <a:bodyPr wrap="square" lIns="0" tIns="0" rIns="0" bIns="0" rtlCol="0" anchor="ctr"/>
          <a:lstStyle/>
          <a:p>
            <a:pPr marL="0" indent="0">
              <a:lnSpc>
                <a:spcPct val="110000"/>
              </a:lnSpc>
              <a:buNone/>
            </a:pPr>
            <a:r>
              <a:rPr lang="en-US" sz="880" dirty="0">
                <a:solidFill>
                  <a:srgbClr val="6B7080"/>
                </a:solidFill>
                <a:latin typeface="Calibri" pitchFamily="34" charset="0"/>
                <a:ea typeface="Calibri" pitchFamily="34" charset="-122"/>
                <a:cs typeface="Calibri" pitchFamily="34" charset="-120"/>
              </a:rPr>
              <a:t>Moyenne harmonique précision / rappel</a:t>
            </a:r>
            <a:endParaRPr lang="en-US" sz="880" dirty="0"/>
          </a:p>
        </p:txBody>
      </p:sp>
      <p:sp>
        <p:nvSpPr>
          <p:cNvPr id="20" name="Shape 18"/>
          <p:cNvSpPr/>
          <p:nvPr/>
        </p:nvSpPr>
        <p:spPr>
          <a:xfrm>
            <a:off x="9473184" y="1463040"/>
            <a:ext cx="2084832" cy="1554480"/>
          </a:xfrm>
          <a:prstGeom prst="roundRect">
            <a:avLst>
              <a:gd name="adj" fmla="val 4706"/>
            </a:avLst>
          </a:prstGeom>
          <a:solidFill>
            <a:srgbClr val="EEF0FA"/>
          </a:solidFill>
          <a:ln/>
          <a:effectLst>
            <a:outerShdw blurRad="127000" dist="38100" dir="5400000" algn="bl" rotWithShape="0">
              <a:srgbClr val="1A237E">
                <a:alpha val="14000"/>
              </a:srgbClr>
            </a:outerShdw>
          </a:effectLst>
        </p:spPr>
      </p:sp>
      <p:sp>
        <p:nvSpPr>
          <p:cNvPr id="21" name="Text 19"/>
          <p:cNvSpPr/>
          <p:nvPr/>
        </p:nvSpPr>
        <p:spPr>
          <a:xfrm>
            <a:off x="9619488" y="1600200"/>
            <a:ext cx="1792224" cy="274320"/>
          </a:xfrm>
          <a:prstGeom prst="rect">
            <a:avLst/>
          </a:prstGeom>
          <a:noFill/>
          <a:ln/>
        </p:spPr>
        <p:txBody>
          <a:bodyPr wrap="square" lIns="0" tIns="0" rIns="0" bIns="0" rtlCol="0" anchor="ctr"/>
          <a:lstStyle/>
          <a:p>
            <a:pPr marL="0" indent="0">
              <a:buNone/>
            </a:pPr>
            <a:r>
              <a:rPr lang="en-US" sz="1000" b="1" kern="0" spc="100" dirty="0">
                <a:solidFill>
                  <a:srgbClr val="3949AB"/>
                </a:solidFill>
                <a:latin typeface="Calibri" pitchFamily="34" charset="0"/>
                <a:ea typeface="Calibri" pitchFamily="34" charset="-122"/>
                <a:cs typeface="Calibri" pitchFamily="34" charset="-120"/>
              </a:rPr>
              <a:t>AUC</a:t>
            </a:r>
            <a:endParaRPr lang="en-US" sz="1000" dirty="0"/>
          </a:p>
        </p:txBody>
      </p:sp>
      <p:sp>
        <p:nvSpPr>
          <p:cNvPr id="22" name="Text 20"/>
          <p:cNvSpPr/>
          <p:nvPr/>
        </p:nvSpPr>
        <p:spPr>
          <a:xfrm>
            <a:off x="9619488" y="1874520"/>
            <a:ext cx="1792224" cy="548640"/>
          </a:xfrm>
          <a:prstGeom prst="rect">
            <a:avLst/>
          </a:prstGeom>
          <a:noFill/>
          <a:ln/>
        </p:spPr>
        <p:txBody>
          <a:bodyPr wrap="square" lIns="0" tIns="0" rIns="0" bIns="0" rtlCol="0" anchor="ctr"/>
          <a:lstStyle/>
          <a:p>
            <a:pPr marL="0" indent="0">
              <a:buNone/>
            </a:pPr>
            <a:r>
              <a:rPr lang="en-US" sz="2600" b="1" dirty="0">
                <a:solidFill>
                  <a:srgbClr val="1E2233"/>
                </a:solidFill>
                <a:latin typeface="Cambria" pitchFamily="34" charset="0"/>
                <a:ea typeface="Cambria" pitchFamily="34" charset="-122"/>
                <a:cs typeface="Cambria" pitchFamily="34" charset="-120"/>
              </a:rPr>
              <a:t>50,8 %</a:t>
            </a:r>
            <a:endParaRPr lang="en-US" sz="2600" dirty="0"/>
          </a:p>
        </p:txBody>
      </p:sp>
      <p:sp>
        <p:nvSpPr>
          <p:cNvPr id="23" name="Text 21"/>
          <p:cNvSpPr/>
          <p:nvPr/>
        </p:nvSpPr>
        <p:spPr>
          <a:xfrm>
            <a:off x="9619488" y="2450592"/>
            <a:ext cx="1810512" cy="548640"/>
          </a:xfrm>
          <a:prstGeom prst="rect">
            <a:avLst/>
          </a:prstGeom>
          <a:noFill/>
          <a:ln/>
        </p:spPr>
        <p:txBody>
          <a:bodyPr wrap="square" lIns="0" tIns="0" rIns="0" bIns="0" rtlCol="0" anchor="ctr"/>
          <a:lstStyle/>
          <a:p>
            <a:pPr marL="0" indent="0">
              <a:lnSpc>
                <a:spcPct val="110000"/>
              </a:lnSpc>
              <a:buNone/>
            </a:pPr>
            <a:r>
              <a:rPr lang="en-US" sz="880" dirty="0">
                <a:solidFill>
                  <a:srgbClr val="6B7080"/>
                </a:solidFill>
                <a:latin typeface="Calibri" pitchFamily="34" charset="0"/>
                <a:ea typeface="Calibri" pitchFamily="34" charset="-122"/>
                <a:cs typeface="Calibri" pitchFamily="34" charset="-120"/>
              </a:rPr>
              <a:t>Performance de discrimination globale</a:t>
            </a:r>
            <a:endParaRPr lang="en-US" sz="880" dirty="0"/>
          </a:p>
        </p:txBody>
      </p:sp>
      <p:sp>
        <p:nvSpPr>
          <p:cNvPr id="24" name="Text 22"/>
          <p:cNvSpPr/>
          <p:nvPr/>
        </p:nvSpPr>
        <p:spPr>
          <a:xfrm>
            <a:off x="548640" y="3337560"/>
            <a:ext cx="5029200" cy="320040"/>
          </a:xfrm>
          <a:prstGeom prst="rect">
            <a:avLst/>
          </a:prstGeom>
          <a:noFill/>
          <a:ln/>
        </p:spPr>
        <p:txBody>
          <a:bodyPr wrap="square" lIns="0" tIns="0" rIns="0" bIns="0" rtlCol="0" anchor="ctr"/>
          <a:lstStyle/>
          <a:p>
            <a:pPr marL="0" indent="0">
              <a:buNone/>
            </a:pPr>
            <a:r>
              <a:rPr lang="en-US" sz="1350" b="1" dirty="0">
                <a:solidFill>
                  <a:srgbClr val="1E2233"/>
                </a:solidFill>
                <a:latin typeface="Cambria" pitchFamily="34" charset="0"/>
                <a:ea typeface="Cambria" pitchFamily="34" charset="-122"/>
                <a:cs typeface="Cambria" pitchFamily="34" charset="-120"/>
              </a:rPr>
              <a:t>Matrice de confusion - XGBoost</a:t>
            </a:r>
            <a:endParaRPr lang="en-US" sz="1350" dirty="0"/>
          </a:p>
        </p:txBody>
      </p:sp>
      <p:graphicFrame>
        <p:nvGraphicFramePr>
          <p:cNvPr id="25" name="Chart 0"/>
          <p:cNvGraphicFramePr/>
          <p:nvPr/>
        </p:nvGraphicFramePr>
        <p:xfrm>
          <a:off x="548640" y="3657600"/>
          <a:ext cx="5120640" cy="2651760"/>
        </p:xfrm>
        <a:graphic>
          <a:graphicData uri="http://schemas.openxmlformats.org/drawingml/2006/chart">
            <c:chart xmlns:c="http://schemas.openxmlformats.org/drawingml/2006/chart" xmlns:r="http://schemas.openxmlformats.org/officeDocument/2006/relationships" r:id="rId3"/>
          </a:graphicData>
        </a:graphic>
      </p:graphicFrame>
      <p:sp>
        <p:nvSpPr>
          <p:cNvPr id="26" name="Shape 23"/>
          <p:cNvSpPr/>
          <p:nvPr/>
        </p:nvSpPr>
        <p:spPr>
          <a:xfrm>
            <a:off x="5943600" y="3337560"/>
            <a:ext cx="5669280" cy="2971800"/>
          </a:xfrm>
          <a:prstGeom prst="roundRect">
            <a:avLst>
              <a:gd name="adj" fmla="val 2462"/>
            </a:avLst>
          </a:prstGeom>
          <a:solidFill>
            <a:srgbClr val="FBEAEA"/>
          </a:solidFill>
          <a:ln/>
        </p:spPr>
      </p:sp>
      <p:sp>
        <p:nvSpPr>
          <p:cNvPr id="27" name="Shape 24"/>
          <p:cNvSpPr/>
          <p:nvPr/>
        </p:nvSpPr>
        <p:spPr>
          <a:xfrm>
            <a:off x="6172200" y="3520440"/>
            <a:ext cx="457200" cy="457200"/>
          </a:xfrm>
          <a:prstGeom prst="ellipse">
            <a:avLst/>
          </a:prstGeom>
          <a:solidFill>
            <a:srgbClr val="E53935"/>
          </a:solidFill>
          <a:ln/>
        </p:spPr>
      </p:sp>
      <p:pic>
        <p:nvPicPr>
          <p:cNvPr id="28" name="Image 0" descr="preencoded.png"/>
          <p:cNvPicPr>
            <a:picLocks noChangeAspect="1"/>
          </p:cNvPicPr>
          <p:nvPr/>
        </p:nvPicPr>
        <p:blipFill>
          <a:blip r:embed="rId4"/>
          <a:stretch>
            <a:fillRect/>
          </a:stretch>
        </p:blipFill>
        <p:spPr>
          <a:xfrm>
            <a:off x="6227064" y="3575304"/>
            <a:ext cx="347472" cy="347472"/>
          </a:xfrm>
          <a:prstGeom prst="rect">
            <a:avLst/>
          </a:prstGeom>
        </p:spPr>
      </p:pic>
      <p:sp>
        <p:nvSpPr>
          <p:cNvPr id="29" name="Text 25"/>
          <p:cNvSpPr/>
          <p:nvPr/>
        </p:nvSpPr>
        <p:spPr>
          <a:xfrm>
            <a:off x="6766560" y="3566160"/>
            <a:ext cx="4663440" cy="365760"/>
          </a:xfrm>
          <a:prstGeom prst="rect">
            <a:avLst/>
          </a:prstGeom>
          <a:noFill/>
          <a:ln/>
        </p:spPr>
        <p:txBody>
          <a:bodyPr wrap="square" lIns="0" tIns="0" rIns="0" bIns="0" rtlCol="0" anchor="ctr"/>
          <a:lstStyle/>
          <a:p>
            <a:pPr marL="0" indent="0">
              <a:buNone/>
            </a:pPr>
            <a:r>
              <a:rPr lang="en-US" sz="1350" b="1" dirty="0">
                <a:solidFill>
                  <a:srgbClr val="E53935"/>
                </a:solidFill>
                <a:latin typeface="Cambria" pitchFamily="34" charset="0"/>
                <a:ea typeface="Cambria" pitchFamily="34" charset="-122"/>
                <a:cs typeface="Cambria" pitchFamily="34" charset="-120"/>
              </a:rPr>
              <a:t>Note d'interprétation</a:t>
            </a:r>
            <a:endParaRPr lang="en-US" sz="1350" dirty="0"/>
          </a:p>
        </p:txBody>
      </p:sp>
      <p:sp>
        <p:nvSpPr>
          <p:cNvPr id="30" name="Text 26"/>
          <p:cNvSpPr/>
          <p:nvPr/>
        </p:nvSpPr>
        <p:spPr>
          <a:xfrm>
            <a:off x="6217920" y="4114800"/>
            <a:ext cx="5120640" cy="1097280"/>
          </a:xfrm>
          <a:prstGeom prst="rect">
            <a:avLst/>
          </a:prstGeom>
          <a:noFill/>
          <a:ln/>
        </p:spPr>
        <p:txBody>
          <a:bodyPr wrap="square" lIns="0" tIns="0" rIns="0" bIns="0" rtlCol="0" anchor="ctr"/>
          <a:lstStyle/>
          <a:p>
            <a:pPr marL="0" indent="0">
              <a:lnSpc>
                <a:spcPct val="130000"/>
              </a:lnSpc>
              <a:buNone/>
            </a:pPr>
            <a:r>
              <a:rPr lang="en-US" sz="1200" dirty="0">
                <a:solidFill>
                  <a:srgbClr val="7A1F1C"/>
                </a:solidFill>
                <a:latin typeface="Calibri" pitchFamily="34" charset="0"/>
                <a:ea typeface="Calibri" pitchFamily="34" charset="-122"/>
                <a:cs typeface="Calibri" pitchFamily="34" charset="-120"/>
              </a:rPr>
              <a:t>Compte tenu de la nature simulée et bruitée des transactions d'usage, ce score illustre le fonctionnement de l'évaluation sur un jeu de données réel déséquilibré, où la classe des clients en résiliation reste minoritaire et difficile à isoler.</a:t>
            </a:r>
            <a:endParaRPr lang="en-US" sz="1200" dirty="0"/>
          </a:p>
        </p:txBody>
      </p:sp>
      <p:sp>
        <p:nvSpPr>
          <p:cNvPr id="31" name="Text 27"/>
          <p:cNvSpPr/>
          <p:nvPr/>
        </p:nvSpPr>
        <p:spPr>
          <a:xfrm>
            <a:off x="6217920" y="5257800"/>
            <a:ext cx="5120640" cy="822960"/>
          </a:xfrm>
          <a:prstGeom prst="rect">
            <a:avLst/>
          </a:prstGeom>
          <a:noFill/>
          <a:ln/>
        </p:spPr>
        <p:txBody>
          <a:bodyPr wrap="square" lIns="0" tIns="0" rIns="0" bIns="0" rtlCol="0" anchor="ctr"/>
          <a:lstStyle/>
          <a:p>
            <a:pPr marL="0" indent="0">
              <a:lnSpc>
                <a:spcPct val="125000"/>
              </a:lnSpc>
              <a:buNone/>
            </a:pPr>
            <a:r>
              <a:rPr lang="en-US" sz="1100" i="1" dirty="0">
                <a:solidFill>
                  <a:srgbClr val="7A1F1C"/>
                </a:solidFill>
                <a:latin typeface="Calibri" pitchFamily="34" charset="0"/>
                <a:ea typeface="Calibri" pitchFamily="34" charset="-122"/>
                <a:cs typeface="Calibri" pitchFamily="34" charset="-120"/>
              </a:rPr>
              <a:t>Sur 100 456 clients de test : 59 815 vrais négatifs, 4 781 vrais positifs, 23 159 faux positifs, 11 860 faux négatifs.</a:t>
            </a:r>
            <a:endParaRPr lang="en-US" sz="1100" dirty="0"/>
          </a:p>
        </p:txBody>
      </p:sp>
      <p:sp>
        <p:nvSpPr>
          <p:cNvPr id="32" name="Text 28"/>
          <p:cNvSpPr/>
          <p:nvPr/>
        </p:nvSpPr>
        <p:spPr>
          <a:xfrm>
            <a:off x="457200" y="6473952"/>
            <a:ext cx="7315200" cy="274320"/>
          </a:xfrm>
          <a:prstGeom prst="rect">
            <a:avLst/>
          </a:prstGeom>
          <a:noFill/>
          <a:ln/>
        </p:spPr>
        <p:txBody>
          <a:bodyPr wrap="square" lIns="0" tIns="0" rIns="0" bIns="0" rtlCol="0" anchor="ctr"/>
          <a:lstStyle/>
          <a:p>
            <a:pPr marL="0" indent="0" algn="l">
              <a:buNone/>
            </a:pPr>
            <a:r>
              <a:rPr lang="en-US" sz="900" dirty="0">
                <a:solidFill>
                  <a:srgbClr val="6B7080"/>
                </a:solidFill>
                <a:latin typeface="Calibri" pitchFamily="34" charset="0"/>
                <a:ea typeface="Calibri" pitchFamily="34" charset="-122"/>
                <a:cs typeface="Calibri" pitchFamily="34" charset="-120"/>
              </a:rPr>
              <a:t>Sahel Telecom - Documentation technique EDW</a:t>
            </a:r>
            <a:endParaRPr lang="en-US" sz="900" dirty="0"/>
          </a:p>
        </p:txBody>
      </p:sp>
      <p:sp>
        <p:nvSpPr>
          <p:cNvPr id="33" name="Text 29"/>
          <p:cNvSpPr/>
          <p:nvPr/>
        </p:nvSpPr>
        <p:spPr>
          <a:xfrm>
            <a:off x="11247120" y="6473952"/>
            <a:ext cx="457200" cy="274320"/>
          </a:xfrm>
          <a:prstGeom prst="rect">
            <a:avLst/>
          </a:prstGeom>
          <a:noFill/>
          <a:ln/>
        </p:spPr>
        <p:txBody>
          <a:bodyPr wrap="square" lIns="0" tIns="0" rIns="0" bIns="0" rtlCol="0" anchor="ctr"/>
          <a:lstStyle/>
          <a:p>
            <a:pPr marL="0" indent="0" algn="r">
              <a:buNone/>
            </a:pPr>
            <a:r>
              <a:rPr lang="en-US" sz="900" dirty="0">
                <a:solidFill>
                  <a:srgbClr val="6B7080"/>
                </a:solidFill>
                <a:latin typeface="Calibri" pitchFamily="34" charset="0"/>
                <a:ea typeface="Calibri" pitchFamily="34" charset="-122"/>
                <a:cs typeface="Calibri" pitchFamily="34" charset="-120"/>
              </a:rPr>
              <a:t>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47472"/>
            <a:ext cx="9144000" cy="274320"/>
          </a:xfrm>
          <a:prstGeom prst="rect">
            <a:avLst/>
          </a:prstGeom>
          <a:noFill/>
          <a:ln/>
        </p:spPr>
        <p:txBody>
          <a:bodyPr wrap="square" lIns="0" tIns="0" rIns="0" bIns="0" rtlCol="0" anchor="ctr"/>
          <a:lstStyle/>
          <a:p>
            <a:pPr marL="0" indent="0">
              <a:buNone/>
            </a:pPr>
            <a:r>
              <a:rPr lang="en-US" sz="1200" b="1" kern="0" spc="200" dirty="0">
                <a:solidFill>
                  <a:srgbClr val="3949AB"/>
                </a:solidFill>
                <a:latin typeface="Calibri" pitchFamily="34" charset="0"/>
                <a:ea typeface="Calibri" pitchFamily="34" charset="-122"/>
                <a:cs typeface="Calibri" pitchFamily="34" charset="-120"/>
              </a:rPr>
              <a:t>INTELLIGENCE ARTIFICIELLE</a:t>
            </a:r>
            <a:endParaRPr lang="en-US" sz="1200" dirty="0"/>
          </a:p>
        </p:txBody>
      </p:sp>
      <p:sp>
        <p:nvSpPr>
          <p:cNvPr id="3" name="Text 1"/>
          <p:cNvSpPr/>
          <p:nvPr/>
        </p:nvSpPr>
        <p:spPr>
          <a:xfrm>
            <a:off x="548640" y="603504"/>
            <a:ext cx="11064240" cy="685800"/>
          </a:xfrm>
          <a:prstGeom prst="rect">
            <a:avLst/>
          </a:prstGeom>
          <a:noFill/>
          <a:ln/>
        </p:spPr>
        <p:txBody>
          <a:bodyPr wrap="square" lIns="0" tIns="0" rIns="0" bIns="0" rtlCol="0" anchor="ctr"/>
          <a:lstStyle/>
          <a:p>
            <a:pPr marL="0" indent="0">
              <a:buNone/>
            </a:pPr>
            <a:r>
              <a:rPr lang="en-US" sz="3000" b="1" dirty="0">
                <a:solidFill>
                  <a:srgbClr val="1E2233"/>
                </a:solidFill>
                <a:latin typeface="Cambria" pitchFamily="34" charset="0"/>
                <a:ea typeface="Cambria" pitchFamily="34" charset="-122"/>
                <a:cs typeface="Cambria" pitchFamily="34" charset="-120"/>
              </a:rPr>
              <a:t>Explicabilité SHAP : importance des variables</a:t>
            </a:r>
            <a:endParaRPr lang="en-US" sz="3000" dirty="0"/>
          </a:p>
        </p:txBody>
      </p:sp>
      <p:sp>
        <p:nvSpPr>
          <p:cNvPr id="4" name="Text 2"/>
          <p:cNvSpPr/>
          <p:nvPr/>
        </p:nvSpPr>
        <p:spPr>
          <a:xfrm>
            <a:off x="548640" y="1371600"/>
            <a:ext cx="11064240" cy="411480"/>
          </a:xfrm>
          <a:prstGeom prst="rect">
            <a:avLst/>
          </a:prstGeom>
          <a:noFill/>
          <a:ln/>
        </p:spPr>
        <p:txBody>
          <a:bodyPr wrap="square" lIns="0" tIns="0" rIns="0" bIns="0" rtlCol="0" anchor="ctr"/>
          <a:lstStyle/>
          <a:p>
            <a:pPr marL="0" indent="0">
              <a:buNone/>
            </a:pPr>
            <a:r>
              <a:rPr lang="en-US" sz="1250" dirty="0">
                <a:solidFill>
                  <a:srgbClr val="6B7080"/>
                </a:solidFill>
                <a:latin typeface="Calibri" pitchFamily="34" charset="0"/>
                <a:ea typeface="Calibri" pitchFamily="34" charset="-122"/>
                <a:cs typeface="Calibri" pitchFamily="34" charset="-120"/>
              </a:rPr>
              <a:t>Pour expliquer les prédictions au niveau métier, les variables sont renommées en français avant la génération du graphique SHAP.</a:t>
            </a:r>
            <a:endParaRPr lang="en-US" sz="1250" dirty="0"/>
          </a:p>
        </p:txBody>
      </p:sp>
      <p:graphicFrame>
        <p:nvGraphicFramePr>
          <p:cNvPr id="5" name="Chart 0"/>
          <p:cNvGraphicFramePr/>
          <p:nvPr/>
        </p:nvGraphicFramePr>
        <p:xfrm>
          <a:off x="548640" y="1874520"/>
          <a:ext cx="6949440" cy="4572000"/>
        </p:xfrm>
        <a:graphic>
          <a:graphicData uri="http://schemas.openxmlformats.org/drawingml/2006/chart">
            <c:chart xmlns:c="http://schemas.openxmlformats.org/drawingml/2006/chart" xmlns:r="http://schemas.openxmlformats.org/officeDocument/2006/relationships" r:id="rId3"/>
          </a:graphicData>
        </a:graphic>
      </p:graphicFrame>
      <p:sp>
        <p:nvSpPr>
          <p:cNvPr id="6" name="Shape 3"/>
          <p:cNvSpPr/>
          <p:nvPr/>
        </p:nvSpPr>
        <p:spPr>
          <a:xfrm>
            <a:off x="7772400" y="1874520"/>
            <a:ext cx="3840480" cy="4572000"/>
          </a:xfrm>
          <a:prstGeom prst="roundRect">
            <a:avLst>
              <a:gd name="adj" fmla="val 1905"/>
            </a:avLst>
          </a:prstGeom>
          <a:solidFill>
            <a:srgbClr val="1A237E"/>
          </a:solidFill>
          <a:ln/>
          <a:effectLst>
            <a:outerShdw blurRad="127000" dist="38100" dir="5400000" algn="bl" rotWithShape="0">
              <a:srgbClr val="1A237E">
                <a:alpha val="14000"/>
              </a:srgbClr>
            </a:outerShdw>
          </a:effectLst>
        </p:spPr>
      </p:sp>
      <p:sp>
        <p:nvSpPr>
          <p:cNvPr id="7" name="Shape 4"/>
          <p:cNvSpPr/>
          <p:nvPr/>
        </p:nvSpPr>
        <p:spPr>
          <a:xfrm>
            <a:off x="8046720" y="2148840"/>
            <a:ext cx="502920" cy="502920"/>
          </a:xfrm>
          <a:prstGeom prst="ellipse">
            <a:avLst/>
          </a:prstGeom>
          <a:solidFill>
            <a:srgbClr val="3949AB"/>
          </a:solidFill>
          <a:ln/>
        </p:spPr>
      </p:sp>
      <p:pic>
        <p:nvPicPr>
          <p:cNvPr id="8" name="Image 0" descr="preencoded.png"/>
          <p:cNvPicPr>
            <a:picLocks noChangeAspect="1"/>
          </p:cNvPicPr>
          <p:nvPr/>
        </p:nvPicPr>
        <p:blipFill>
          <a:blip r:embed="rId4"/>
          <a:stretch>
            <a:fillRect/>
          </a:stretch>
        </p:blipFill>
        <p:spPr>
          <a:xfrm>
            <a:off x="8107070" y="2209190"/>
            <a:ext cx="382219" cy="382219"/>
          </a:xfrm>
          <a:prstGeom prst="rect">
            <a:avLst/>
          </a:prstGeom>
        </p:spPr>
      </p:pic>
      <p:sp>
        <p:nvSpPr>
          <p:cNvPr id="9" name="Text 5"/>
          <p:cNvSpPr/>
          <p:nvPr/>
        </p:nvSpPr>
        <p:spPr>
          <a:xfrm>
            <a:off x="8686800" y="2212848"/>
            <a:ext cx="2743200" cy="365760"/>
          </a:xfrm>
          <a:prstGeom prst="rect">
            <a:avLst/>
          </a:prstGeom>
          <a:noFill/>
          <a:ln/>
        </p:spPr>
        <p:txBody>
          <a:bodyPr wrap="square" lIns="0" tIns="0" rIns="0" bIns="0" rtlCol="0" anchor="ctr"/>
          <a:lstStyle/>
          <a:p>
            <a:pPr marL="0" indent="0">
              <a:buNone/>
            </a:pPr>
            <a:r>
              <a:rPr lang="en-US" sz="1400" b="1" dirty="0">
                <a:solidFill>
                  <a:srgbClr val="FFFFFF"/>
                </a:solidFill>
                <a:latin typeface="Cambria" pitchFamily="34" charset="0"/>
                <a:ea typeface="Cambria" pitchFamily="34" charset="-122"/>
                <a:cs typeface="Cambria" pitchFamily="34" charset="-120"/>
              </a:rPr>
              <a:t>Lecture des résultats</a:t>
            </a:r>
            <a:endParaRPr lang="en-US" sz="1400" dirty="0"/>
          </a:p>
        </p:txBody>
      </p:sp>
      <p:sp>
        <p:nvSpPr>
          <p:cNvPr id="10" name="Shape 6"/>
          <p:cNvSpPr/>
          <p:nvPr/>
        </p:nvSpPr>
        <p:spPr>
          <a:xfrm>
            <a:off x="8046720" y="2798064"/>
            <a:ext cx="109728" cy="109728"/>
          </a:xfrm>
          <a:prstGeom prst="ellipse">
            <a:avLst/>
          </a:prstGeom>
          <a:solidFill>
            <a:srgbClr val="F9A825"/>
          </a:solidFill>
          <a:ln/>
        </p:spPr>
      </p:sp>
      <p:sp>
        <p:nvSpPr>
          <p:cNvPr id="11" name="Text 7"/>
          <p:cNvSpPr/>
          <p:nvPr/>
        </p:nvSpPr>
        <p:spPr>
          <a:xfrm>
            <a:off x="8275320" y="2670048"/>
            <a:ext cx="3200400" cy="777240"/>
          </a:xfrm>
          <a:prstGeom prst="rect">
            <a:avLst/>
          </a:prstGeom>
          <a:noFill/>
          <a:ln/>
        </p:spPr>
        <p:txBody>
          <a:bodyPr wrap="square" lIns="0" tIns="0" rIns="0" bIns="0" rtlCol="0" anchor="ctr"/>
          <a:lstStyle/>
          <a:p>
            <a:pPr marL="0" indent="0">
              <a:lnSpc>
                <a:spcPct val="125000"/>
              </a:lnSpc>
              <a:buNone/>
            </a:pPr>
            <a:r>
              <a:rPr lang="en-US" sz="1150" dirty="0">
                <a:solidFill>
                  <a:srgbClr val="E4E7FA"/>
                </a:solidFill>
                <a:latin typeface="Calibri" pitchFamily="34" charset="0"/>
                <a:ea typeface="Calibri" pitchFamily="34" charset="-122"/>
                <a:cs typeface="Calibri" pitchFamily="34" charset="-120"/>
              </a:rPr>
              <a:t>Le genre, le segment client et l'âge dominent très largement la décision du modèle.</a:t>
            </a:r>
            <a:endParaRPr lang="en-US" sz="1150" dirty="0"/>
          </a:p>
        </p:txBody>
      </p:sp>
      <p:sp>
        <p:nvSpPr>
          <p:cNvPr id="12" name="Shape 8"/>
          <p:cNvSpPr/>
          <p:nvPr/>
        </p:nvSpPr>
        <p:spPr>
          <a:xfrm>
            <a:off x="8046720" y="3758184"/>
            <a:ext cx="109728" cy="109728"/>
          </a:xfrm>
          <a:prstGeom prst="ellipse">
            <a:avLst/>
          </a:prstGeom>
          <a:solidFill>
            <a:srgbClr val="F9A825"/>
          </a:solidFill>
          <a:ln/>
        </p:spPr>
      </p:sp>
      <p:sp>
        <p:nvSpPr>
          <p:cNvPr id="13" name="Text 9"/>
          <p:cNvSpPr/>
          <p:nvPr/>
        </p:nvSpPr>
        <p:spPr>
          <a:xfrm>
            <a:off x="8275320" y="3630168"/>
            <a:ext cx="3200400" cy="777240"/>
          </a:xfrm>
          <a:prstGeom prst="rect">
            <a:avLst/>
          </a:prstGeom>
          <a:noFill/>
          <a:ln/>
        </p:spPr>
        <p:txBody>
          <a:bodyPr wrap="square" lIns="0" tIns="0" rIns="0" bIns="0" rtlCol="0" anchor="ctr"/>
          <a:lstStyle/>
          <a:p>
            <a:pPr marL="0" indent="0">
              <a:lnSpc>
                <a:spcPct val="125000"/>
              </a:lnSpc>
              <a:buNone/>
            </a:pPr>
            <a:r>
              <a:rPr lang="en-US" sz="1150" dirty="0">
                <a:solidFill>
                  <a:srgbClr val="E4E7FA"/>
                </a:solidFill>
                <a:latin typeface="Calibri" pitchFamily="34" charset="0"/>
                <a:ea typeface="Calibri" pitchFamily="34" charset="-122"/>
                <a:cs typeface="Calibri" pitchFamily="34" charset="-120"/>
              </a:rPr>
              <a:t>Les pannes réseau subies arrivent en 4ᵉ position : la qualité de service influence la fidélité.</a:t>
            </a:r>
            <a:endParaRPr lang="en-US" sz="1150" dirty="0"/>
          </a:p>
        </p:txBody>
      </p:sp>
      <p:sp>
        <p:nvSpPr>
          <p:cNvPr id="14" name="Shape 10"/>
          <p:cNvSpPr/>
          <p:nvPr/>
        </p:nvSpPr>
        <p:spPr>
          <a:xfrm>
            <a:off x="8046720" y="4718304"/>
            <a:ext cx="109728" cy="109728"/>
          </a:xfrm>
          <a:prstGeom prst="ellipse">
            <a:avLst/>
          </a:prstGeom>
          <a:solidFill>
            <a:srgbClr val="F9A825"/>
          </a:solidFill>
          <a:ln/>
        </p:spPr>
      </p:sp>
      <p:sp>
        <p:nvSpPr>
          <p:cNvPr id="15" name="Text 11"/>
          <p:cNvSpPr/>
          <p:nvPr/>
        </p:nvSpPr>
        <p:spPr>
          <a:xfrm>
            <a:off x="8275320" y="4590288"/>
            <a:ext cx="3200400" cy="777240"/>
          </a:xfrm>
          <a:prstGeom prst="rect">
            <a:avLst/>
          </a:prstGeom>
          <a:noFill/>
          <a:ln/>
        </p:spPr>
        <p:txBody>
          <a:bodyPr wrap="square" lIns="0" tIns="0" rIns="0" bIns="0" rtlCol="0" anchor="ctr"/>
          <a:lstStyle/>
          <a:p>
            <a:pPr marL="0" indent="0">
              <a:lnSpc>
                <a:spcPct val="125000"/>
              </a:lnSpc>
              <a:buNone/>
            </a:pPr>
            <a:r>
              <a:rPr lang="en-US" sz="1150" dirty="0">
                <a:solidFill>
                  <a:srgbClr val="E4E7FA"/>
                </a:solidFill>
                <a:latin typeface="Calibri" pitchFamily="34" charset="0"/>
                <a:ea typeface="Calibri" pitchFamily="34" charset="-122"/>
                <a:cs typeface="Calibri" pitchFamily="34" charset="-120"/>
              </a:rPr>
              <a:t>Les variables purement techniques (durée d'appel, volume data) pèsent peu dans ce modèle.</a:t>
            </a:r>
            <a:endParaRPr lang="en-US" sz="1150" dirty="0"/>
          </a:p>
        </p:txBody>
      </p:sp>
      <p:sp>
        <p:nvSpPr>
          <p:cNvPr id="16" name="Text 12"/>
          <p:cNvSpPr/>
          <p:nvPr/>
        </p:nvSpPr>
        <p:spPr>
          <a:xfrm>
            <a:off x="457200" y="6473952"/>
            <a:ext cx="7315200" cy="274320"/>
          </a:xfrm>
          <a:prstGeom prst="rect">
            <a:avLst/>
          </a:prstGeom>
          <a:noFill/>
          <a:ln/>
        </p:spPr>
        <p:txBody>
          <a:bodyPr wrap="square" lIns="0" tIns="0" rIns="0" bIns="0" rtlCol="0" anchor="ctr"/>
          <a:lstStyle/>
          <a:p>
            <a:pPr marL="0" indent="0" algn="l">
              <a:buNone/>
            </a:pPr>
            <a:r>
              <a:rPr lang="en-US" sz="900" dirty="0">
                <a:solidFill>
                  <a:srgbClr val="6B7080"/>
                </a:solidFill>
                <a:latin typeface="Calibri" pitchFamily="34" charset="0"/>
                <a:ea typeface="Calibri" pitchFamily="34" charset="-122"/>
                <a:cs typeface="Calibri" pitchFamily="34" charset="-120"/>
              </a:rPr>
              <a:t>Sahel Telecom - Documentation technique EDW</a:t>
            </a:r>
            <a:endParaRPr lang="en-US" sz="900" dirty="0"/>
          </a:p>
        </p:txBody>
      </p:sp>
      <p:sp>
        <p:nvSpPr>
          <p:cNvPr id="17" name="Text 13"/>
          <p:cNvSpPr/>
          <p:nvPr/>
        </p:nvSpPr>
        <p:spPr>
          <a:xfrm>
            <a:off x="11247120" y="6473952"/>
            <a:ext cx="457200" cy="274320"/>
          </a:xfrm>
          <a:prstGeom prst="rect">
            <a:avLst/>
          </a:prstGeom>
          <a:noFill/>
          <a:ln/>
        </p:spPr>
        <p:txBody>
          <a:bodyPr wrap="square" lIns="0" tIns="0" rIns="0" bIns="0" rtlCol="0" anchor="ctr"/>
          <a:lstStyle/>
          <a:p>
            <a:pPr marL="0" indent="0" algn="r">
              <a:buNone/>
            </a:pPr>
            <a:r>
              <a:rPr lang="en-US" sz="900" dirty="0">
                <a:solidFill>
                  <a:srgbClr val="6B7080"/>
                </a:solidFill>
                <a:latin typeface="Calibri" pitchFamily="34" charset="0"/>
                <a:ea typeface="Calibri" pitchFamily="34" charset="-122"/>
                <a:cs typeface="Calibri" pitchFamily="34" charset="-120"/>
              </a:rPr>
              <a:t>11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47472"/>
            <a:ext cx="9144000" cy="274320"/>
          </a:xfrm>
          <a:prstGeom prst="rect">
            <a:avLst/>
          </a:prstGeom>
          <a:noFill/>
          <a:ln/>
        </p:spPr>
        <p:txBody>
          <a:bodyPr wrap="square" lIns="0" tIns="0" rIns="0" bIns="0" rtlCol="0" anchor="ctr"/>
          <a:lstStyle/>
          <a:p>
            <a:pPr marL="0" indent="0">
              <a:buNone/>
            </a:pPr>
            <a:r>
              <a:rPr lang="en-US" sz="1200" b="1" kern="0" spc="200" dirty="0">
                <a:solidFill>
                  <a:srgbClr val="3949AB"/>
                </a:solidFill>
                <a:latin typeface="Calibri" pitchFamily="34" charset="0"/>
                <a:ea typeface="Calibri" pitchFamily="34" charset="-122"/>
                <a:cs typeface="Calibri" pitchFamily="34" charset="-120"/>
              </a:rPr>
              <a:t>RESTITUTION BI</a:t>
            </a:r>
            <a:endParaRPr lang="en-US" sz="1200" dirty="0"/>
          </a:p>
        </p:txBody>
      </p:sp>
      <p:sp>
        <p:nvSpPr>
          <p:cNvPr id="3" name="Text 1"/>
          <p:cNvSpPr/>
          <p:nvPr/>
        </p:nvSpPr>
        <p:spPr>
          <a:xfrm>
            <a:off x="548640" y="603504"/>
            <a:ext cx="11064240" cy="685800"/>
          </a:xfrm>
          <a:prstGeom prst="rect">
            <a:avLst/>
          </a:prstGeom>
          <a:noFill/>
          <a:ln/>
        </p:spPr>
        <p:txBody>
          <a:bodyPr wrap="square" lIns="0" tIns="0" rIns="0" bIns="0" rtlCol="0" anchor="ctr"/>
          <a:lstStyle/>
          <a:p>
            <a:pPr marL="0" indent="0">
              <a:buNone/>
            </a:pPr>
            <a:r>
              <a:rPr lang="en-US" sz="3000" b="1" dirty="0">
                <a:solidFill>
                  <a:srgbClr val="1E2233"/>
                </a:solidFill>
                <a:latin typeface="Cambria" pitchFamily="34" charset="0"/>
                <a:ea typeface="Cambria" pitchFamily="34" charset="-122"/>
                <a:cs typeface="Cambria" pitchFamily="34" charset="-120"/>
              </a:rPr>
              <a:t>Le Dashboard Streamlit : quatre pages décisionnelles</a:t>
            </a:r>
            <a:endParaRPr lang="en-US" sz="3000" dirty="0"/>
          </a:p>
        </p:txBody>
      </p:sp>
      <p:sp>
        <p:nvSpPr>
          <p:cNvPr id="4" name="Text 2"/>
          <p:cNvSpPr/>
          <p:nvPr/>
        </p:nvSpPr>
        <p:spPr>
          <a:xfrm>
            <a:off x="548640" y="1371600"/>
            <a:ext cx="11064240" cy="411480"/>
          </a:xfrm>
          <a:prstGeom prst="rect">
            <a:avLst/>
          </a:prstGeom>
          <a:noFill/>
          <a:ln/>
        </p:spPr>
        <p:txBody>
          <a:bodyPr wrap="square" lIns="0" tIns="0" rIns="0" bIns="0" rtlCol="0" anchor="ctr"/>
          <a:lstStyle/>
          <a:p>
            <a:pPr marL="0" indent="0">
              <a:buNone/>
            </a:pPr>
            <a:r>
              <a:rPr lang="en-US" sz="1250" dirty="0">
                <a:solidFill>
                  <a:srgbClr val="6B7080"/>
                </a:solidFill>
                <a:latin typeface="Calibri" pitchFamily="34" charset="0"/>
                <a:ea typeface="Calibri" pitchFamily="34" charset="-122"/>
                <a:cs typeface="Calibri" pitchFamily="34" charset="-120"/>
              </a:rPr>
              <a:t>Interface épurée (police Inter, fond #f4f6fa, sidebar en dégradé indigo) connectée en direct aux 7 tables de KPI matérialisées via pymysql.</a:t>
            </a:r>
            <a:endParaRPr lang="en-US" sz="1250" dirty="0"/>
          </a:p>
        </p:txBody>
      </p:sp>
      <p:sp>
        <p:nvSpPr>
          <p:cNvPr id="5" name="Shape 3"/>
          <p:cNvSpPr/>
          <p:nvPr/>
        </p:nvSpPr>
        <p:spPr>
          <a:xfrm>
            <a:off x="548640" y="1965960"/>
            <a:ext cx="5440680" cy="2148840"/>
          </a:xfrm>
          <a:prstGeom prst="roundRect">
            <a:avLst>
              <a:gd name="adj" fmla="val 3404"/>
            </a:avLst>
          </a:prstGeom>
          <a:solidFill>
            <a:srgbClr val="EEF0FA"/>
          </a:solidFill>
          <a:ln/>
          <a:effectLst>
            <a:outerShdw blurRad="127000" dist="38100" dir="5400000" algn="bl" rotWithShape="0">
              <a:srgbClr val="1A237E">
                <a:alpha val="14000"/>
              </a:srgbClr>
            </a:outerShdw>
          </a:effectLst>
        </p:spPr>
      </p:sp>
      <p:sp>
        <p:nvSpPr>
          <p:cNvPr id="6" name="Shape 4"/>
          <p:cNvSpPr/>
          <p:nvPr/>
        </p:nvSpPr>
        <p:spPr>
          <a:xfrm>
            <a:off x="804672" y="2221992"/>
            <a:ext cx="566928" cy="566928"/>
          </a:xfrm>
          <a:prstGeom prst="ellipse">
            <a:avLst/>
          </a:prstGeom>
          <a:solidFill>
            <a:srgbClr val="1A237E"/>
          </a:solidFill>
          <a:ln/>
        </p:spPr>
      </p:sp>
      <p:pic>
        <p:nvPicPr>
          <p:cNvPr id="7" name="Image 0" descr="preencoded.png"/>
          <p:cNvPicPr>
            <a:picLocks noChangeAspect="1"/>
          </p:cNvPicPr>
          <p:nvPr/>
        </p:nvPicPr>
        <p:blipFill>
          <a:blip r:embed="rId3"/>
          <a:stretch>
            <a:fillRect/>
          </a:stretch>
        </p:blipFill>
        <p:spPr>
          <a:xfrm>
            <a:off x="872703" y="2290023"/>
            <a:ext cx="430865" cy="430865"/>
          </a:xfrm>
          <a:prstGeom prst="rect">
            <a:avLst/>
          </a:prstGeom>
        </p:spPr>
      </p:pic>
      <p:sp>
        <p:nvSpPr>
          <p:cNvPr id="8" name="Text 5"/>
          <p:cNvSpPr/>
          <p:nvPr/>
        </p:nvSpPr>
        <p:spPr>
          <a:xfrm>
            <a:off x="1554480" y="2240280"/>
            <a:ext cx="4160520" cy="365760"/>
          </a:xfrm>
          <a:prstGeom prst="rect">
            <a:avLst/>
          </a:prstGeom>
          <a:noFill/>
          <a:ln/>
        </p:spPr>
        <p:txBody>
          <a:bodyPr wrap="square" lIns="0" tIns="0" rIns="0" bIns="0" rtlCol="0" anchor="ctr"/>
          <a:lstStyle/>
          <a:p>
            <a:pPr marL="0" indent="0">
              <a:buNone/>
            </a:pPr>
            <a:r>
              <a:rPr lang="en-US" sz="1500" b="1" dirty="0">
                <a:solidFill>
                  <a:srgbClr val="1E2233"/>
                </a:solidFill>
                <a:latin typeface="Cambria" pitchFamily="34" charset="0"/>
                <a:ea typeface="Cambria" pitchFamily="34" charset="-122"/>
                <a:cs typeface="Cambria" pitchFamily="34" charset="-120"/>
              </a:rPr>
              <a:t>1 · Vue d'ensemble</a:t>
            </a:r>
            <a:endParaRPr lang="en-US" sz="1500" dirty="0"/>
          </a:p>
        </p:txBody>
      </p:sp>
      <p:sp>
        <p:nvSpPr>
          <p:cNvPr id="9" name="Text 6"/>
          <p:cNvSpPr/>
          <p:nvPr/>
        </p:nvSpPr>
        <p:spPr>
          <a:xfrm>
            <a:off x="804672" y="2926080"/>
            <a:ext cx="4928616" cy="1097280"/>
          </a:xfrm>
          <a:prstGeom prst="rect">
            <a:avLst/>
          </a:prstGeom>
          <a:noFill/>
          <a:ln/>
        </p:spPr>
        <p:txBody>
          <a:bodyPr wrap="square" lIns="0" tIns="0" rIns="0" bIns="0" rtlCol="0" anchor="ctr"/>
          <a:lstStyle/>
          <a:p>
            <a:pPr marL="0" indent="0">
              <a:lnSpc>
                <a:spcPct val="125000"/>
              </a:lnSpc>
              <a:buNone/>
            </a:pPr>
            <a:r>
              <a:rPr lang="en-US" sz="1150" dirty="0">
                <a:solidFill>
                  <a:srgbClr val="6B7080"/>
                </a:solidFill>
                <a:latin typeface="Calibri" pitchFamily="34" charset="0"/>
                <a:ea typeface="Calibri" pitchFamily="34" charset="-122"/>
                <a:cs typeface="Calibri" pitchFamily="34" charset="-120"/>
              </a:rPr>
              <a:t>Revenu total, ARPU, taux de churn, filtres Pays / Segment, courbes d'évolution mensuelle.</a:t>
            </a:r>
            <a:endParaRPr lang="en-US" sz="1150" dirty="0"/>
          </a:p>
        </p:txBody>
      </p:sp>
      <p:sp>
        <p:nvSpPr>
          <p:cNvPr id="10" name="Shape 7"/>
          <p:cNvSpPr/>
          <p:nvPr/>
        </p:nvSpPr>
        <p:spPr>
          <a:xfrm>
            <a:off x="6263640" y="1965960"/>
            <a:ext cx="5440680" cy="2148840"/>
          </a:xfrm>
          <a:prstGeom prst="roundRect">
            <a:avLst>
              <a:gd name="adj" fmla="val 3404"/>
            </a:avLst>
          </a:prstGeom>
          <a:solidFill>
            <a:srgbClr val="EEF0FA"/>
          </a:solidFill>
          <a:ln/>
          <a:effectLst>
            <a:outerShdw blurRad="127000" dist="38100" dir="5400000" algn="bl" rotWithShape="0">
              <a:srgbClr val="1A237E">
                <a:alpha val="14000"/>
              </a:srgbClr>
            </a:outerShdw>
          </a:effectLst>
        </p:spPr>
      </p:sp>
      <p:sp>
        <p:nvSpPr>
          <p:cNvPr id="11" name="Shape 8"/>
          <p:cNvSpPr/>
          <p:nvPr/>
        </p:nvSpPr>
        <p:spPr>
          <a:xfrm>
            <a:off x="6519672" y="2221992"/>
            <a:ext cx="566928" cy="566928"/>
          </a:xfrm>
          <a:prstGeom prst="ellipse">
            <a:avLst/>
          </a:prstGeom>
          <a:solidFill>
            <a:srgbClr val="1A237E"/>
          </a:solidFill>
          <a:ln/>
        </p:spPr>
      </p:sp>
      <p:pic>
        <p:nvPicPr>
          <p:cNvPr id="12" name="Image 1" descr="preencoded.png"/>
          <p:cNvPicPr>
            <a:picLocks noChangeAspect="1"/>
          </p:cNvPicPr>
          <p:nvPr/>
        </p:nvPicPr>
        <p:blipFill>
          <a:blip r:embed="rId4"/>
          <a:stretch>
            <a:fillRect/>
          </a:stretch>
        </p:blipFill>
        <p:spPr>
          <a:xfrm>
            <a:off x="6587703" y="2290023"/>
            <a:ext cx="430865" cy="430865"/>
          </a:xfrm>
          <a:prstGeom prst="rect">
            <a:avLst/>
          </a:prstGeom>
        </p:spPr>
      </p:pic>
      <p:sp>
        <p:nvSpPr>
          <p:cNvPr id="13" name="Text 9"/>
          <p:cNvSpPr/>
          <p:nvPr/>
        </p:nvSpPr>
        <p:spPr>
          <a:xfrm>
            <a:off x="7269480" y="2240280"/>
            <a:ext cx="4160520" cy="365760"/>
          </a:xfrm>
          <a:prstGeom prst="rect">
            <a:avLst/>
          </a:prstGeom>
          <a:noFill/>
          <a:ln/>
        </p:spPr>
        <p:txBody>
          <a:bodyPr wrap="square" lIns="0" tIns="0" rIns="0" bIns="0" rtlCol="0" anchor="ctr"/>
          <a:lstStyle/>
          <a:p>
            <a:pPr marL="0" indent="0">
              <a:buNone/>
            </a:pPr>
            <a:r>
              <a:rPr lang="en-US" sz="1500" b="1" dirty="0">
                <a:solidFill>
                  <a:srgbClr val="1E2233"/>
                </a:solidFill>
                <a:latin typeface="Cambria" pitchFamily="34" charset="0"/>
                <a:ea typeface="Cambria" pitchFamily="34" charset="-122"/>
                <a:cs typeface="Cambria" pitchFamily="34" charset="-120"/>
              </a:rPr>
              <a:t>2 · Réseau &amp; antennes</a:t>
            </a:r>
            <a:endParaRPr lang="en-US" sz="1500" dirty="0"/>
          </a:p>
        </p:txBody>
      </p:sp>
      <p:sp>
        <p:nvSpPr>
          <p:cNvPr id="14" name="Text 10"/>
          <p:cNvSpPr/>
          <p:nvPr/>
        </p:nvSpPr>
        <p:spPr>
          <a:xfrm>
            <a:off x="6519672" y="2926080"/>
            <a:ext cx="4928616" cy="1097280"/>
          </a:xfrm>
          <a:prstGeom prst="rect">
            <a:avLst/>
          </a:prstGeom>
          <a:noFill/>
          <a:ln/>
        </p:spPr>
        <p:txBody>
          <a:bodyPr wrap="square" lIns="0" tIns="0" rIns="0" bIns="0" rtlCol="0" anchor="ctr"/>
          <a:lstStyle/>
          <a:p>
            <a:pPr marL="0" indent="0">
              <a:lnSpc>
                <a:spcPct val="125000"/>
              </a:lnSpc>
              <a:buNone/>
            </a:pPr>
            <a:r>
              <a:rPr lang="en-US" sz="1150" dirty="0">
                <a:solidFill>
                  <a:srgbClr val="6B7080"/>
                </a:solidFill>
                <a:latin typeface="Calibri" pitchFamily="34" charset="0"/>
                <a:ea typeface="Calibri" pitchFamily="34" charset="-122"/>
                <a:cs typeface="Calibri" pitchFamily="34" charset="-120"/>
              </a:rPr>
              <a:t>Saturation par technologie (alerte &gt; 80%), volume data par région, incidents et MTR.</a:t>
            </a:r>
            <a:endParaRPr lang="en-US" sz="1150" dirty="0"/>
          </a:p>
        </p:txBody>
      </p:sp>
      <p:sp>
        <p:nvSpPr>
          <p:cNvPr id="15" name="Shape 11"/>
          <p:cNvSpPr/>
          <p:nvPr/>
        </p:nvSpPr>
        <p:spPr>
          <a:xfrm>
            <a:off x="548640" y="4370832"/>
            <a:ext cx="5440680" cy="2148840"/>
          </a:xfrm>
          <a:prstGeom prst="roundRect">
            <a:avLst>
              <a:gd name="adj" fmla="val 3404"/>
            </a:avLst>
          </a:prstGeom>
          <a:solidFill>
            <a:srgbClr val="EEF0FA"/>
          </a:solidFill>
          <a:ln/>
          <a:effectLst>
            <a:outerShdw blurRad="127000" dist="38100" dir="5400000" algn="bl" rotWithShape="0">
              <a:srgbClr val="1A237E">
                <a:alpha val="14000"/>
              </a:srgbClr>
            </a:outerShdw>
          </a:effectLst>
        </p:spPr>
      </p:sp>
      <p:sp>
        <p:nvSpPr>
          <p:cNvPr id="16" name="Shape 12"/>
          <p:cNvSpPr/>
          <p:nvPr/>
        </p:nvSpPr>
        <p:spPr>
          <a:xfrm>
            <a:off x="804672" y="4626864"/>
            <a:ext cx="566928" cy="566928"/>
          </a:xfrm>
          <a:prstGeom prst="ellipse">
            <a:avLst/>
          </a:prstGeom>
          <a:solidFill>
            <a:srgbClr val="1A237E"/>
          </a:solidFill>
          <a:ln/>
        </p:spPr>
      </p:sp>
      <p:pic>
        <p:nvPicPr>
          <p:cNvPr id="17" name="Image 2" descr="preencoded.png"/>
          <p:cNvPicPr>
            <a:picLocks noChangeAspect="1"/>
          </p:cNvPicPr>
          <p:nvPr/>
        </p:nvPicPr>
        <p:blipFill>
          <a:blip r:embed="rId5"/>
          <a:stretch>
            <a:fillRect/>
          </a:stretch>
        </p:blipFill>
        <p:spPr>
          <a:xfrm>
            <a:off x="872703" y="4694895"/>
            <a:ext cx="430865" cy="430865"/>
          </a:xfrm>
          <a:prstGeom prst="rect">
            <a:avLst/>
          </a:prstGeom>
        </p:spPr>
      </p:pic>
      <p:sp>
        <p:nvSpPr>
          <p:cNvPr id="18" name="Text 13"/>
          <p:cNvSpPr/>
          <p:nvPr/>
        </p:nvSpPr>
        <p:spPr>
          <a:xfrm>
            <a:off x="1554480" y="4645152"/>
            <a:ext cx="4160520" cy="365760"/>
          </a:xfrm>
          <a:prstGeom prst="rect">
            <a:avLst/>
          </a:prstGeom>
          <a:noFill/>
          <a:ln/>
        </p:spPr>
        <p:txBody>
          <a:bodyPr wrap="square" lIns="0" tIns="0" rIns="0" bIns="0" rtlCol="0" anchor="ctr"/>
          <a:lstStyle/>
          <a:p>
            <a:pPr marL="0" indent="0">
              <a:buNone/>
            </a:pPr>
            <a:r>
              <a:rPr lang="en-US" sz="1500" b="1" dirty="0">
                <a:solidFill>
                  <a:srgbClr val="1E2233"/>
                </a:solidFill>
                <a:latin typeface="Cambria" pitchFamily="34" charset="0"/>
                <a:ea typeface="Cambria" pitchFamily="34" charset="-122"/>
                <a:cs typeface="Cambria" pitchFamily="34" charset="-120"/>
              </a:rPr>
              <a:t>3 · Offres &amp; abonnements</a:t>
            </a:r>
            <a:endParaRPr lang="en-US" sz="1500" dirty="0"/>
          </a:p>
        </p:txBody>
      </p:sp>
      <p:sp>
        <p:nvSpPr>
          <p:cNvPr id="19" name="Text 14"/>
          <p:cNvSpPr/>
          <p:nvPr/>
        </p:nvSpPr>
        <p:spPr>
          <a:xfrm>
            <a:off x="804672" y="5330952"/>
            <a:ext cx="4928616" cy="1097280"/>
          </a:xfrm>
          <a:prstGeom prst="rect">
            <a:avLst/>
          </a:prstGeom>
          <a:noFill/>
          <a:ln/>
        </p:spPr>
        <p:txBody>
          <a:bodyPr wrap="square" lIns="0" tIns="0" rIns="0" bIns="0" rtlCol="0" anchor="ctr"/>
          <a:lstStyle/>
          <a:p>
            <a:pPr marL="0" indent="0">
              <a:lnSpc>
                <a:spcPct val="125000"/>
              </a:lnSpc>
              <a:buNone/>
            </a:pPr>
            <a:r>
              <a:rPr lang="en-US" sz="1150" dirty="0">
                <a:solidFill>
                  <a:srgbClr val="6B7080"/>
                </a:solidFill>
                <a:latin typeface="Calibri" pitchFamily="34" charset="0"/>
                <a:ea typeface="Calibri" pitchFamily="34" charset="-122"/>
                <a:cs typeface="Calibri" pitchFamily="34" charset="-120"/>
              </a:rPr>
              <a:t>Taux de rétention par forfait, répartition Prépayé/Postpayé/Entreprise, durée d'appels.</a:t>
            </a:r>
            <a:endParaRPr lang="en-US" sz="1150" dirty="0"/>
          </a:p>
        </p:txBody>
      </p:sp>
      <p:sp>
        <p:nvSpPr>
          <p:cNvPr id="20" name="Shape 15"/>
          <p:cNvSpPr/>
          <p:nvPr/>
        </p:nvSpPr>
        <p:spPr>
          <a:xfrm>
            <a:off x="6263640" y="4370832"/>
            <a:ext cx="5440680" cy="2148840"/>
          </a:xfrm>
          <a:prstGeom prst="roundRect">
            <a:avLst>
              <a:gd name="adj" fmla="val 3404"/>
            </a:avLst>
          </a:prstGeom>
          <a:solidFill>
            <a:srgbClr val="EEF0FA"/>
          </a:solidFill>
          <a:ln/>
          <a:effectLst>
            <a:outerShdw blurRad="127000" dist="38100" dir="5400000" algn="bl" rotWithShape="0">
              <a:srgbClr val="1A237E">
                <a:alpha val="14000"/>
              </a:srgbClr>
            </a:outerShdw>
          </a:effectLst>
        </p:spPr>
      </p:sp>
      <p:sp>
        <p:nvSpPr>
          <p:cNvPr id="21" name="Shape 16"/>
          <p:cNvSpPr/>
          <p:nvPr/>
        </p:nvSpPr>
        <p:spPr>
          <a:xfrm>
            <a:off x="6519672" y="4626864"/>
            <a:ext cx="566928" cy="566928"/>
          </a:xfrm>
          <a:prstGeom prst="ellipse">
            <a:avLst/>
          </a:prstGeom>
          <a:solidFill>
            <a:srgbClr val="1A237E"/>
          </a:solidFill>
          <a:ln/>
        </p:spPr>
      </p:sp>
      <p:pic>
        <p:nvPicPr>
          <p:cNvPr id="22" name="Image 3" descr="preencoded.png"/>
          <p:cNvPicPr>
            <a:picLocks noChangeAspect="1"/>
          </p:cNvPicPr>
          <p:nvPr/>
        </p:nvPicPr>
        <p:blipFill>
          <a:blip r:embed="rId6"/>
          <a:stretch>
            <a:fillRect/>
          </a:stretch>
        </p:blipFill>
        <p:spPr>
          <a:xfrm>
            <a:off x="6587703" y="4694895"/>
            <a:ext cx="430865" cy="430865"/>
          </a:xfrm>
          <a:prstGeom prst="rect">
            <a:avLst/>
          </a:prstGeom>
        </p:spPr>
      </p:pic>
      <p:sp>
        <p:nvSpPr>
          <p:cNvPr id="23" name="Text 17"/>
          <p:cNvSpPr/>
          <p:nvPr/>
        </p:nvSpPr>
        <p:spPr>
          <a:xfrm>
            <a:off x="7269480" y="4645152"/>
            <a:ext cx="4160520" cy="365760"/>
          </a:xfrm>
          <a:prstGeom prst="rect">
            <a:avLst/>
          </a:prstGeom>
          <a:noFill/>
          <a:ln/>
        </p:spPr>
        <p:txBody>
          <a:bodyPr wrap="square" lIns="0" tIns="0" rIns="0" bIns="0" rtlCol="0" anchor="ctr"/>
          <a:lstStyle/>
          <a:p>
            <a:pPr marL="0" indent="0">
              <a:buNone/>
            </a:pPr>
            <a:r>
              <a:rPr lang="en-US" sz="1500" b="1" dirty="0">
                <a:solidFill>
                  <a:srgbClr val="1E2233"/>
                </a:solidFill>
                <a:latin typeface="Cambria" pitchFamily="34" charset="0"/>
                <a:ea typeface="Cambria" pitchFamily="34" charset="-122"/>
                <a:cs typeface="Cambria" pitchFamily="34" charset="-120"/>
              </a:rPr>
              <a:t>4 · Prédiction IA - churn</a:t>
            </a:r>
            <a:endParaRPr lang="en-US" sz="1500" dirty="0"/>
          </a:p>
        </p:txBody>
      </p:sp>
      <p:sp>
        <p:nvSpPr>
          <p:cNvPr id="24" name="Text 18"/>
          <p:cNvSpPr/>
          <p:nvPr/>
        </p:nvSpPr>
        <p:spPr>
          <a:xfrm>
            <a:off x="6519672" y="5330952"/>
            <a:ext cx="4928616" cy="1097280"/>
          </a:xfrm>
          <a:prstGeom prst="rect">
            <a:avLst/>
          </a:prstGeom>
          <a:noFill/>
          <a:ln/>
        </p:spPr>
        <p:txBody>
          <a:bodyPr wrap="square" lIns="0" tIns="0" rIns="0" bIns="0" rtlCol="0" anchor="ctr"/>
          <a:lstStyle/>
          <a:p>
            <a:pPr marL="0" indent="0">
              <a:lnSpc>
                <a:spcPct val="125000"/>
              </a:lnSpc>
              <a:buNone/>
            </a:pPr>
            <a:r>
              <a:rPr lang="en-US" sz="1150" dirty="0">
                <a:solidFill>
                  <a:srgbClr val="6B7080"/>
                </a:solidFill>
                <a:latin typeface="Calibri" pitchFamily="34" charset="0"/>
                <a:ea typeface="Calibri" pitchFamily="34" charset="-122"/>
                <a:cs typeface="Calibri" pitchFamily="34" charset="-120"/>
              </a:rPr>
              <a:t>Métriques du modèle, graphique SHAP, top 500 abonnés à risque pour la prospection.</a:t>
            </a:r>
            <a:endParaRPr lang="en-US" sz="1150" dirty="0"/>
          </a:p>
        </p:txBody>
      </p:sp>
      <p:sp>
        <p:nvSpPr>
          <p:cNvPr id="25" name="Text 19"/>
          <p:cNvSpPr/>
          <p:nvPr/>
        </p:nvSpPr>
        <p:spPr>
          <a:xfrm>
            <a:off x="457200" y="6473952"/>
            <a:ext cx="7315200" cy="274320"/>
          </a:xfrm>
          <a:prstGeom prst="rect">
            <a:avLst/>
          </a:prstGeom>
          <a:noFill/>
          <a:ln/>
        </p:spPr>
        <p:txBody>
          <a:bodyPr wrap="square" lIns="0" tIns="0" rIns="0" bIns="0" rtlCol="0" anchor="ctr"/>
          <a:lstStyle/>
          <a:p>
            <a:pPr marL="0" indent="0" algn="l">
              <a:buNone/>
            </a:pPr>
            <a:r>
              <a:rPr lang="en-US" sz="900" dirty="0">
                <a:solidFill>
                  <a:srgbClr val="6B7080"/>
                </a:solidFill>
                <a:latin typeface="Calibri" pitchFamily="34" charset="0"/>
                <a:ea typeface="Calibri" pitchFamily="34" charset="-122"/>
                <a:cs typeface="Calibri" pitchFamily="34" charset="-120"/>
              </a:rPr>
              <a:t>Sahel Telecom - Documentation technique EDW</a:t>
            </a:r>
            <a:endParaRPr lang="en-US" sz="900" dirty="0"/>
          </a:p>
        </p:txBody>
      </p:sp>
      <p:sp>
        <p:nvSpPr>
          <p:cNvPr id="26" name="Text 20"/>
          <p:cNvSpPr/>
          <p:nvPr/>
        </p:nvSpPr>
        <p:spPr>
          <a:xfrm>
            <a:off x="11247120" y="6473952"/>
            <a:ext cx="457200" cy="274320"/>
          </a:xfrm>
          <a:prstGeom prst="rect">
            <a:avLst/>
          </a:prstGeom>
          <a:noFill/>
          <a:ln/>
        </p:spPr>
        <p:txBody>
          <a:bodyPr wrap="square" lIns="0" tIns="0" rIns="0" bIns="0" rtlCol="0" anchor="ctr"/>
          <a:lstStyle/>
          <a:p>
            <a:pPr marL="0" indent="0" algn="r">
              <a:buNone/>
            </a:pPr>
            <a:r>
              <a:rPr lang="en-US" sz="900" dirty="0">
                <a:solidFill>
                  <a:srgbClr val="6B7080"/>
                </a:solidFill>
                <a:latin typeface="Calibri" pitchFamily="34" charset="0"/>
                <a:ea typeface="Calibri" pitchFamily="34" charset="-122"/>
                <a:cs typeface="Calibri" pitchFamily="34" charset="-120"/>
              </a:rPr>
              <a:t>12</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1A237E"/>
        </a:solidFill>
        <a:effectLst/>
      </p:bgPr>
    </p:bg>
    <p:spTree>
      <p:nvGrpSpPr>
        <p:cNvPr id="1" name=""/>
        <p:cNvGrpSpPr/>
        <p:nvPr/>
      </p:nvGrpSpPr>
      <p:grpSpPr>
        <a:xfrm>
          <a:off x="0" y="0"/>
          <a:ext cx="0" cy="0"/>
          <a:chOff x="0" y="0"/>
          <a:chExt cx="0" cy="0"/>
        </a:xfrm>
      </p:grpSpPr>
      <p:sp>
        <p:nvSpPr>
          <p:cNvPr id="2" name="Text 0"/>
          <p:cNvSpPr/>
          <p:nvPr/>
        </p:nvSpPr>
        <p:spPr>
          <a:xfrm>
            <a:off x="548640" y="457200"/>
            <a:ext cx="9144000" cy="274320"/>
          </a:xfrm>
          <a:prstGeom prst="rect">
            <a:avLst/>
          </a:prstGeom>
          <a:noFill/>
          <a:ln/>
        </p:spPr>
        <p:txBody>
          <a:bodyPr wrap="square" lIns="0" tIns="0" rIns="0" bIns="0" rtlCol="0" anchor="ctr"/>
          <a:lstStyle/>
          <a:p>
            <a:pPr marL="0" indent="0">
              <a:buNone/>
            </a:pPr>
            <a:r>
              <a:rPr lang="en-US" sz="1200" b="1" kern="0" spc="200" dirty="0">
                <a:solidFill>
                  <a:srgbClr val="AEB6E8"/>
                </a:solidFill>
                <a:latin typeface="Calibri" pitchFamily="34" charset="0"/>
                <a:ea typeface="Calibri" pitchFamily="34" charset="-122"/>
                <a:cs typeface="Calibri" pitchFamily="34" charset="-120"/>
              </a:rPr>
              <a:t>REPRODUCTIBILITÉ</a:t>
            </a:r>
            <a:endParaRPr lang="en-US" sz="1200" dirty="0"/>
          </a:p>
        </p:txBody>
      </p:sp>
      <p:sp>
        <p:nvSpPr>
          <p:cNvPr id="3" name="Text 1"/>
          <p:cNvSpPr/>
          <p:nvPr/>
        </p:nvSpPr>
        <p:spPr>
          <a:xfrm>
            <a:off x="548640" y="731520"/>
            <a:ext cx="11064240" cy="640080"/>
          </a:xfrm>
          <a:prstGeom prst="rect">
            <a:avLst/>
          </a:prstGeom>
          <a:noFill/>
          <a:ln/>
        </p:spPr>
        <p:txBody>
          <a:bodyPr wrap="square" lIns="0" tIns="0" rIns="0" bIns="0" rtlCol="0" anchor="ctr"/>
          <a:lstStyle/>
          <a:p>
            <a:pPr marL="0" indent="0">
              <a:buNone/>
            </a:pPr>
            <a:r>
              <a:rPr lang="en-US" sz="2800" b="1" dirty="0">
                <a:solidFill>
                  <a:srgbClr val="FFFFFF"/>
                </a:solidFill>
                <a:latin typeface="Cambria" pitchFamily="34" charset="0"/>
                <a:ea typeface="Cambria" pitchFamily="34" charset="-122"/>
                <a:cs typeface="Cambria" pitchFamily="34" charset="-120"/>
              </a:rPr>
              <a:t>Stack technique et versions logicielles</a:t>
            </a:r>
            <a:endParaRPr lang="en-US" sz="28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548640" y="1600200"/>
          <a:ext cx="11064240" cy="4727448"/>
        </p:xfrm>
        <a:graphic>
          <a:graphicData uri="http://schemas.openxmlformats.org/drawingml/2006/table">
            <a:tbl>
              <a:tblPr/>
              <a:tblGrid>
                <a:gridCol w="3108960">
                  <a:extLst>
                    <a:ext uri="{9D8B030D-6E8A-4147-A177-3AD203B41FA5}">
                      <a16:colId xmlns:a16="http://schemas.microsoft.com/office/drawing/2014/main" val="20000"/>
                    </a:ext>
                  </a:extLst>
                </a:gridCol>
                <a:gridCol w="2377440">
                  <a:extLst>
                    <a:ext uri="{9D8B030D-6E8A-4147-A177-3AD203B41FA5}">
                      <a16:colId xmlns:a16="http://schemas.microsoft.com/office/drawing/2014/main" val="20001"/>
                    </a:ext>
                  </a:extLst>
                </a:gridCol>
                <a:gridCol w="5577840">
                  <a:extLst>
                    <a:ext uri="{9D8B030D-6E8A-4147-A177-3AD203B41FA5}">
                      <a16:colId xmlns:a16="http://schemas.microsoft.com/office/drawing/2014/main" val="20002"/>
                    </a:ext>
                  </a:extLst>
                </a:gridCol>
              </a:tblGrid>
              <a:tr h="429768">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Composant</a:t>
                      </a:r>
                      <a:endParaRPr lang="en-US" sz="1250" dirty="0">
                        <a:latin typeface="Calibri" charset="0"/>
                        <a:ea typeface="Calibri" charset="0"/>
                        <a:cs typeface="Calibri" charset="0"/>
                      </a:endParaRPr>
                    </a:p>
                  </a:txBody>
                  <a:tcPr anchor="ctr">
                    <a:lnL w="6350" cap="flat" cmpd="sng" algn="ctr">
                      <a:solidFill>
                        <a:srgbClr val="C7CCF0"/>
                      </a:solidFill>
                      <a:prstDash val="solid"/>
                      <a:round/>
                      <a:headEnd type="none" w="med" len="med"/>
                      <a:tailEnd type="none" w="med" len="med"/>
                    </a:lnL>
                    <a:lnR w="6350" cap="flat" cmpd="sng" algn="ctr">
                      <a:solidFill>
                        <a:srgbClr val="C7CCF0"/>
                      </a:solidFill>
                      <a:prstDash val="solid"/>
                      <a:round/>
                      <a:headEnd type="none" w="med" len="med"/>
                      <a:tailEnd type="none" w="med" len="med"/>
                    </a:lnR>
                    <a:lnT w="6350" cap="flat" cmpd="sng" algn="ctr">
                      <a:solidFill>
                        <a:srgbClr val="C7CCF0"/>
                      </a:solidFill>
                      <a:prstDash val="solid"/>
                      <a:round/>
                      <a:headEnd type="none" w="med" len="med"/>
                      <a:tailEnd type="none" w="med" len="med"/>
                    </a:lnT>
                    <a:lnB w="6350" cap="flat" cmpd="sng" algn="ctr">
                      <a:solidFill>
                        <a:srgbClr val="C7CCF0"/>
                      </a:solidFill>
                      <a:prstDash val="solid"/>
                      <a:round/>
                      <a:headEnd type="none" w="med" len="med"/>
                      <a:tailEnd type="none" w="med" len="med"/>
                    </a:lnB>
                    <a:solidFill>
                      <a:srgbClr val="232B6E"/>
                    </a:solidFill>
                  </a:tcPr>
                </a:tc>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Version</a:t>
                      </a:r>
                      <a:endParaRPr lang="en-US" sz="1250" dirty="0">
                        <a:latin typeface="Calibri" charset="0"/>
                        <a:ea typeface="Calibri" charset="0"/>
                        <a:cs typeface="Calibri" charset="0"/>
                      </a:endParaRPr>
                    </a:p>
                  </a:txBody>
                  <a:tcPr anchor="ctr">
                    <a:lnL w="6350" cap="flat" cmpd="sng" algn="ctr">
                      <a:solidFill>
                        <a:srgbClr val="C7CCF0"/>
                      </a:solidFill>
                      <a:prstDash val="solid"/>
                      <a:round/>
                      <a:headEnd type="none" w="med" len="med"/>
                      <a:tailEnd type="none" w="med" len="med"/>
                    </a:lnL>
                    <a:lnR w="6350" cap="flat" cmpd="sng" algn="ctr">
                      <a:solidFill>
                        <a:srgbClr val="C7CCF0"/>
                      </a:solidFill>
                      <a:prstDash val="solid"/>
                      <a:round/>
                      <a:headEnd type="none" w="med" len="med"/>
                      <a:tailEnd type="none" w="med" len="med"/>
                    </a:lnR>
                    <a:lnT w="6350" cap="flat" cmpd="sng" algn="ctr">
                      <a:solidFill>
                        <a:srgbClr val="C7CCF0"/>
                      </a:solidFill>
                      <a:prstDash val="solid"/>
                      <a:round/>
                      <a:headEnd type="none" w="med" len="med"/>
                      <a:tailEnd type="none" w="med" len="med"/>
                    </a:lnT>
                    <a:lnB w="6350" cap="flat" cmpd="sng" algn="ctr">
                      <a:solidFill>
                        <a:srgbClr val="C7CCF0"/>
                      </a:solidFill>
                      <a:prstDash val="solid"/>
                      <a:round/>
                      <a:headEnd type="none" w="med" len="med"/>
                      <a:tailEnd type="none" w="med" len="med"/>
                    </a:lnB>
                    <a:solidFill>
                      <a:srgbClr val="232B6E"/>
                    </a:solidFill>
                  </a:tcPr>
                </a:tc>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Rôle</a:t>
                      </a:r>
                      <a:endParaRPr lang="en-US" sz="1250" dirty="0">
                        <a:latin typeface="Calibri" charset="0"/>
                        <a:ea typeface="Calibri" charset="0"/>
                        <a:cs typeface="Calibri" charset="0"/>
                      </a:endParaRPr>
                    </a:p>
                  </a:txBody>
                  <a:tcPr anchor="ctr">
                    <a:lnL w="6350" cap="flat" cmpd="sng" algn="ctr">
                      <a:solidFill>
                        <a:srgbClr val="C7CCF0"/>
                      </a:solidFill>
                      <a:prstDash val="solid"/>
                      <a:round/>
                      <a:headEnd type="none" w="med" len="med"/>
                      <a:tailEnd type="none" w="med" len="med"/>
                    </a:lnL>
                    <a:lnR w="6350" cap="flat" cmpd="sng" algn="ctr">
                      <a:solidFill>
                        <a:srgbClr val="C7CCF0"/>
                      </a:solidFill>
                      <a:prstDash val="solid"/>
                      <a:round/>
                      <a:headEnd type="none" w="med" len="med"/>
                      <a:tailEnd type="none" w="med" len="med"/>
                    </a:lnR>
                    <a:lnT w="6350" cap="flat" cmpd="sng" algn="ctr">
                      <a:solidFill>
                        <a:srgbClr val="C7CCF0"/>
                      </a:solidFill>
                      <a:prstDash val="solid"/>
                      <a:round/>
                      <a:headEnd type="none" w="med" len="med"/>
                      <a:tailEnd type="none" w="med" len="med"/>
                    </a:lnT>
                    <a:lnB w="6350" cap="flat" cmpd="sng" algn="ctr">
                      <a:solidFill>
                        <a:srgbClr val="C7CCF0"/>
                      </a:solidFill>
                      <a:prstDash val="solid"/>
                      <a:round/>
                      <a:headEnd type="none" w="med" len="med"/>
                      <a:tailEnd type="none" w="med" len="med"/>
                    </a:lnB>
                    <a:solidFill>
                      <a:srgbClr val="232B6E"/>
                    </a:solidFill>
                  </a:tcPr>
                </a:tc>
                <a:extLst>
                  <a:ext uri="{0D108BD9-81ED-4DB2-BD59-A6C34878D82A}">
                    <a16:rowId xmlns:a16="http://schemas.microsoft.com/office/drawing/2014/main" val="10000"/>
                  </a:ext>
                </a:extLst>
              </a:tr>
              <a:tr h="429768">
                <a:tc>
                  <a:txBody>
                    <a:bodyPr/>
                    <a:lstStyle/>
                    <a:p>
                      <a:pPr marL="0" indent="0">
                        <a:buNone/>
                      </a:pPr>
                      <a:r>
                        <a:rPr lang="en-US" sz="1250" dirty="0">
                          <a:solidFill>
                            <a:srgbClr val="1E2233"/>
                          </a:solidFill>
                          <a:latin typeface="Calibri" pitchFamily="34" charset="0"/>
                          <a:ea typeface="Calibri" pitchFamily="34" charset="-122"/>
                          <a:cs typeface="Calibri" pitchFamily="34" charset="-120"/>
                        </a:rPr>
                        <a:t>Python</a:t>
                      </a:r>
                      <a:endParaRPr lang="en-US" sz="1250" dirty="0">
                        <a:latin typeface="Calibri" charset="0"/>
                        <a:ea typeface="Calibri" charset="0"/>
                        <a:cs typeface="Calibri" charset="0"/>
                      </a:endParaRPr>
                    </a:p>
                  </a:txBody>
                  <a:tcPr anchor="ctr">
                    <a:lnL w="6350" cap="flat" cmpd="sng" algn="ctr">
                      <a:solidFill>
                        <a:srgbClr val="C7CCF0"/>
                      </a:solidFill>
                      <a:prstDash val="solid"/>
                      <a:round/>
                      <a:headEnd type="none" w="med" len="med"/>
                      <a:tailEnd type="none" w="med" len="med"/>
                    </a:lnL>
                    <a:lnR w="6350" cap="flat" cmpd="sng" algn="ctr">
                      <a:solidFill>
                        <a:srgbClr val="C7CCF0"/>
                      </a:solidFill>
                      <a:prstDash val="solid"/>
                      <a:round/>
                      <a:headEnd type="none" w="med" len="med"/>
                      <a:tailEnd type="none" w="med" len="med"/>
                    </a:lnR>
                    <a:lnT w="6350" cap="flat" cmpd="sng" algn="ctr">
                      <a:solidFill>
                        <a:srgbClr val="C7CCF0"/>
                      </a:solidFill>
                      <a:prstDash val="solid"/>
                      <a:round/>
                      <a:headEnd type="none" w="med" len="med"/>
                      <a:tailEnd type="none" w="med" len="med"/>
                    </a:lnT>
                    <a:lnB w="6350" cap="flat" cmpd="sng" algn="ctr">
                      <a:solidFill>
                        <a:srgbClr val="C7CCF0"/>
                      </a:solidFill>
                      <a:prstDash val="solid"/>
                      <a:round/>
                      <a:headEnd type="none" w="med" len="med"/>
                      <a:tailEnd type="none" w="med" len="med"/>
                    </a:lnB>
                    <a:solidFill>
                      <a:srgbClr val="FFFFFF"/>
                    </a:solidFill>
                  </a:tcPr>
                </a:tc>
                <a:tc>
                  <a:txBody>
                    <a:bodyPr/>
                    <a:lstStyle/>
                    <a:p>
                      <a:pPr marL="0" indent="0">
                        <a:buNone/>
                      </a:pPr>
                      <a:r>
                        <a:rPr lang="en-US" sz="1250" dirty="0">
                          <a:solidFill>
                            <a:srgbClr val="1E2233"/>
                          </a:solidFill>
                          <a:latin typeface="Calibri" pitchFamily="34" charset="0"/>
                          <a:ea typeface="Calibri" pitchFamily="34" charset="-122"/>
                          <a:cs typeface="Calibri" pitchFamily="34" charset="-120"/>
                        </a:rPr>
                        <a:t>3.13</a:t>
                      </a:r>
                      <a:endParaRPr lang="en-US" sz="1250" dirty="0">
                        <a:latin typeface="Calibri" charset="0"/>
                        <a:ea typeface="Calibri" charset="0"/>
                        <a:cs typeface="Calibri" charset="0"/>
                      </a:endParaRPr>
                    </a:p>
                  </a:txBody>
                  <a:tcPr anchor="ctr">
                    <a:lnL w="6350" cap="flat" cmpd="sng" algn="ctr">
                      <a:solidFill>
                        <a:srgbClr val="C7CCF0"/>
                      </a:solidFill>
                      <a:prstDash val="solid"/>
                      <a:round/>
                      <a:headEnd type="none" w="med" len="med"/>
                      <a:tailEnd type="none" w="med" len="med"/>
                    </a:lnL>
                    <a:lnR w="6350" cap="flat" cmpd="sng" algn="ctr">
                      <a:solidFill>
                        <a:srgbClr val="C7CCF0"/>
                      </a:solidFill>
                      <a:prstDash val="solid"/>
                      <a:round/>
                      <a:headEnd type="none" w="med" len="med"/>
                      <a:tailEnd type="none" w="med" len="med"/>
                    </a:lnR>
                    <a:lnT w="6350" cap="flat" cmpd="sng" algn="ctr">
                      <a:solidFill>
                        <a:srgbClr val="C7CCF0"/>
                      </a:solidFill>
                      <a:prstDash val="solid"/>
                      <a:round/>
                      <a:headEnd type="none" w="med" len="med"/>
                      <a:tailEnd type="none" w="med" len="med"/>
                    </a:lnT>
                    <a:lnB w="6350" cap="flat" cmpd="sng" algn="ctr">
                      <a:solidFill>
                        <a:srgbClr val="C7CCF0"/>
                      </a:solidFill>
                      <a:prstDash val="solid"/>
                      <a:round/>
                      <a:headEnd type="none" w="med" len="med"/>
                      <a:tailEnd type="none" w="med" len="med"/>
                    </a:lnB>
                    <a:solidFill>
                      <a:srgbClr val="FFFFFF"/>
                    </a:solidFill>
                  </a:tcPr>
                </a:tc>
                <a:tc>
                  <a:txBody>
                    <a:bodyPr/>
                    <a:lstStyle/>
                    <a:p>
                      <a:pPr marL="0" indent="0">
                        <a:buNone/>
                      </a:pPr>
                      <a:r>
                        <a:rPr lang="en-US" sz="1250" dirty="0">
                          <a:solidFill>
                            <a:srgbClr val="1E2233"/>
                          </a:solidFill>
                          <a:latin typeface="Calibri" pitchFamily="34" charset="0"/>
                          <a:ea typeface="Calibri" pitchFamily="34" charset="-122"/>
                          <a:cs typeface="Calibri" pitchFamily="34" charset="-120"/>
                        </a:rPr>
                        <a:t>Langage principal du projet</a:t>
                      </a:r>
                      <a:endParaRPr lang="en-US" sz="1250" dirty="0">
                        <a:latin typeface="Calibri" charset="0"/>
                        <a:ea typeface="Calibri" charset="0"/>
                        <a:cs typeface="Calibri" charset="0"/>
                      </a:endParaRPr>
                    </a:p>
                  </a:txBody>
                  <a:tcPr anchor="ctr">
                    <a:lnL w="6350" cap="flat" cmpd="sng" algn="ctr">
                      <a:solidFill>
                        <a:srgbClr val="C7CCF0"/>
                      </a:solidFill>
                      <a:prstDash val="solid"/>
                      <a:round/>
                      <a:headEnd type="none" w="med" len="med"/>
                      <a:tailEnd type="none" w="med" len="med"/>
                    </a:lnL>
                    <a:lnR w="6350" cap="flat" cmpd="sng" algn="ctr">
                      <a:solidFill>
                        <a:srgbClr val="C7CCF0"/>
                      </a:solidFill>
                      <a:prstDash val="solid"/>
                      <a:round/>
                      <a:headEnd type="none" w="med" len="med"/>
                      <a:tailEnd type="none" w="med" len="med"/>
                    </a:lnR>
                    <a:lnT w="6350" cap="flat" cmpd="sng" algn="ctr">
                      <a:solidFill>
                        <a:srgbClr val="C7CCF0"/>
                      </a:solidFill>
                      <a:prstDash val="solid"/>
                      <a:round/>
                      <a:headEnd type="none" w="med" len="med"/>
                      <a:tailEnd type="none" w="med" len="med"/>
                    </a:lnT>
                    <a:lnB w="6350" cap="flat" cmpd="sng" algn="ctr">
                      <a:solidFill>
                        <a:srgbClr val="C7CCF0"/>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29768">
                <a:tc>
                  <a:txBody>
                    <a:bodyPr/>
                    <a:lstStyle/>
                    <a:p>
                      <a:pPr marL="0" indent="0">
                        <a:buNone/>
                      </a:pPr>
                      <a:r>
                        <a:rPr lang="en-US" sz="1250" dirty="0">
                          <a:solidFill>
                            <a:srgbClr val="1E2233"/>
                          </a:solidFill>
                          <a:latin typeface="Calibri" pitchFamily="34" charset="0"/>
                          <a:ea typeface="Calibri" pitchFamily="34" charset="-122"/>
                          <a:cs typeface="Calibri" pitchFamily="34" charset="-120"/>
                        </a:rPr>
                        <a:t>MySQL Server</a:t>
                      </a:r>
                      <a:endParaRPr lang="en-US" sz="1250" dirty="0">
                        <a:latin typeface="Calibri" charset="0"/>
                        <a:ea typeface="Calibri" charset="0"/>
                        <a:cs typeface="Calibri" charset="0"/>
                      </a:endParaRPr>
                    </a:p>
                  </a:txBody>
                  <a:tcPr anchor="ctr">
                    <a:lnL w="6350" cap="flat" cmpd="sng" algn="ctr">
                      <a:solidFill>
                        <a:srgbClr val="C7CCF0"/>
                      </a:solidFill>
                      <a:prstDash val="solid"/>
                      <a:round/>
                      <a:headEnd type="none" w="med" len="med"/>
                      <a:tailEnd type="none" w="med" len="med"/>
                    </a:lnL>
                    <a:lnR w="6350" cap="flat" cmpd="sng" algn="ctr">
                      <a:solidFill>
                        <a:srgbClr val="C7CCF0"/>
                      </a:solidFill>
                      <a:prstDash val="solid"/>
                      <a:round/>
                      <a:headEnd type="none" w="med" len="med"/>
                      <a:tailEnd type="none" w="med" len="med"/>
                    </a:lnR>
                    <a:lnT w="6350" cap="flat" cmpd="sng" algn="ctr">
                      <a:solidFill>
                        <a:srgbClr val="C7CCF0"/>
                      </a:solidFill>
                      <a:prstDash val="solid"/>
                      <a:round/>
                      <a:headEnd type="none" w="med" len="med"/>
                      <a:tailEnd type="none" w="med" len="med"/>
                    </a:lnT>
                    <a:lnB w="6350" cap="flat" cmpd="sng" algn="ctr">
                      <a:solidFill>
                        <a:srgbClr val="C7CCF0"/>
                      </a:solidFill>
                      <a:prstDash val="solid"/>
                      <a:round/>
                      <a:headEnd type="none" w="med" len="med"/>
                      <a:tailEnd type="none" w="med" len="med"/>
                    </a:lnB>
                    <a:solidFill>
                      <a:srgbClr val="FFFFFF"/>
                    </a:solidFill>
                  </a:tcPr>
                </a:tc>
                <a:tc>
                  <a:txBody>
                    <a:bodyPr/>
                    <a:lstStyle/>
                    <a:p>
                      <a:pPr marL="0" indent="0">
                        <a:buNone/>
                      </a:pPr>
                      <a:r>
                        <a:rPr lang="en-US" sz="1250" dirty="0">
                          <a:solidFill>
                            <a:srgbClr val="1E2233"/>
                          </a:solidFill>
                          <a:latin typeface="Calibri" pitchFamily="34" charset="0"/>
                          <a:ea typeface="Calibri" pitchFamily="34" charset="-122"/>
                          <a:cs typeface="Calibri" pitchFamily="34" charset="-120"/>
                        </a:rPr>
                        <a:t>8.0</a:t>
                      </a:r>
                      <a:endParaRPr lang="en-US" sz="1250" dirty="0">
                        <a:latin typeface="Calibri" charset="0"/>
                        <a:ea typeface="Calibri" charset="0"/>
                        <a:cs typeface="Calibri" charset="0"/>
                      </a:endParaRPr>
                    </a:p>
                  </a:txBody>
                  <a:tcPr anchor="ctr">
                    <a:lnL w="6350" cap="flat" cmpd="sng" algn="ctr">
                      <a:solidFill>
                        <a:srgbClr val="C7CCF0"/>
                      </a:solidFill>
                      <a:prstDash val="solid"/>
                      <a:round/>
                      <a:headEnd type="none" w="med" len="med"/>
                      <a:tailEnd type="none" w="med" len="med"/>
                    </a:lnL>
                    <a:lnR w="6350" cap="flat" cmpd="sng" algn="ctr">
                      <a:solidFill>
                        <a:srgbClr val="C7CCF0"/>
                      </a:solidFill>
                      <a:prstDash val="solid"/>
                      <a:round/>
                      <a:headEnd type="none" w="med" len="med"/>
                      <a:tailEnd type="none" w="med" len="med"/>
                    </a:lnR>
                    <a:lnT w="6350" cap="flat" cmpd="sng" algn="ctr">
                      <a:solidFill>
                        <a:srgbClr val="C7CCF0"/>
                      </a:solidFill>
                      <a:prstDash val="solid"/>
                      <a:round/>
                      <a:headEnd type="none" w="med" len="med"/>
                      <a:tailEnd type="none" w="med" len="med"/>
                    </a:lnT>
                    <a:lnB w="6350" cap="flat" cmpd="sng" algn="ctr">
                      <a:solidFill>
                        <a:srgbClr val="C7CCF0"/>
                      </a:solidFill>
                      <a:prstDash val="solid"/>
                      <a:round/>
                      <a:headEnd type="none" w="med" len="med"/>
                      <a:tailEnd type="none" w="med" len="med"/>
                    </a:lnB>
                    <a:solidFill>
                      <a:srgbClr val="FFFFFF"/>
                    </a:solidFill>
                  </a:tcPr>
                </a:tc>
                <a:tc>
                  <a:txBody>
                    <a:bodyPr/>
                    <a:lstStyle/>
                    <a:p>
                      <a:pPr marL="0" indent="0">
                        <a:buNone/>
                      </a:pPr>
                      <a:r>
                        <a:rPr lang="en-US" sz="1250" dirty="0">
                          <a:solidFill>
                            <a:srgbClr val="1E2233"/>
                          </a:solidFill>
                          <a:latin typeface="Calibri" pitchFamily="34" charset="0"/>
                          <a:ea typeface="Calibri" pitchFamily="34" charset="-122"/>
                          <a:cs typeface="Calibri" pitchFamily="34" charset="-120"/>
                        </a:rPr>
                        <a:t>Moteur de base de données (Docker)</a:t>
                      </a:r>
                      <a:endParaRPr lang="en-US" sz="1250" dirty="0">
                        <a:latin typeface="Calibri" charset="0"/>
                        <a:ea typeface="Calibri" charset="0"/>
                        <a:cs typeface="Calibri" charset="0"/>
                      </a:endParaRPr>
                    </a:p>
                  </a:txBody>
                  <a:tcPr anchor="ctr">
                    <a:lnL w="6350" cap="flat" cmpd="sng" algn="ctr">
                      <a:solidFill>
                        <a:srgbClr val="C7CCF0"/>
                      </a:solidFill>
                      <a:prstDash val="solid"/>
                      <a:round/>
                      <a:headEnd type="none" w="med" len="med"/>
                      <a:tailEnd type="none" w="med" len="med"/>
                    </a:lnL>
                    <a:lnR w="6350" cap="flat" cmpd="sng" algn="ctr">
                      <a:solidFill>
                        <a:srgbClr val="C7CCF0"/>
                      </a:solidFill>
                      <a:prstDash val="solid"/>
                      <a:round/>
                      <a:headEnd type="none" w="med" len="med"/>
                      <a:tailEnd type="none" w="med" len="med"/>
                    </a:lnR>
                    <a:lnT w="6350" cap="flat" cmpd="sng" algn="ctr">
                      <a:solidFill>
                        <a:srgbClr val="C7CCF0"/>
                      </a:solidFill>
                      <a:prstDash val="solid"/>
                      <a:round/>
                      <a:headEnd type="none" w="med" len="med"/>
                      <a:tailEnd type="none" w="med" len="med"/>
                    </a:lnT>
                    <a:lnB w="6350" cap="flat" cmpd="sng" algn="ctr">
                      <a:solidFill>
                        <a:srgbClr val="C7CCF0"/>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29768">
                <a:tc>
                  <a:txBody>
                    <a:bodyPr/>
                    <a:lstStyle/>
                    <a:p>
                      <a:pPr marL="0" indent="0">
                        <a:buNone/>
                      </a:pPr>
                      <a:r>
                        <a:rPr lang="en-US" sz="1250" dirty="0">
                          <a:solidFill>
                            <a:srgbClr val="1E2233"/>
                          </a:solidFill>
                          <a:latin typeface="Calibri" pitchFamily="34" charset="0"/>
                          <a:ea typeface="Calibri" pitchFamily="34" charset="-122"/>
                          <a:cs typeface="Calibri" pitchFamily="34" charset="-120"/>
                        </a:rPr>
                        <a:t>Streamlit</a:t>
                      </a:r>
                      <a:endParaRPr lang="en-US" sz="1250" dirty="0">
                        <a:latin typeface="Calibri" charset="0"/>
                        <a:ea typeface="Calibri" charset="0"/>
                        <a:cs typeface="Calibri" charset="0"/>
                      </a:endParaRPr>
                    </a:p>
                  </a:txBody>
                  <a:tcPr anchor="ctr">
                    <a:lnL w="6350" cap="flat" cmpd="sng" algn="ctr">
                      <a:solidFill>
                        <a:srgbClr val="C7CCF0"/>
                      </a:solidFill>
                      <a:prstDash val="solid"/>
                      <a:round/>
                      <a:headEnd type="none" w="med" len="med"/>
                      <a:tailEnd type="none" w="med" len="med"/>
                    </a:lnL>
                    <a:lnR w="6350" cap="flat" cmpd="sng" algn="ctr">
                      <a:solidFill>
                        <a:srgbClr val="C7CCF0"/>
                      </a:solidFill>
                      <a:prstDash val="solid"/>
                      <a:round/>
                      <a:headEnd type="none" w="med" len="med"/>
                      <a:tailEnd type="none" w="med" len="med"/>
                    </a:lnR>
                    <a:lnT w="6350" cap="flat" cmpd="sng" algn="ctr">
                      <a:solidFill>
                        <a:srgbClr val="C7CCF0"/>
                      </a:solidFill>
                      <a:prstDash val="solid"/>
                      <a:round/>
                      <a:headEnd type="none" w="med" len="med"/>
                      <a:tailEnd type="none" w="med" len="med"/>
                    </a:lnT>
                    <a:lnB w="6350" cap="flat" cmpd="sng" algn="ctr">
                      <a:solidFill>
                        <a:srgbClr val="C7CCF0"/>
                      </a:solidFill>
                      <a:prstDash val="solid"/>
                      <a:round/>
                      <a:headEnd type="none" w="med" len="med"/>
                      <a:tailEnd type="none" w="med" len="med"/>
                    </a:lnB>
                    <a:solidFill>
                      <a:srgbClr val="FFFFFF"/>
                    </a:solidFill>
                  </a:tcPr>
                </a:tc>
                <a:tc>
                  <a:txBody>
                    <a:bodyPr/>
                    <a:lstStyle/>
                    <a:p>
                      <a:pPr marL="0" indent="0">
                        <a:buNone/>
                      </a:pPr>
                      <a:r>
                        <a:rPr lang="en-US" sz="1250" dirty="0">
                          <a:solidFill>
                            <a:srgbClr val="1E2233"/>
                          </a:solidFill>
                          <a:latin typeface="Calibri" pitchFamily="34" charset="0"/>
                          <a:ea typeface="Calibri" pitchFamily="34" charset="-122"/>
                          <a:cs typeface="Calibri" pitchFamily="34" charset="-120"/>
                        </a:rPr>
                        <a:t>1.58.0</a:t>
                      </a:r>
                      <a:endParaRPr lang="en-US" sz="1250" dirty="0">
                        <a:latin typeface="Calibri" charset="0"/>
                        <a:ea typeface="Calibri" charset="0"/>
                        <a:cs typeface="Calibri" charset="0"/>
                      </a:endParaRPr>
                    </a:p>
                  </a:txBody>
                  <a:tcPr anchor="ctr">
                    <a:lnL w="6350" cap="flat" cmpd="sng" algn="ctr">
                      <a:solidFill>
                        <a:srgbClr val="C7CCF0"/>
                      </a:solidFill>
                      <a:prstDash val="solid"/>
                      <a:round/>
                      <a:headEnd type="none" w="med" len="med"/>
                      <a:tailEnd type="none" w="med" len="med"/>
                    </a:lnL>
                    <a:lnR w="6350" cap="flat" cmpd="sng" algn="ctr">
                      <a:solidFill>
                        <a:srgbClr val="C7CCF0"/>
                      </a:solidFill>
                      <a:prstDash val="solid"/>
                      <a:round/>
                      <a:headEnd type="none" w="med" len="med"/>
                      <a:tailEnd type="none" w="med" len="med"/>
                    </a:lnR>
                    <a:lnT w="6350" cap="flat" cmpd="sng" algn="ctr">
                      <a:solidFill>
                        <a:srgbClr val="C7CCF0"/>
                      </a:solidFill>
                      <a:prstDash val="solid"/>
                      <a:round/>
                      <a:headEnd type="none" w="med" len="med"/>
                      <a:tailEnd type="none" w="med" len="med"/>
                    </a:lnT>
                    <a:lnB w="6350" cap="flat" cmpd="sng" algn="ctr">
                      <a:solidFill>
                        <a:srgbClr val="C7CCF0"/>
                      </a:solidFill>
                      <a:prstDash val="solid"/>
                      <a:round/>
                      <a:headEnd type="none" w="med" len="med"/>
                      <a:tailEnd type="none" w="med" len="med"/>
                    </a:lnB>
                    <a:solidFill>
                      <a:srgbClr val="FFFFFF"/>
                    </a:solidFill>
                  </a:tcPr>
                </a:tc>
                <a:tc>
                  <a:txBody>
                    <a:bodyPr/>
                    <a:lstStyle/>
                    <a:p>
                      <a:pPr marL="0" indent="0">
                        <a:buNone/>
                      </a:pPr>
                      <a:r>
                        <a:rPr lang="en-US" sz="1250" dirty="0">
                          <a:solidFill>
                            <a:srgbClr val="1E2233"/>
                          </a:solidFill>
                          <a:latin typeface="Calibri" pitchFamily="34" charset="0"/>
                          <a:ea typeface="Calibri" pitchFamily="34" charset="-122"/>
                          <a:cs typeface="Calibri" pitchFamily="34" charset="-120"/>
                        </a:rPr>
                        <a:t>Framework de l'interface décisionnelle</a:t>
                      </a:r>
                      <a:endParaRPr lang="en-US" sz="1250" dirty="0">
                        <a:latin typeface="Calibri" charset="0"/>
                        <a:ea typeface="Calibri" charset="0"/>
                        <a:cs typeface="Calibri" charset="0"/>
                      </a:endParaRPr>
                    </a:p>
                  </a:txBody>
                  <a:tcPr anchor="ctr">
                    <a:lnL w="6350" cap="flat" cmpd="sng" algn="ctr">
                      <a:solidFill>
                        <a:srgbClr val="C7CCF0"/>
                      </a:solidFill>
                      <a:prstDash val="solid"/>
                      <a:round/>
                      <a:headEnd type="none" w="med" len="med"/>
                      <a:tailEnd type="none" w="med" len="med"/>
                    </a:lnL>
                    <a:lnR w="6350" cap="flat" cmpd="sng" algn="ctr">
                      <a:solidFill>
                        <a:srgbClr val="C7CCF0"/>
                      </a:solidFill>
                      <a:prstDash val="solid"/>
                      <a:round/>
                      <a:headEnd type="none" w="med" len="med"/>
                      <a:tailEnd type="none" w="med" len="med"/>
                    </a:lnR>
                    <a:lnT w="6350" cap="flat" cmpd="sng" algn="ctr">
                      <a:solidFill>
                        <a:srgbClr val="C7CCF0"/>
                      </a:solidFill>
                      <a:prstDash val="solid"/>
                      <a:round/>
                      <a:headEnd type="none" w="med" len="med"/>
                      <a:tailEnd type="none" w="med" len="med"/>
                    </a:lnT>
                    <a:lnB w="6350" cap="flat" cmpd="sng" algn="ctr">
                      <a:solidFill>
                        <a:srgbClr val="C7CCF0"/>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29768">
                <a:tc>
                  <a:txBody>
                    <a:bodyPr/>
                    <a:lstStyle/>
                    <a:p>
                      <a:pPr marL="0" indent="0">
                        <a:buNone/>
                      </a:pPr>
                      <a:r>
                        <a:rPr lang="en-US" sz="1250" dirty="0">
                          <a:solidFill>
                            <a:srgbClr val="1E2233"/>
                          </a:solidFill>
                          <a:latin typeface="Calibri" pitchFamily="34" charset="0"/>
                          <a:ea typeface="Calibri" pitchFamily="34" charset="-122"/>
                          <a:cs typeface="Calibri" pitchFamily="34" charset="-120"/>
                        </a:rPr>
                        <a:t>pandas / numpy</a:t>
                      </a:r>
                      <a:endParaRPr lang="en-US" sz="1250" dirty="0">
                        <a:latin typeface="Calibri" charset="0"/>
                        <a:ea typeface="Calibri" charset="0"/>
                        <a:cs typeface="Calibri" charset="0"/>
                      </a:endParaRPr>
                    </a:p>
                  </a:txBody>
                  <a:tcPr anchor="ctr">
                    <a:lnL w="6350" cap="flat" cmpd="sng" algn="ctr">
                      <a:solidFill>
                        <a:srgbClr val="C7CCF0"/>
                      </a:solidFill>
                      <a:prstDash val="solid"/>
                      <a:round/>
                      <a:headEnd type="none" w="med" len="med"/>
                      <a:tailEnd type="none" w="med" len="med"/>
                    </a:lnL>
                    <a:lnR w="6350" cap="flat" cmpd="sng" algn="ctr">
                      <a:solidFill>
                        <a:srgbClr val="C7CCF0"/>
                      </a:solidFill>
                      <a:prstDash val="solid"/>
                      <a:round/>
                      <a:headEnd type="none" w="med" len="med"/>
                      <a:tailEnd type="none" w="med" len="med"/>
                    </a:lnR>
                    <a:lnT w="6350" cap="flat" cmpd="sng" algn="ctr">
                      <a:solidFill>
                        <a:srgbClr val="C7CCF0"/>
                      </a:solidFill>
                      <a:prstDash val="solid"/>
                      <a:round/>
                      <a:headEnd type="none" w="med" len="med"/>
                      <a:tailEnd type="none" w="med" len="med"/>
                    </a:lnT>
                    <a:lnB w="6350" cap="flat" cmpd="sng" algn="ctr">
                      <a:solidFill>
                        <a:srgbClr val="C7CCF0"/>
                      </a:solidFill>
                      <a:prstDash val="solid"/>
                      <a:round/>
                      <a:headEnd type="none" w="med" len="med"/>
                      <a:tailEnd type="none" w="med" len="med"/>
                    </a:lnB>
                    <a:solidFill>
                      <a:srgbClr val="FFFFFF"/>
                    </a:solidFill>
                  </a:tcPr>
                </a:tc>
                <a:tc>
                  <a:txBody>
                    <a:bodyPr/>
                    <a:lstStyle/>
                    <a:p>
                      <a:pPr marL="0" indent="0">
                        <a:buNone/>
                      </a:pPr>
                      <a:r>
                        <a:rPr lang="en-US" sz="1250" dirty="0">
                          <a:solidFill>
                            <a:srgbClr val="1E2233"/>
                          </a:solidFill>
                          <a:latin typeface="Calibri" pitchFamily="34" charset="0"/>
                          <a:ea typeface="Calibri" pitchFamily="34" charset="-122"/>
                          <a:cs typeface="Calibri" pitchFamily="34" charset="-120"/>
                        </a:rPr>
                        <a:t>3.0.3 / 2.4.6</a:t>
                      </a:r>
                      <a:endParaRPr lang="en-US" sz="1250" dirty="0">
                        <a:latin typeface="Calibri" charset="0"/>
                        <a:ea typeface="Calibri" charset="0"/>
                        <a:cs typeface="Calibri" charset="0"/>
                      </a:endParaRPr>
                    </a:p>
                  </a:txBody>
                  <a:tcPr anchor="ctr">
                    <a:lnL w="6350" cap="flat" cmpd="sng" algn="ctr">
                      <a:solidFill>
                        <a:srgbClr val="C7CCF0"/>
                      </a:solidFill>
                      <a:prstDash val="solid"/>
                      <a:round/>
                      <a:headEnd type="none" w="med" len="med"/>
                      <a:tailEnd type="none" w="med" len="med"/>
                    </a:lnL>
                    <a:lnR w="6350" cap="flat" cmpd="sng" algn="ctr">
                      <a:solidFill>
                        <a:srgbClr val="C7CCF0"/>
                      </a:solidFill>
                      <a:prstDash val="solid"/>
                      <a:round/>
                      <a:headEnd type="none" w="med" len="med"/>
                      <a:tailEnd type="none" w="med" len="med"/>
                    </a:lnR>
                    <a:lnT w="6350" cap="flat" cmpd="sng" algn="ctr">
                      <a:solidFill>
                        <a:srgbClr val="C7CCF0"/>
                      </a:solidFill>
                      <a:prstDash val="solid"/>
                      <a:round/>
                      <a:headEnd type="none" w="med" len="med"/>
                      <a:tailEnd type="none" w="med" len="med"/>
                    </a:lnT>
                    <a:lnB w="6350" cap="flat" cmpd="sng" algn="ctr">
                      <a:solidFill>
                        <a:srgbClr val="C7CCF0"/>
                      </a:solidFill>
                      <a:prstDash val="solid"/>
                      <a:round/>
                      <a:headEnd type="none" w="med" len="med"/>
                      <a:tailEnd type="none" w="med" len="med"/>
                    </a:lnB>
                    <a:solidFill>
                      <a:srgbClr val="FFFFFF"/>
                    </a:solidFill>
                  </a:tcPr>
                </a:tc>
                <a:tc>
                  <a:txBody>
                    <a:bodyPr/>
                    <a:lstStyle/>
                    <a:p>
                      <a:pPr marL="0" indent="0">
                        <a:buNone/>
                      </a:pPr>
                      <a:r>
                        <a:rPr lang="en-US" sz="1250" dirty="0">
                          <a:solidFill>
                            <a:srgbClr val="1E2233"/>
                          </a:solidFill>
                          <a:latin typeface="Calibri" pitchFamily="34" charset="0"/>
                          <a:ea typeface="Calibri" pitchFamily="34" charset="-122"/>
                          <a:cs typeface="Calibri" pitchFamily="34" charset="-120"/>
                        </a:rPr>
                        <a:t>Manipulation et calcul des données</a:t>
                      </a:r>
                      <a:endParaRPr lang="en-US" sz="1250" dirty="0">
                        <a:latin typeface="Calibri" charset="0"/>
                        <a:ea typeface="Calibri" charset="0"/>
                        <a:cs typeface="Calibri" charset="0"/>
                      </a:endParaRPr>
                    </a:p>
                  </a:txBody>
                  <a:tcPr anchor="ctr">
                    <a:lnL w="6350" cap="flat" cmpd="sng" algn="ctr">
                      <a:solidFill>
                        <a:srgbClr val="C7CCF0"/>
                      </a:solidFill>
                      <a:prstDash val="solid"/>
                      <a:round/>
                      <a:headEnd type="none" w="med" len="med"/>
                      <a:tailEnd type="none" w="med" len="med"/>
                    </a:lnL>
                    <a:lnR w="6350" cap="flat" cmpd="sng" algn="ctr">
                      <a:solidFill>
                        <a:srgbClr val="C7CCF0"/>
                      </a:solidFill>
                      <a:prstDash val="solid"/>
                      <a:round/>
                      <a:headEnd type="none" w="med" len="med"/>
                      <a:tailEnd type="none" w="med" len="med"/>
                    </a:lnR>
                    <a:lnT w="6350" cap="flat" cmpd="sng" algn="ctr">
                      <a:solidFill>
                        <a:srgbClr val="C7CCF0"/>
                      </a:solidFill>
                      <a:prstDash val="solid"/>
                      <a:round/>
                      <a:headEnd type="none" w="med" len="med"/>
                      <a:tailEnd type="none" w="med" len="med"/>
                    </a:lnT>
                    <a:lnB w="6350" cap="flat" cmpd="sng" algn="ctr">
                      <a:solidFill>
                        <a:srgbClr val="C7CCF0"/>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429768">
                <a:tc>
                  <a:txBody>
                    <a:bodyPr/>
                    <a:lstStyle/>
                    <a:p>
                      <a:pPr marL="0" indent="0">
                        <a:buNone/>
                      </a:pPr>
                      <a:r>
                        <a:rPr lang="en-US" sz="1250" dirty="0">
                          <a:solidFill>
                            <a:srgbClr val="1E2233"/>
                          </a:solidFill>
                          <a:latin typeface="Calibri" pitchFamily="34" charset="0"/>
                          <a:ea typeface="Calibri" pitchFamily="34" charset="-122"/>
                          <a:cs typeface="Calibri" pitchFamily="34" charset="-120"/>
                        </a:rPr>
                        <a:t>mysql-connector-python</a:t>
                      </a:r>
                      <a:endParaRPr lang="en-US" sz="1250" dirty="0">
                        <a:latin typeface="Calibri" charset="0"/>
                        <a:ea typeface="Calibri" charset="0"/>
                        <a:cs typeface="Calibri" charset="0"/>
                      </a:endParaRPr>
                    </a:p>
                  </a:txBody>
                  <a:tcPr anchor="ctr">
                    <a:lnL w="6350" cap="flat" cmpd="sng" algn="ctr">
                      <a:solidFill>
                        <a:srgbClr val="C7CCF0"/>
                      </a:solidFill>
                      <a:prstDash val="solid"/>
                      <a:round/>
                      <a:headEnd type="none" w="med" len="med"/>
                      <a:tailEnd type="none" w="med" len="med"/>
                    </a:lnL>
                    <a:lnR w="6350" cap="flat" cmpd="sng" algn="ctr">
                      <a:solidFill>
                        <a:srgbClr val="C7CCF0"/>
                      </a:solidFill>
                      <a:prstDash val="solid"/>
                      <a:round/>
                      <a:headEnd type="none" w="med" len="med"/>
                      <a:tailEnd type="none" w="med" len="med"/>
                    </a:lnR>
                    <a:lnT w="6350" cap="flat" cmpd="sng" algn="ctr">
                      <a:solidFill>
                        <a:srgbClr val="C7CCF0"/>
                      </a:solidFill>
                      <a:prstDash val="solid"/>
                      <a:round/>
                      <a:headEnd type="none" w="med" len="med"/>
                      <a:tailEnd type="none" w="med" len="med"/>
                    </a:lnT>
                    <a:lnB w="6350" cap="flat" cmpd="sng" algn="ctr">
                      <a:solidFill>
                        <a:srgbClr val="C7CCF0"/>
                      </a:solidFill>
                      <a:prstDash val="solid"/>
                      <a:round/>
                      <a:headEnd type="none" w="med" len="med"/>
                      <a:tailEnd type="none" w="med" len="med"/>
                    </a:lnB>
                    <a:solidFill>
                      <a:srgbClr val="FFFFFF"/>
                    </a:solidFill>
                  </a:tcPr>
                </a:tc>
                <a:tc>
                  <a:txBody>
                    <a:bodyPr/>
                    <a:lstStyle/>
                    <a:p>
                      <a:pPr marL="0" indent="0">
                        <a:buNone/>
                      </a:pPr>
                      <a:r>
                        <a:rPr lang="en-US" sz="1250" dirty="0">
                          <a:solidFill>
                            <a:srgbClr val="1E2233"/>
                          </a:solidFill>
                          <a:latin typeface="Calibri" pitchFamily="34" charset="0"/>
                          <a:ea typeface="Calibri" pitchFamily="34" charset="-122"/>
                          <a:cs typeface="Calibri" pitchFamily="34" charset="-120"/>
                        </a:rPr>
                        <a:t>9.0.0</a:t>
                      </a:r>
                      <a:endParaRPr lang="en-US" sz="1250" dirty="0">
                        <a:latin typeface="Calibri" charset="0"/>
                        <a:ea typeface="Calibri" charset="0"/>
                        <a:cs typeface="Calibri" charset="0"/>
                      </a:endParaRPr>
                    </a:p>
                  </a:txBody>
                  <a:tcPr anchor="ctr">
                    <a:lnL w="6350" cap="flat" cmpd="sng" algn="ctr">
                      <a:solidFill>
                        <a:srgbClr val="C7CCF0"/>
                      </a:solidFill>
                      <a:prstDash val="solid"/>
                      <a:round/>
                      <a:headEnd type="none" w="med" len="med"/>
                      <a:tailEnd type="none" w="med" len="med"/>
                    </a:lnL>
                    <a:lnR w="6350" cap="flat" cmpd="sng" algn="ctr">
                      <a:solidFill>
                        <a:srgbClr val="C7CCF0"/>
                      </a:solidFill>
                      <a:prstDash val="solid"/>
                      <a:round/>
                      <a:headEnd type="none" w="med" len="med"/>
                      <a:tailEnd type="none" w="med" len="med"/>
                    </a:lnR>
                    <a:lnT w="6350" cap="flat" cmpd="sng" algn="ctr">
                      <a:solidFill>
                        <a:srgbClr val="C7CCF0"/>
                      </a:solidFill>
                      <a:prstDash val="solid"/>
                      <a:round/>
                      <a:headEnd type="none" w="med" len="med"/>
                      <a:tailEnd type="none" w="med" len="med"/>
                    </a:lnT>
                    <a:lnB w="6350" cap="flat" cmpd="sng" algn="ctr">
                      <a:solidFill>
                        <a:srgbClr val="C7CCF0"/>
                      </a:solidFill>
                      <a:prstDash val="solid"/>
                      <a:round/>
                      <a:headEnd type="none" w="med" len="med"/>
                      <a:tailEnd type="none" w="med" len="med"/>
                    </a:lnB>
                    <a:solidFill>
                      <a:srgbClr val="FFFFFF"/>
                    </a:solidFill>
                  </a:tcPr>
                </a:tc>
                <a:tc>
                  <a:txBody>
                    <a:bodyPr/>
                    <a:lstStyle/>
                    <a:p>
                      <a:pPr marL="0" indent="0">
                        <a:buNone/>
                      </a:pPr>
                      <a:r>
                        <a:rPr lang="en-US" sz="1250" dirty="0">
                          <a:solidFill>
                            <a:srgbClr val="1E2233"/>
                          </a:solidFill>
                          <a:latin typeface="Calibri" pitchFamily="34" charset="0"/>
                          <a:ea typeface="Calibri" pitchFamily="34" charset="-122"/>
                          <a:cs typeface="Calibri" pitchFamily="34" charset="-120"/>
                        </a:rPr>
                        <a:t>Liaison ETL vers MySQL</a:t>
                      </a:r>
                      <a:endParaRPr lang="en-US" sz="1250" dirty="0">
                        <a:latin typeface="Calibri" charset="0"/>
                        <a:ea typeface="Calibri" charset="0"/>
                        <a:cs typeface="Calibri" charset="0"/>
                      </a:endParaRPr>
                    </a:p>
                  </a:txBody>
                  <a:tcPr anchor="ctr">
                    <a:lnL w="6350" cap="flat" cmpd="sng" algn="ctr">
                      <a:solidFill>
                        <a:srgbClr val="C7CCF0"/>
                      </a:solidFill>
                      <a:prstDash val="solid"/>
                      <a:round/>
                      <a:headEnd type="none" w="med" len="med"/>
                      <a:tailEnd type="none" w="med" len="med"/>
                    </a:lnL>
                    <a:lnR w="6350" cap="flat" cmpd="sng" algn="ctr">
                      <a:solidFill>
                        <a:srgbClr val="C7CCF0"/>
                      </a:solidFill>
                      <a:prstDash val="solid"/>
                      <a:round/>
                      <a:headEnd type="none" w="med" len="med"/>
                      <a:tailEnd type="none" w="med" len="med"/>
                    </a:lnR>
                    <a:lnT w="6350" cap="flat" cmpd="sng" algn="ctr">
                      <a:solidFill>
                        <a:srgbClr val="C7CCF0"/>
                      </a:solidFill>
                      <a:prstDash val="solid"/>
                      <a:round/>
                      <a:headEnd type="none" w="med" len="med"/>
                      <a:tailEnd type="none" w="med" len="med"/>
                    </a:lnT>
                    <a:lnB w="6350" cap="flat" cmpd="sng" algn="ctr">
                      <a:solidFill>
                        <a:srgbClr val="C7CCF0"/>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429768">
                <a:tc>
                  <a:txBody>
                    <a:bodyPr/>
                    <a:lstStyle/>
                    <a:p>
                      <a:pPr marL="0" indent="0">
                        <a:buNone/>
                      </a:pPr>
                      <a:r>
                        <a:rPr lang="en-US" sz="1250" dirty="0">
                          <a:solidFill>
                            <a:srgbClr val="1E2233"/>
                          </a:solidFill>
                          <a:latin typeface="Calibri" pitchFamily="34" charset="0"/>
                          <a:ea typeface="Calibri" pitchFamily="34" charset="-122"/>
                          <a:cs typeface="Calibri" pitchFamily="34" charset="-120"/>
                        </a:rPr>
                        <a:t>plotly</a:t>
                      </a:r>
                      <a:endParaRPr lang="en-US" sz="1250" dirty="0">
                        <a:latin typeface="Calibri" charset="0"/>
                        <a:ea typeface="Calibri" charset="0"/>
                        <a:cs typeface="Calibri" charset="0"/>
                      </a:endParaRPr>
                    </a:p>
                  </a:txBody>
                  <a:tcPr anchor="ctr">
                    <a:lnL w="6350" cap="flat" cmpd="sng" algn="ctr">
                      <a:solidFill>
                        <a:srgbClr val="C7CCF0"/>
                      </a:solidFill>
                      <a:prstDash val="solid"/>
                      <a:round/>
                      <a:headEnd type="none" w="med" len="med"/>
                      <a:tailEnd type="none" w="med" len="med"/>
                    </a:lnL>
                    <a:lnR w="6350" cap="flat" cmpd="sng" algn="ctr">
                      <a:solidFill>
                        <a:srgbClr val="C7CCF0"/>
                      </a:solidFill>
                      <a:prstDash val="solid"/>
                      <a:round/>
                      <a:headEnd type="none" w="med" len="med"/>
                      <a:tailEnd type="none" w="med" len="med"/>
                    </a:lnR>
                    <a:lnT w="6350" cap="flat" cmpd="sng" algn="ctr">
                      <a:solidFill>
                        <a:srgbClr val="C7CCF0"/>
                      </a:solidFill>
                      <a:prstDash val="solid"/>
                      <a:round/>
                      <a:headEnd type="none" w="med" len="med"/>
                      <a:tailEnd type="none" w="med" len="med"/>
                    </a:lnT>
                    <a:lnB w="6350" cap="flat" cmpd="sng" algn="ctr">
                      <a:solidFill>
                        <a:srgbClr val="C7CCF0"/>
                      </a:solidFill>
                      <a:prstDash val="solid"/>
                      <a:round/>
                      <a:headEnd type="none" w="med" len="med"/>
                      <a:tailEnd type="none" w="med" len="med"/>
                    </a:lnB>
                    <a:solidFill>
                      <a:srgbClr val="FFFFFF"/>
                    </a:solidFill>
                  </a:tcPr>
                </a:tc>
                <a:tc>
                  <a:txBody>
                    <a:bodyPr/>
                    <a:lstStyle/>
                    <a:p>
                      <a:pPr marL="0" indent="0">
                        <a:buNone/>
                      </a:pPr>
                      <a:r>
                        <a:rPr lang="en-US" sz="1250" dirty="0">
                          <a:solidFill>
                            <a:srgbClr val="1E2233"/>
                          </a:solidFill>
                          <a:latin typeface="Calibri" pitchFamily="34" charset="0"/>
                          <a:ea typeface="Calibri" pitchFamily="34" charset="-122"/>
                          <a:cs typeface="Calibri" pitchFamily="34" charset="-120"/>
                        </a:rPr>
                        <a:t>6.8.0</a:t>
                      </a:r>
                      <a:endParaRPr lang="en-US" sz="1250" dirty="0">
                        <a:latin typeface="Calibri" charset="0"/>
                        <a:ea typeface="Calibri" charset="0"/>
                        <a:cs typeface="Calibri" charset="0"/>
                      </a:endParaRPr>
                    </a:p>
                  </a:txBody>
                  <a:tcPr anchor="ctr">
                    <a:lnL w="6350" cap="flat" cmpd="sng" algn="ctr">
                      <a:solidFill>
                        <a:srgbClr val="C7CCF0"/>
                      </a:solidFill>
                      <a:prstDash val="solid"/>
                      <a:round/>
                      <a:headEnd type="none" w="med" len="med"/>
                      <a:tailEnd type="none" w="med" len="med"/>
                    </a:lnL>
                    <a:lnR w="6350" cap="flat" cmpd="sng" algn="ctr">
                      <a:solidFill>
                        <a:srgbClr val="C7CCF0"/>
                      </a:solidFill>
                      <a:prstDash val="solid"/>
                      <a:round/>
                      <a:headEnd type="none" w="med" len="med"/>
                      <a:tailEnd type="none" w="med" len="med"/>
                    </a:lnR>
                    <a:lnT w="6350" cap="flat" cmpd="sng" algn="ctr">
                      <a:solidFill>
                        <a:srgbClr val="C7CCF0"/>
                      </a:solidFill>
                      <a:prstDash val="solid"/>
                      <a:round/>
                      <a:headEnd type="none" w="med" len="med"/>
                      <a:tailEnd type="none" w="med" len="med"/>
                    </a:lnT>
                    <a:lnB w="6350" cap="flat" cmpd="sng" algn="ctr">
                      <a:solidFill>
                        <a:srgbClr val="C7CCF0"/>
                      </a:solidFill>
                      <a:prstDash val="solid"/>
                      <a:round/>
                      <a:headEnd type="none" w="med" len="med"/>
                      <a:tailEnd type="none" w="med" len="med"/>
                    </a:lnB>
                    <a:solidFill>
                      <a:srgbClr val="FFFFFF"/>
                    </a:solidFill>
                  </a:tcPr>
                </a:tc>
                <a:tc>
                  <a:txBody>
                    <a:bodyPr/>
                    <a:lstStyle/>
                    <a:p>
                      <a:pPr marL="0" indent="0">
                        <a:buNone/>
                      </a:pPr>
                      <a:r>
                        <a:rPr lang="en-US" sz="1250" dirty="0">
                          <a:solidFill>
                            <a:srgbClr val="1E2233"/>
                          </a:solidFill>
                          <a:latin typeface="Calibri" pitchFamily="34" charset="0"/>
                          <a:ea typeface="Calibri" pitchFamily="34" charset="-122"/>
                          <a:cs typeface="Calibri" pitchFamily="34" charset="-120"/>
                        </a:rPr>
                        <a:t>Visualisations interactives</a:t>
                      </a:r>
                      <a:endParaRPr lang="en-US" sz="1250" dirty="0">
                        <a:latin typeface="Calibri" charset="0"/>
                        <a:ea typeface="Calibri" charset="0"/>
                        <a:cs typeface="Calibri" charset="0"/>
                      </a:endParaRPr>
                    </a:p>
                  </a:txBody>
                  <a:tcPr anchor="ctr">
                    <a:lnL w="6350" cap="flat" cmpd="sng" algn="ctr">
                      <a:solidFill>
                        <a:srgbClr val="C7CCF0"/>
                      </a:solidFill>
                      <a:prstDash val="solid"/>
                      <a:round/>
                      <a:headEnd type="none" w="med" len="med"/>
                      <a:tailEnd type="none" w="med" len="med"/>
                    </a:lnL>
                    <a:lnR w="6350" cap="flat" cmpd="sng" algn="ctr">
                      <a:solidFill>
                        <a:srgbClr val="C7CCF0"/>
                      </a:solidFill>
                      <a:prstDash val="solid"/>
                      <a:round/>
                      <a:headEnd type="none" w="med" len="med"/>
                      <a:tailEnd type="none" w="med" len="med"/>
                    </a:lnR>
                    <a:lnT w="6350" cap="flat" cmpd="sng" algn="ctr">
                      <a:solidFill>
                        <a:srgbClr val="C7CCF0"/>
                      </a:solidFill>
                      <a:prstDash val="solid"/>
                      <a:round/>
                      <a:headEnd type="none" w="med" len="med"/>
                      <a:tailEnd type="none" w="med" len="med"/>
                    </a:lnT>
                    <a:lnB w="6350" cap="flat" cmpd="sng" algn="ctr">
                      <a:solidFill>
                        <a:srgbClr val="C7CCF0"/>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429768">
                <a:tc>
                  <a:txBody>
                    <a:bodyPr/>
                    <a:lstStyle/>
                    <a:p>
                      <a:pPr marL="0" indent="0">
                        <a:buNone/>
                      </a:pPr>
                      <a:r>
                        <a:rPr lang="en-US" sz="1250" dirty="0">
                          <a:solidFill>
                            <a:srgbClr val="1E2233"/>
                          </a:solidFill>
                          <a:latin typeface="Calibri" pitchFamily="34" charset="0"/>
                          <a:ea typeface="Calibri" pitchFamily="34" charset="-122"/>
                          <a:cs typeface="Calibri" pitchFamily="34" charset="-120"/>
                        </a:rPr>
                        <a:t>scikit-learn</a:t>
                      </a:r>
                      <a:endParaRPr lang="en-US" sz="1250" dirty="0">
                        <a:latin typeface="Calibri" charset="0"/>
                        <a:ea typeface="Calibri" charset="0"/>
                        <a:cs typeface="Calibri" charset="0"/>
                      </a:endParaRPr>
                    </a:p>
                  </a:txBody>
                  <a:tcPr anchor="ctr">
                    <a:lnL w="6350" cap="flat" cmpd="sng" algn="ctr">
                      <a:solidFill>
                        <a:srgbClr val="C7CCF0"/>
                      </a:solidFill>
                      <a:prstDash val="solid"/>
                      <a:round/>
                      <a:headEnd type="none" w="med" len="med"/>
                      <a:tailEnd type="none" w="med" len="med"/>
                    </a:lnL>
                    <a:lnR w="6350" cap="flat" cmpd="sng" algn="ctr">
                      <a:solidFill>
                        <a:srgbClr val="C7CCF0"/>
                      </a:solidFill>
                      <a:prstDash val="solid"/>
                      <a:round/>
                      <a:headEnd type="none" w="med" len="med"/>
                      <a:tailEnd type="none" w="med" len="med"/>
                    </a:lnR>
                    <a:lnT w="6350" cap="flat" cmpd="sng" algn="ctr">
                      <a:solidFill>
                        <a:srgbClr val="C7CCF0"/>
                      </a:solidFill>
                      <a:prstDash val="solid"/>
                      <a:round/>
                      <a:headEnd type="none" w="med" len="med"/>
                      <a:tailEnd type="none" w="med" len="med"/>
                    </a:lnT>
                    <a:lnB w="6350" cap="flat" cmpd="sng" algn="ctr">
                      <a:solidFill>
                        <a:srgbClr val="C7CCF0"/>
                      </a:solidFill>
                      <a:prstDash val="solid"/>
                      <a:round/>
                      <a:headEnd type="none" w="med" len="med"/>
                      <a:tailEnd type="none" w="med" len="med"/>
                    </a:lnB>
                    <a:solidFill>
                      <a:srgbClr val="FFFFFF"/>
                    </a:solidFill>
                  </a:tcPr>
                </a:tc>
                <a:tc>
                  <a:txBody>
                    <a:bodyPr/>
                    <a:lstStyle/>
                    <a:p>
                      <a:pPr marL="0" indent="0">
                        <a:buNone/>
                      </a:pPr>
                      <a:r>
                        <a:rPr lang="en-US" sz="1250" dirty="0">
                          <a:solidFill>
                            <a:srgbClr val="1E2233"/>
                          </a:solidFill>
                          <a:latin typeface="Calibri" pitchFamily="34" charset="0"/>
                          <a:ea typeface="Calibri" pitchFamily="34" charset="-122"/>
                          <a:cs typeface="Calibri" pitchFamily="34" charset="-120"/>
                        </a:rPr>
                        <a:t>1.6.0</a:t>
                      </a:r>
                      <a:endParaRPr lang="en-US" sz="1250" dirty="0">
                        <a:latin typeface="Calibri" charset="0"/>
                        <a:ea typeface="Calibri" charset="0"/>
                        <a:cs typeface="Calibri" charset="0"/>
                      </a:endParaRPr>
                    </a:p>
                  </a:txBody>
                  <a:tcPr anchor="ctr">
                    <a:lnL w="6350" cap="flat" cmpd="sng" algn="ctr">
                      <a:solidFill>
                        <a:srgbClr val="C7CCF0"/>
                      </a:solidFill>
                      <a:prstDash val="solid"/>
                      <a:round/>
                      <a:headEnd type="none" w="med" len="med"/>
                      <a:tailEnd type="none" w="med" len="med"/>
                    </a:lnL>
                    <a:lnR w="6350" cap="flat" cmpd="sng" algn="ctr">
                      <a:solidFill>
                        <a:srgbClr val="C7CCF0"/>
                      </a:solidFill>
                      <a:prstDash val="solid"/>
                      <a:round/>
                      <a:headEnd type="none" w="med" len="med"/>
                      <a:tailEnd type="none" w="med" len="med"/>
                    </a:lnR>
                    <a:lnT w="6350" cap="flat" cmpd="sng" algn="ctr">
                      <a:solidFill>
                        <a:srgbClr val="C7CCF0"/>
                      </a:solidFill>
                      <a:prstDash val="solid"/>
                      <a:round/>
                      <a:headEnd type="none" w="med" len="med"/>
                      <a:tailEnd type="none" w="med" len="med"/>
                    </a:lnT>
                    <a:lnB w="6350" cap="flat" cmpd="sng" algn="ctr">
                      <a:solidFill>
                        <a:srgbClr val="C7CCF0"/>
                      </a:solidFill>
                      <a:prstDash val="solid"/>
                      <a:round/>
                      <a:headEnd type="none" w="med" len="med"/>
                      <a:tailEnd type="none" w="med" len="med"/>
                    </a:lnB>
                    <a:solidFill>
                      <a:srgbClr val="FFFFFF"/>
                    </a:solidFill>
                  </a:tcPr>
                </a:tc>
                <a:tc>
                  <a:txBody>
                    <a:bodyPr/>
                    <a:lstStyle/>
                    <a:p>
                      <a:pPr marL="0" indent="0">
                        <a:buNone/>
                      </a:pPr>
                      <a:r>
                        <a:rPr lang="en-US" sz="1250" dirty="0">
                          <a:solidFill>
                            <a:srgbClr val="1E2233"/>
                          </a:solidFill>
                          <a:latin typeface="Calibri" pitchFamily="34" charset="0"/>
                          <a:ea typeface="Calibri" pitchFamily="34" charset="-122"/>
                          <a:cs typeface="Calibri" pitchFamily="34" charset="-120"/>
                        </a:rPr>
                        <a:t>Prétraitement ML et métriques</a:t>
                      </a:r>
                      <a:endParaRPr lang="en-US" sz="1250" dirty="0">
                        <a:latin typeface="Calibri" charset="0"/>
                        <a:ea typeface="Calibri" charset="0"/>
                        <a:cs typeface="Calibri" charset="0"/>
                      </a:endParaRPr>
                    </a:p>
                  </a:txBody>
                  <a:tcPr anchor="ctr">
                    <a:lnL w="6350" cap="flat" cmpd="sng" algn="ctr">
                      <a:solidFill>
                        <a:srgbClr val="C7CCF0"/>
                      </a:solidFill>
                      <a:prstDash val="solid"/>
                      <a:round/>
                      <a:headEnd type="none" w="med" len="med"/>
                      <a:tailEnd type="none" w="med" len="med"/>
                    </a:lnL>
                    <a:lnR w="6350" cap="flat" cmpd="sng" algn="ctr">
                      <a:solidFill>
                        <a:srgbClr val="C7CCF0"/>
                      </a:solidFill>
                      <a:prstDash val="solid"/>
                      <a:round/>
                      <a:headEnd type="none" w="med" len="med"/>
                      <a:tailEnd type="none" w="med" len="med"/>
                    </a:lnR>
                    <a:lnT w="6350" cap="flat" cmpd="sng" algn="ctr">
                      <a:solidFill>
                        <a:srgbClr val="C7CCF0"/>
                      </a:solidFill>
                      <a:prstDash val="solid"/>
                      <a:round/>
                      <a:headEnd type="none" w="med" len="med"/>
                      <a:tailEnd type="none" w="med" len="med"/>
                    </a:lnT>
                    <a:lnB w="6350" cap="flat" cmpd="sng" algn="ctr">
                      <a:solidFill>
                        <a:srgbClr val="C7CCF0"/>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429768">
                <a:tc>
                  <a:txBody>
                    <a:bodyPr/>
                    <a:lstStyle/>
                    <a:p>
                      <a:pPr marL="0" indent="0">
                        <a:buNone/>
                      </a:pPr>
                      <a:r>
                        <a:rPr lang="en-US" sz="1250" dirty="0">
                          <a:solidFill>
                            <a:srgbClr val="1E2233"/>
                          </a:solidFill>
                          <a:latin typeface="Calibri" pitchFamily="34" charset="0"/>
                          <a:ea typeface="Calibri" pitchFamily="34" charset="-122"/>
                          <a:cs typeface="Calibri" pitchFamily="34" charset="-120"/>
                        </a:rPr>
                        <a:t>xgboost</a:t>
                      </a:r>
                      <a:endParaRPr lang="en-US" sz="1250" dirty="0">
                        <a:latin typeface="Calibri" charset="0"/>
                        <a:ea typeface="Calibri" charset="0"/>
                        <a:cs typeface="Calibri" charset="0"/>
                      </a:endParaRPr>
                    </a:p>
                  </a:txBody>
                  <a:tcPr anchor="ctr">
                    <a:lnL w="6350" cap="flat" cmpd="sng" algn="ctr">
                      <a:solidFill>
                        <a:srgbClr val="C7CCF0"/>
                      </a:solidFill>
                      <a:prstDash val="solid"/>
                      <a:round/>
                      <a:headEnd type="none" w="med" len="med"/>
                      <a:tailEnd type="none" w="med" len="med"/>
                    </a:lnL>
                    <a:lnR w="6350" cap="flat" cmpd="sng" algn="ctr">
                      <a:solidFill>
                        <a:srgbClr val="C7CCF0"/>
                      </a:solidFill>
                      <a:prstDash val="solid"/>
                      <a:round/>
                      <a:headEnd type="none" w="med" len="med"/>
                      <a:tailEnd type="none" w="med" len="med"/>
                    </a:lnR>
                    <a:lnT w="6350" cap="flat" cmpd="sng" algn="ctr">
                      <a:solidFill>
                        <a:srgbClr val="C7CCF0"/>
                      </a:solidFill>
                      <a:prstDash val="solid"/>
                      <a:round/>
                      <a:headEnd type="none" w="med" len="med"/>
                      <a:tailEnd type="none" w="med" len="med"/>
                    </a:lnT>
                    <a:lnB w="6350" cap="flat" cmpd="sng" algn="ctr">
                      <a:solidFill>
                        <a:srgbClr val="C7CCF0"/>
                      </a:solidFill>
                      <a:prstDash val="solid"/>
                      <a:round/>
                      <a:headEnd type="none" w="med" len="med"/>
                      <a:tailEnd type="none" w="med" len="med"/>
                    </a:lnB>
                    <a:solidFill>
                      <a:srgbClr val="FFFFFF"/>
                    </a:solidFill>
                  </a:tcPr>
                </a:tc>
                <a:tc>
                  <a:txBody>
                    <a:bodyPr/>
                    <a:lstStyle/>
                    <a:p>
                      <a:pPr marL="0" indent="0">
                        <a:buNone/>
                      </a:pPr>
                      <a:r>
                        <a:rPr lang="en-US" sz="1250" dirty="0">
                          <a:solidFill>
                            <a:srgbClr val="1E2233"/>
                          </a:solidFill>
                          <a:latin typeface="Calibri" pitchFamily="34" charset="0"/>
                          <a:ea typeface="Calibri" pitchFamily="34" charset="-122"/>
                          <a:cs typeface="Calibri" pitchFamily="34" charset="-120"/>
                        </a:rPr>
                        <a:t>2.0.3</a:t>
                      </a:r>
                      <a:endParaRPr lang="en-US" sz="1250" dirty="0">
                        <a:latin typeface="Calibri" charset="0"/>
                        <a:ea typeface="Calibri" charset="0"/>
                        <a:cs typeface="Calibri" charset="0"/>
                      </a:endParaRPr>
                    </a:p>
                  </a:txBody>
                  <a:tcPr anchor="ctr">
                    <a:lnL w="6350" cap="flat" cmpd="sng" algn="ctr">
                      <a:solidFill>
                        <a:srgbClr val="C7CCF0"/>
                      </a:solidFill>
                      <a:prstDash val="solid"/>
                      <a:round/>
                      <a:headEnd type="none" w="med" len="med"/>
                      <a:tailEnd type="none" w="med" len="med"/>
                    </a:lnL>
                    <a:lnR w="6350" cap="flat" cmpd="sng" algn="ctr">
                      <a:solidFill>
                        <a:srgbClr val="C7CCF0"/>
                      </a:solidFill>
                      <a:prstDash val="solid"/>
                      <a:round/>
                      <a:headEnd type="none" w="med" len="med"/>
                      <a:tailEnd type="none" w="med" len="med"/>
                    </a:lnR>
                    <a:lnT w="6350" cap="flat" cmpd="sng" algn="ctr">
                      <a:solidFill>
                        <a:srgbClr val="C7CCF0"/>
                      </a:solidFill>
                      <a:prstDash val="solid"/>
                      <a:round/>
                      <a:headEnd type="none" w="med" len="med"/>
                      <a:tailEnd type="none" w="med" len="med"/>
                    </a:lnT>
                    <a:lnB w="6350" cap="flat" cmpd="sng" algn="ctr">
                      <a:solidFill>
                        <a:srgbClr val="C7CCF0"/>
                      </a:solidFill>
                      <a:prstDash val="solid"/>
                      <a:round/>
                      <a:headEnd type="none" w="med" len="med"/>
                      <a:tailEnd type="none" w="med" len="med"/>
                    </a:lnB>
                    <a:solidFill>
                      <a:srgbClr val="FFFFFF"/>
                    </a:solidFill>
                  </a:tcPr>
                </a:tc>
                <a:tc>
                  <a:txBody>
                    <a:bodyPr/>
                    <a:lstStyle/>
                    <a:p>
                      <a:pPr marL="0" indent="0">
                        <a:buNone/>
                      </a:pPr>
                      <a:r>
                        <a:rPr lang="en-US" sz="1250" dirty="0">
                          <a:solidFill>
                            <a:srgbClr val="1E2233"/>
                          </a:solidFill>
                          <a:latin typeface="Calibri" pitchFamily="34" charset="0"/>
                          <a:ea typeface="Calibri" pitchFamily="34" charset="-122"/>
                          <a:cs typeface="Calibri" pitchFamily="34" charset="-120"/>
                        </a:rPr>
                        <a:t>Modèle de classification</a:t>
                      </a:r>
                      <a:endParaRPr lang="en-US" sz="1250" dirty="0">
                        <a:latin typeface="Calibri" charset="0"/>
                        <a:ea typeface="Calibri" charset="0"/>
                        <a:cs typeface="Calibri" charset="0"/>
                      </a:endParaRPr>
                    </a:p>
                  </a:txBody>
                  <a:tcPr anchor="ctr">
                    <a:lnL w="6350" cap="flat" cmpd="sng" algn="ctr">
                      <a:solidFill>
                        <a:srgbClr val="C7CCF0"/>
                      </a:solidFill>
                      <a:prstDash val="solid"/>
                      <a:round/>
                      <a:headEnd type="none" w="med" len="med"/>
                      <a:tailEnd type="none" w="med" len="med"/>
                    </a:lnL>
                    <a:lnR w="6350" cap="flat" cmpd="sng" algn="ctr">
                      <a:solidFill>
                        <a:srgbClr val="C7CCF0"/>
                      </a:solidFill>
                      <a:prstDash val="solid"/>
                      <a:round/>
                      <a:headEnd type="none" w="med" len="med"/>
                      <a:tailEnd type="none" w="med" len="med"/>
                    </a:lnR>
                    <a:lnT w="6350" cap="flat" cmpd="sng" algn="ctr">
                      <a:solidFill>
                        <a:srgbClr val="C7CCF0"/>
                      </a:solidFill>
                      <a:prstDash val="solid"/>
                      <a:round/>
                      <a:headEnd type="none" w="med" len="med"/>
                      <a:tailEnd type="none" w="med" len="med"/>
                    </a:lnT>
                    <a:lnB w="6350" cap="flat" cmpd="sng" algn="ctr">
                      <a:solidFill>
                        <a:srgbClr val="C7CCF0"/>
                      </a:solidFill>
                      <a:prstDash val="solid"/>
                      <a:round/>
                      <a:headEnd type="none" w="med" len="med"/>
                      <a:tailEnd type="none" w="med" len="med"/>
                    </a:lnB>
                    <a:solidFill>
                      <a:srgbClr val="FFFFFF"/>
                    </a:solidFill>
                  </a:tcPr>
                </a:tc>
                <a:extLst>
                  <a:ext uri="{0D108BD9-81ED-4DB2-BD59-A6C34878D82A}">
                    <a16:rowId xmlns:a16="http://schemas.microsoft.com/office/drawing/2014/main" val="10008"/>
                  </a:ext>
                </a:extLst>
              </a:tr>
              <a:tr h="429768">
                <a:tc>
                  <a:txBody>
                    <a:bodyPr/>
                    <a:lstStyle/>
                    <a:p>
                      <a:pPr marL="0" indent="0">
                        <a:buNone/>
                      </a:pPr>
                      <a:r>
                        <a:rPr lang="en-US" sz="1250" dirty="0">
                          <a:solidFill>
                            <a:srgbClr val="1E2233"/>
                          </a:solidFill>
                          <a:latin typeface="Calibri" pitchFamily="34" charset="0"/>
                          <a:ea typeface="Calibri" pitchFamily="34" charset="-122"/>
                          <a:cs typeface="Calibri" pitchFamily="34" charset="-120"/>
                        </a:rPr>
                        <a:t>imbalanced-learn</a:t>
                      </a:r>
                      <a:endParaRPr lang="en-US" sz="1250" dirty="0">
                        <a:latin typeface="Calibri" charset="0"/>
                        <a:ea typeface="Calibri" charset="0"/>
                        <a:cs typeface="Calibri" charset="0"/>
                      </a:endParaRPr>
                    </a:p>
                  </a:txBody>
                  <a:tcPr anchor="ctr">
                    <a:lnL w="6350" cap="flat" cmpd="sng" algn="ctr">
                      <a:solidFill>
                        <a:srgbClr val="C7CCF0"/>
                      </a:solidFill>
                      <a:prstDash val="solid"/>
                      <a:round/>
                      <a:headEnd type="none" w="med" len="med"/>
                      <a:tailEnd type="none" w="med" len="med"/>
                    </a:lnL>
                    <a:lnR w="6350" cap="flat" cmpd="sng" algn="ctr">
                      <a:solidFill>
                        <a:srgbClr val="C7CCF0"/>
                      </a:solidFill>
                      <a:prstDash val="solid"/>
                      <a:round/>
                      <a:headEnd type="none" w="med" len="med"/>
                      <a:tailEnd type="none" w="med" len="med"/>
                    </a:lnR>
                    <a:lnT w="6350" cap="flat" cmpd="sng" algn="ctr">
                      <a:solidFill>
                        <a:srgbClr val="C7CCF0"/>
                      </a:solidFill>
                      <a:prstDash val="solid"/>
                      <a:round/>
                      <a:headEnd type="none" w="med" len="med"/>
                      <a:tailEnd type="none" w="med" len="med"/>
                    </a:lnT>
                    <a:lnB w="6350" cap="flat" cmpd="sng" algn="ctr">
                      <a:solidFill>
                        <a:srgbClr val="C7CCF0"/>
                      </a:solidFill>
                      <a:prstDash val="solid"/>
                      <a:round/>
                      <a:headEnd type="none" w="med" len="med"/>
                      <a:tailEnd type="none" w="med" len="med"/>
                    </a:lnB>
                    <a:solidFill>
                      <a:srgbClr val="FFFFFF"/>
                    </a:solidFill>
                  </a:tcPr>
                </a:tc>
                <a:tc>
                  <a:txBody>
                    <a:bodyPr/>
                    <a:lstStyle/>
                    <a:p>
                      <a:pPr marL="0" indent="0">
                        <a:buNone/>
                      </a:pPr>
                      <a:r>
                        <a:rPr lang="en-US" sz="1250" dirty="0">
                          <a:solidFill>
                            <a:srgbClr val="1E2233"/>
                          </a:solidFill>
                          <a:latin typeface="Calibri" pitchFamily="34" charset="0"/>
                          <a:ea typeface="Calibri" pitchFamily="34" charset="-122"/>
                          <a:cs typeface="Calibri" pitchFamily="34" charset="-120"/>
                        </a:rPr>
                        <a:t>0.12.0</a:t>
                      </a:r>
                      <a:endParaRPr lang="en-US" sz="1250" dirty="0">
                        <a:latin typeface="Calibri" charset="0"/>
                        <a:ea typeface="Calibri" charset="0"/>
                        <a:cs typeface="Calibri" charset="0"/>
                      </a:endParaRPr>
                    </a:p>
                  </a:txBody>
                  <a:tcPr anchor="ctr">
                    <a:lnL w="6350" cap="flat" cmpd="sng" algn="ctr">
                      <a:solidFill>
                        <a:srgbClr val="C7CCF0"/>
                      </a:solidFill>
                      <a:prstDash val="solid"/>
                      <a:round/>
                      <a:headEnd type="none" w="med" len="med"/>
                      <a:tailEnd type="none" w="med" len="med"/>
                    </a:lnL>
                    <a:lnR w="6350" cap="flat" cmpd="sng" algn="ctr">
                      <a:solidFill>
                        <a:srgbClr val="C7CCF0"/>
                      </a:solidFill>
                      <a:prstDash val="solid"/>
                      <a:round/>
                      <a:headEnd type="none" w="med" len="med"/>
                      <a:tailEnd type="none" w="med" len="med"/>
                    </a:lnR>
                    <a:lnT w="6350" cap="flat" cmpd="sng" algn="ctr">
                      <a:solidFill>
                        <a:srgbClr val="C7CCF0"/>
                      </a:solidFill>
                      <a:prstDash val="solid"/>
                      <a:round/>
                      <a:headEnd type="none" w="med" len="med"/>
                      <a:tailEnd type="none" w="med" len="med"/>
                    </a:lnT>
                    <a:lnB w="6350" cap="flat" cmpd="sng" algn="ctr">
                      <a:solidFill>
                        <a:srgbClr val="C7CCF0"/>
                      </a:solidFill>
                      <a:prstDash val="solid"/>
                      <a:round/>
                      <a:headEnd type="none" w="med" len="med"/>
                      <a:tailEnd type="none" w="med" len="med"/>
                    </a:lnB>
                    <a:solidFill>
                      <a:srgbClr val="FFFFFF"/>
                    </a:solidFill>
                  </a:tcPr>
                </a:tc>
                <a:tc>
                  <a:txBody>
                    <a:bodyPr/>
                    <a:lstStyle/>
                    <a:p>
                      <a:pPr marL="0" indent="0">
                        <a:buNone/>
                      </a:pPr>
                      <a:r>
                        <a:rPr lang="en-US" sz="1250" dirty="0">
                          <a:solidFill>
                            <a:srgbClr val="1E2233"/>
                          </a:solidFill>
                          <a:latin typeface="Calibri" pitchFamily="34" charset="0"/>
                          <a:ea typeface="Calibri" pitchFamily="34" charset="-122"/>
                          <a:cs typeface="Calibri" pitchFamily="34" charset="-120"/>
                        </a:rPr>
                        <a:t>Technique SMOTE</a:t>
                      </a:r>
                      <a:endParaRPr lang="en-US" sz="1250" dirty="0">
                        <a:latin typeface="Calibri" charset="0"/>
                        <a:ea typeface="Calibri" charset="0"/>
                        <a:cs typeface="Calibri" charset="0"/>
                      </a:endParaRPr>
                    </a:p>
                  </a:txBody>
                  <a:tcPr anchor="ctr">
                    <a:lnL w="6350" cap="flat" cmpd="sng" algn="ctr">
                      <a:solidFill>
                        <a:srgbClr val="C7CCF0"/>
                      </a:solidFill>
                      <a:prstDash val="solid"/>
                      <a:round/>
                      <a:headEnd type="none" w="med" len="med"/>
                      <a:tailEnd type="none" w="med" len="med"/>
                    </a:lnL>
                    <a:lnR w="6350" cap="flat" cmpd="sng" algn="ctr">
                      <a:solidFill>
                        <a:srgbClr val="C7CCF0"/>
                      </a:solidFill>
                      <a:prstDash val="solid"/>
                      <a:round/>
                      <a:headEnd type="none" w="med" len="med"/>
                      <a:tailEnd type="none" w="med" len="med"/>
                    </a:lnR>
                    <a:lnT w="6350" cap="flat" cmpd="sng" algn="ctr">
                      <a:solidFill>
                        <a:srgbClr val="C7CCF0"/>
                      </a:solidFill>
                      <a:prstDash val="solid"/>
                      <a:round/>
                      <a:headEnd type="none" w="med" len="med"/>
                      <a:tailEnd type="none" w="med" len="med"/>
                    </a:lnT>
                    <a:lnB w="6350" cap="flat" cmpd="sng" algn="ctr">
                      <a:solidFill>
                        <a:srgbClr val="C7CCF0"/>
                      </a:solidFill>
                      <a:prstDash val="solid"/>
                      <a:round/>
                      <a:headEnd type="none" w="med" len="med"/>
                      <a:tailEnd type="none" w="med" len="med"/>
                    </a:lnB>
                    <a:solidFill>
                      <a:srgbClr val="FFFFFF"/>
                    </a:solidFill>
                  </a:tcPr>
                </a:tc>
                <a:extLst>
                  <a:ext uri="{0D108BD9-81ED-4DB2-BD59-A6C34878D82A}">
                    <a16:rowId xmlns:a16="http://schemas.microsoft.com/office/drawing/2014/main" val="10009"/>
                  </a:ext>
                </a:extLst>
              </a:tr>
              <a:tr h="429768">
                <a:tc>
                  <a:txBody>
                    <a:bodyPr/>
                    <a:lstStyle/>
                    <a:p>
                      <a:pPr marL="0" indent="0">
                        <a:buNone/>
                      </a:pPr>
                      <a:r>
                        <a:rPr lang="en-US" sz="1250" dirty="0">
                          <a:solidFill>
                            <a:srgbClr val="1E2233"/>
                          </a:solidFill>
                          <a:latin typeface="Calibri" pitchFamily="34" charset="0"/>
                          <a:ea typeface="Calibri" pitchFamily="34" charset="-122"/>
                          <a:cs typeface="Calibri" pitchFamily="34" charset="-120"/>
                        </a:rPr>
                        <a:t>shap</a:t>
                      </a:r>
                      <a:endParaRPr lang="en-US" sz="1250" dirty="0">
                        <a:latin typeface="Calibri" charset="0"/>
                        <a:ea typeface="Calibri" charset="0"/>
                        <a:cs typeface="Calibri" charset="0"/>
                      </a:endParaRPr>
                    </a:p>
                  </a:txBody>
                  <a:tcPr anchor="ctr">
                    <a:lnL w="6350" cap="flat" cmpd="sng" algn="ctr">
                      <a:solidFill>
                        <a:srgbClr val="C7CCF0"/>
                      </a:solidFill>
                      <a:prstDash val="solid"/>
                      <a:round/>
                      <a:headEnd type="none" w="med" len="med"/>
                      <a:tailEnd type="none" w="med" len="med"/>
                    </a:lnL>
                    <a:lnR w="6350" cap="flat" cmpd="sng" algn="ctr">
                      <a:solidFill>
                        <a:srgbClr val="C7CCF0"/>
                      </a:solidFill>
                      <a:prstDash val="solid"/>
                      <a:round/>
                      <a:headEnd type="none" w="med" len="med"/>
                      <a:tailEnd type="none" w="med" len="med"/>
                    </a:lnR>
                    <a:lnT w="6350" cap="flat" cmpd="sng" algn="ctr">
                      <a:solidFill>
                        <a:srgbClr val="C7CCF0"/>
                      </a:solidFill>
                      <a:prstDash val="solid"/>
                      <a:round/>
                      <a:headEnd type="none" w="med" len="med"/>
                      <a:tailEnd type="none" w="med" len="med"/>
                    </a:lnT>
                    <a:lnB w="6350" cap="flat" cmpd="sng" algn="ctr">
                      <a:solidFill>
                        <a:srgbClr val="C7CCF0"/>
                      </a:solidFill>
                      <a:prstDash val="solid"/>
                      <a:round/>
                      <a:headEnd type="none" w="med" len="med"/>
                      <a:tailEnd type="none" w="med" len="med"/>
                    </a:lnB>
                    <a:solidFill>
                      <a:srgbClr val="FFFFFF"/>
                    </a:solidFill>
                  </a:tcPr>
                </a:tc>
                <a:tc>
                  <a:txBody>
                    <a:bodyPr/>
                    <a:lstStyle/>
                    <a:p>
                      <a:pPr marL="0" indent="0">
                        <a:buNone/>
                      </a:pPr>
                      <a:r>
                        <a:rPr lang="en-US" sz="1250" dirty="0">
                          <a:solidFill>
                            <a:srgbClr val="1E2233"/>
                          </a:solidFill>
                          <a:latin typeface="Calibri" pitchFamily="34" charset="0"/>
                          <a:ea typeface="Calibri" pitchFamily="34" charset="-122"/>
                          <a:cs typeface="Calibri" pitchFamily="34" charset="-120"/>
                        </a:rPr>
                        <a:t>0.45.1</a:t>
                      </a:r>
                      <a:endParaRPr lang="en-US" sz="1250" dirty="0">
                        <a:latin typeface="Calibri" charset="0"/>
                        <a:ea typeface="Calibri" charset="0"/>
                        <a:cs typeface="Calibri" charset="0"/>
                      </a:endParaRPr>
                    </a:p>
                  </a:txBody>
                  <a:tcPr anchor="ctr">
                    <a:lnL w="6350" cap="flat" cmpd="sng" algn="ctr">
                      <a:solidFill>
                        <a:srgbClr val="C7CCF0"/>
                      </a:solidFill>
                      <a:prstDash val="solid"/>
                      <a:round/>
                      <a:headEnd type="none" w="med" len="med"/>
                      <a:tailEnd type="none" w="med" len="med"/>
                    </a:lnL>
                    <a:lnR w="6350" cap="flat" cmpd="sng" algn="ctr">
                      <a:solidFill>
                        <a:srgbClr val="C7CCF0"/>
                      </a:solidFill>
                      <a:prstDash val="solid"/>
                      <a:round/>
                      <a:headEnd type="none" w="med" len="med"/>
                      <a:tailEnd type="none" w="med" len="med"/>
                    </a:lnR>
                    <a:lnT w="6350" cap="flat" cmpd="sng" algn="ctr">
                      <a:solidFill>
                        <a:srgbClr val="C7CCF0"/>
                      </a:solidFill>
                      <a:prstDash val="solid"/>
                      <a:round/>
                      <a:headEnd type="none" w="med" len="med"/>
                      <a:tailEnd type="none" w="med" len="med"/>
                    </a:lnT>
                    <a:lnB w="6350" cap="flat" cmpd="sng" algn="ctr">
                      <a:solidFill>
                        <a:srgbClr val="C7CCF0"/>
                      </a:solidFill>
                      <a:prstDash val="solid"/>
                      <a:round/>
                      <a:headEnd type="none" w="med" len="med"/>
                      <a:tailEnd type="none" w="med" len="med"/>
                    </a:lnB>
                    <a:solidFill>
                      <a:srgbClr val="FFFFFF"/>
                    </a:solidFill>
                  </a:tcPr>
                </a:tc>
                <a:tc>
                  <a:txBody>
                    <a:bodyPr/>
                    <a:lstStyle/>
                    <a:p>
                      <a:pPr marL="0" indent="0">
                        <a:buNone/>
                      </a:pPr>
                      <a:r>
                        <a:rPr lang="en-US" sz="1250" dirty="0">
                          <a:solidFill>
                            <a:srgbClr val="1E2233"/>
                          </a:solidFill>
                          <a:latin typeface="Calibri" pitchFamily="34" charset="0"/>
                          <a:ea typeface="Calibri" pitchFamily="34" charset="-122"/>
                          <a:cs typeface="Calibri" pitchFamily="34" charset="-120"/>
                        </a:rPr>
                        <a:t>Explicabilité mathématique</a:t>
                      </a:r>
                      <a:endParaRPr lang="en-US" sz="1250" dirty="0">
                        <a:latin typeface="Calibri" charset="0"/>
                        <a:ea typeface="Calibri" charset="0"/>
                        <a:cs typeface="Calibri" charset="0"/>
                      </a:endParaRPr>
                    </a:p>
                  </a:txBody>
                  <a:tcPr anchor="ctr">
                    <a:lnL w="6350" cap="flat" cmpd="sng" algn="ctr">
                      <a:solidFill>
                        <a:srgbClr val="C7CCF0"/>
                      </a:solidFill>
                      <a:prstDash val="solid"/>
                      <a:round/>
                      <a:headEnd type="none" w="med" len="med"/>
                      <a:tailEnd type="none" w="med" len="med"/>
                    </a:lnL>
                    <a:lnR w="6350" cap="flat" cmpd="sng" algn="ctr">
                      <a:solidFill>
                        <a:srgbClr val="C7CCF0"/>
                      </a:solidFill>
                      <a:prstDash val="solid"/>
                      <a:round/>
                      <a:headEnd type="none" w="med" len="med"/>
                      <a:tailEnd type="none" w="med" len="med"/>
                    </a:lnR>
                    <a:lnT w="6350" cap="flat" cmpd="sng" algn="ctr">
                      <a:solidFill>
                        <a:srgbClr val="C7CCF0"/>
                      </a:solidFill>
                      <a:prstDash val="solid"/>
                      <a:round/>
                      <a:headEnd type="none" w="med" len="med"/>
                      <a:tailEnd type="none" w="med" len="med"/>
                    </a:lnT>
                    <a:lnB w="6350" cap="flat" cmpd="sng" algn="ctr">
                      <a:solidFill>
                        <a:srgbClr val="C7CCF0"/>
                      </a:solidFill>
                      <a:prstDash val="solid"/>
                      <a:round/>
                      <a:headEnd type="none" w="med" len="med"/>
                      <a:tailEnd type="none" w="med" len="med"/>
                    </a:lnB>
                    <a:solidFill>
                      <a:srgbClr val="FFFFFF"/>
                    </a:solidFill>
                  </a:tcPr>
                </a:tc>
                <a:extLst>
                  <a:ext uri="{0D108BD9-81ED-4DB2-BD59-A6C34878D82A}">
                    <a16:rowId xmlns:a16="http://schemas.microsoft.com/office/drawing/2014/main" val="10010"/>
                  </a:ext>
                </a:extLst>
              </a:tr>
            </a:tbl>
          </a:graphicData>
        </a:graphic>
      </p:graphicFrame>
      <p:sp>
        <p:nvSpPr>
          <p:cNvPr id="5" name="Text 2"/>
          <p:cNvSpPr/>
          <p:nvPr/>
        </p:nvSpPr>
        <p:spPr>
          <a:xfrm>
            <a:off x="457200" y="6473952"/>
            <a:ext cx="7315200" cy="274320"/>
          </a:xfrm>
          <a:prstGeom prst="rect">
            <a:avLst/>
          </a:prstGeom>
          <a:noFill/>
          <a:ln/>
        </p:spPr>
        <p:txBody>
          <a:bodyPr wrap="square" lIns="0" tIns="0" rIns="0" bIns="0" rtlCol="0" anchor="ctr"/>
          <a:lstStyle/>
          <a:p>
            <a:pPr marL="0" indent="0" algn="l">
              <a:buNone/>
            </a:pPr>
            <a:r>
              <a:rPr lang="en-US" sz="900" dirty="0">
                <a:solidFill>
                  <a:srgbClr val="6B7080"/>
                </a:solidFill>
                <a:latin typeface="Calibri" pitchFamily="34" charset="0"/>
                <a:ea typeface="Calibri" pitchFamily="34" charset="-122"/>
                <a:cs typeface="Calibri" pitchFamily="34" charset="-120"/>
              </a:rPr>
              <a:t>Sahel Telecom - Documentation technique EDW</a:t>
            </a:r>
            <a:endParaRPr lang="en-US" sz="900" dirty="0"/>
          </a:p>
        </p:txBody>
      </p:sp>
      <p:sp>
        <p:nvSpPr>
          <p:cNvPr id="6" name="Text 3"/>
          <p:cNvSpPr/>
          <p:nvPr/>
        </p:nvSpPr>
        <p:spPr>
          <a:xfrm>
            <a:off x="11247120" y="6473952"/>
            <a:ext cx="457200" cy="274320"/>
          </a:xfrm>
          <a:prstGeom prst="rect">
            <a:avLst/>
          </a:prstGeom>
          <a:noFill/>
          <a:ln/>
        </p:spPr>
        <p:txBody>
          <a:bodyPr wrap="square" lIns="0" tIns="0" rIns="0" bIns="0" rtlCol="0" anchor="ctr"/>
          <a:lstStyle/>
          <a:p>
            <a:pPr marL="0" indent="0" algn="r">
              <a:buNone/>
            </a:pPr>
            <a:r>
              <a:rPr lang="en-US" sz="900" dirty="0">
                <a:solidFill>
                  <a:srgbClr val="6B7080"/>
                </a:solidFill>
                <a:latin typeface="Calibri" pitchFamily="34" charset="0"/>
                <a:ea typeface="Calibri" pitchFamily="34" charset="-122"/>
                <a:cs typeface="Calibri" pitchFamily="34" charset="-120"/>
              </a:rPr>
              <a:t>13</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47472"/>
            <a:ext cx="9144000" cy="274320"/>
          </a:xfrm>
          <a:prstGeom prst="rect">
            <a:avLst/>
          </a:prstGeom>
          <a:noFill/>
          <a:ln/>
        </p:spPr>
        <p:txBody>
          <a:bodyPr wrap="square" lIns="0" tIns="0" rIns="0" bIns="0" rtlCol="0" anchor="ctr"/>
          <a:lstStyle/>
          <a:p>
            <a:pPr marL="0" indent="0">
              <a:buNone/>
            </a:pPr>
            <a:r>
              <a:rPr lang="en-US" sz="1200" b="1" kern="0" spc="200" dirty="0">
                <a:solidFill>
                  <a:srgbClr val="3949AB"/>
                </a:solidFill>
                <a:latin typeface="Calibri" pitchFamily="34" charset="0"/>
                <a:ea typeface="Calibri" pitchFamily="34" charset="-122"/>
                <a:cs typeface="Calibri" pitchFamily="34" charset="-120"/>
              </a:rPr>
              <a:t>RETOUR D'EXPÉRIENCE</a:t>
            </a:r>
            <a:endParaRPr lang="en-US" sz="1200" dirty="0"/>
          </a:p>
        </p:txBody>
      </p:sp>
      <p:sp>
        <p:nvSpPr>
          <p:cNvPr id="3" name="Text 1"/>
          <p:cNvSpPr/>
          <p:nvPr/>
        </p:nvSpPr>
        <p:spPr>
          <a:xfrm>
            <a:off x="548640" y="603504"/>
            <a:ext cx="11064240" cy="685800"/>
          </a:xfrm>
          <a:prstGeom prst="rect">
            <a:avLst/>
          </a:prstGeom>
          <a:noFill/>
          <a:ln/>
        </p:spPr>
        <p:txBody>
          <a:bodyPr wrap="square" lIns="0" tIns="0" rIns="0" bIns="0" rtlCol="0" anchor="ctr"/>
          <a:lstStyle/>
          <a:p>
            <a:pPr marL="0" indent="0">
              <a:buNone/>
            </a:pPr>
            <a:r>
              <a:rPr lang="en-US" sz="3000" b="1" dirty="0">
                <a:solidFill>
                  <a:srgbClr val="1E2233"/>
                </a:solidFill>
                <a:latin typeface="Cambria" pitchFamily="34" charset="0"/>
                <a:ea typeface="Cambria" pitchFamily="34" charset="-122"/>
                <a:cs typeface="Cambria" pitchFamily="34" charset="-120"/>
              </a:rPr>
              <a:t>Le défi de la volumétrie et la solution « Micro-KPI »</a:t>
            </a:r>
            <a:endParaRPr lang="en-US" sz="3000" dirty="0"/>
          </a:p>
        </p:txBody>
      </p:sp>
      <p:sp>
        <p:nvSpPr>
          <p:cNvPr id="4" name="Shape 2"/>
          <p:cNvSpPr/>
          <p:nvPr/>
        </p:nvSpPr>
        <p:spPr>
          <a:xfrm>
            <a:off x="548640" y="1463040"/>
            <a:ext cx="5394960" cy="4709160"/>
          </a:xfrm>
          <a:prstGeom prst="roundRect">
            <a:avLst>
              <a:gd name="adj" fmla="val 1553"/>
            </a:avLst>
          </a:prstGeom>
          <a:solidFill>
            <a:srgbClr val="FBEAEA"/>
          </a:solidFill>
          <a:ln/>
        </p:spPr>
      </p:sp>
      <p:sp>
        <p:nvSpPr>
          <p:cNvPr id="5" name="Shape 3"/>
          <p:cNvSpPr/>
          <p:nvPr/>
        </p:nvSpPr>
        <p:spPr>
          <a:xfrm>
            <a:off x="822960" y="1737360"/>
            <a:ext cx="502920" cy="502920"/>
          </a:xfrm>
          <a:prstGeom prst="ellipse">
            <a:avLst/>
          </a:prstGeom>
          <a:solidFill>
            <a:srgbClr val="E53935"/>
          </a:solidFill>
          <a:ln/>
        </p:spPr>
      </p:sp>
      <p:pic>
        <p:nvPicPr>
          <p:cNvPr id="6" name="Image 0" descr="preencoded.png"/>
          <p:cNvPicPr>
            <a:picLocks noChangeAspect="1"/>
          </p:cNvPicPr>
          <p:nvPr/>
        </p:nvPicPr>
        <p:blipFill>
          <a:blip r:embed="rId3"/>
          <a:stretch>
            <a:fillRect/>
          </a:stretch>
        </p:blipFill>
        <p:spPr>
          <a:xfrm>
            <a:off x="883310" y="1797710"/>
            <a:ext cx="382219" cy="382219"/>
          </a:xfrm>
          <a:prstGeom prst="rect">
            <a:avLst/>
          </a:prstGeom>
        </p:spPr>
      </p:pic>
      <p:sp>
        <p:nvSpPr>
          <p:cNvPr id="7" name="Text 4"/>
          <p:cNvSpPr/>
          <p:nvPr/>
        </p:nvSpPr>
        <p:spPr>
          <a:xfrm>
            <a:off x="1463040" y="1801368"/>
            <a:ext cx="4297680" cy="411480"/>
          </a:xfrm>
          <a:prstGeom prst="rect">
            <a:avLst/>
          </a:prstGeom>
          <a:noFill/>
          <a:ln/>
        </p:spPr>
        <p:txBody>
          <a:bodyPr wrap="square" lIns="0" tIns="0" rIns="0" bIns="0" rtlCol="0" anchor="ctr"/>
          <a:lstStyle/>
          <a:p>
            <a:pPr marL="0" indent="0">
              <a:buNone/>
            </a:pPr>
            <a:r>
              <a:rPr lang="en-US" sz="1500" b="1" dirty="0">
                <a:solidFill>
                  <a:srgbClr val="E53935"/>
                </a:solidFill>
                <a:latin typeface="Cambria" pitchFamily="34" charset="0"/>
                <a:ea typeface="Cambria" pitchFamily="34" charset="-122"/>
                <a:cs typeface="Cambria" pitchFamily="34" charset="-120"/>
              </a:rPr>
              <a:t>Difficulté rencontrée</a:t>
            </a:r>
            <a:endParaRPr lang="en-US" sz="1500" dirty="0"/>
          </a:p>
        </p:txBody>
      </p:sp>
      <p:sp>
        <p:nvSpPr>
          <p:cNvPr id="8" name="Text 5"/>
          <p:cNvSpPr/>
          <p:nvPr/>
        </p:nvSpPr>
        <p:spPr>
          <a:xfrm>
            <a:off x="868680" y="2423160"/>
            <a:ext cx="4754880" cy="868680"/>
          </a:xfrm>
          <a:prstGeom prst="rect">
            <a:avLst/>
          </a:prstGeom>
          <a:noFill/>
          <a:ln/>
        </p:spPr>
        <p:txBody>
          <a:bodyPr wrap="square" lIns="0" tIns="0" rIns="0" bIns="0" rtlCol="0" anchor="ctr"/>
          <a:lstStyle/>
          <a:p>
            <a:pPr marL="342900" indent="-342900">
              <a:lnSpc>
                <a:spcPct val="125000"/>
              </a:lnSpc>
              <a:buSzPct val="100000"/>
              <a:buChar char="•"/>
            </a:pPr>
            <a:r>
              <a:rPr lang="en-US" sz="1200" dirty="0">
                <a:solidFill>
                  <a:srgbClr val="7A1F1C"/>
                </a:solidFill>
                <a:latin typeface="Calibri" pitchFamily="34" charset="0"/>
                <a:ea typeface="Calibri" pitchFamily="34" charset="-122"/>
                <a:cs typeface="Calibri" pitchFamily="34" charset="-120"/>
              </a:rPr>
              <a:t>Fichiers CSV et fact_usage : plusieurs centaines de Mo, incompatibles avec la limite GitHub (100 Mo).</a:t>
            </a:r>
            <a:endParaRPr lang="en-US" sz="1200" dirty="0"/>
          </a:p>
        </p:txBody>
      </p:sp>
      <p:sp>
        <p:nvSpPr>
          <p:cNvPr id="9" name="Text 6"/>
          <p:cNvSpPr/>
          <p:nvPr/>
        </p:nvSpPr>
        <p:spPr>
          <a:xfrm>
            <a:off x="868680" y="3383280"/>
            <a:ext cx="4754880" cy="868680"/>
          </a:xfrm>
          <a:prstGeom prst="rect">
            <a:avLst/>
          </a:prstGeom>
          <a:noFill/>
          <a:ln/>
        </p:spPr>
        <p:txBody>
          <a:bodyPr wrap="square" lIns="0" tIns="0" rIns="0" bIns="0" rtlCol="0" anchor="ctr"/>
          <a:lstStyle/>
          <a:p>
            <a:pPr marL="342900" indent="-342900">
              <a:lnSpc>
                <a:spcPct val="125000"/>
              </a:lnSpc>
              <a:buSzPct val="100000"/>
              <a:buChar char="•"/>
            </a:pPr>
            <a:r>
              <a:rPr lang="en-US" sz="1200" dirty="0">
                <a:solidFill>
                  <a:srgbClr val="7A1F1C"/>
                </a:solidFill>
                <a:latin typeface="Calibri" pitchFamily="34" charset="0"/>
                <a:ea typeface="Calibri" pitchFamily="34" charset="-122"/>
                <a:cs typeface="Calibri" pitchFamily="34" charset="-120"/>
              </a:rPr>
              <a:t>Héberger MySQL en ligne aurait généré des coûts d'infrastructure non envisageables (contexte académique).</a:t>
            </a:r>
            <a:endParaRPr lang="en-US" sz="1200" dirty="0"/>
          </a:p>
        </p:txBody>
      </p:sp>
      <p:sp>
        <p:nvSpPr>
          <p:cNvPr id="10" name="Text 7"/>
          <p:cNvSpPr/>
          <p:nvPr/>
        </p:nvSpPr>
        <p:spPr>
          <a:xfrm>
            <a:off x="868680" y="4343400"/>
            <a:ext cx="4754880" cy="868680"/>
          </a:xfrm>
          <a:prstGeom prst="rect">
            <a:avLst/>
          </a:prstGeom>
          <a:noFill/>
          <a:ln/>
        </p:spPr>
        <p:txBody>
          <a:bodyPr wrap="square" lIns="0" tIns="0" rIns="0" bIns="0" rtlCol="0" anchor="ctr"/>
          <a:lstStyle/>
          <a:p>
            <a:pPr marL="342900" indent="-342900">
              <a:lnSpc>
                <a:spcPct val="125000"/>
              </a:lnSpc>
              <a:buSzPct val="100000"/>
              <a:buChar char="•"/>
            </a:pPr>
            <a:r>
              <a:rPr lang="en-US" sz="1200" dirty="0">
                <a:solidFill>
                  <a:srgbClr val="7A1F1C"/>
                </a:solidFill>
                <a:latin typeface="Calibri" pitchFamily="34" charset="0"/>
                <a:ea typeface="Calibri" pitchFamily="34" charset="-122"/>
                <a:cs typeface="Calibri" pitchFamily="34" charset="-120"/>
              </a:rPr>
              <a:t>Interroger de gros volumes dans le Cloud ralentissait fortement le dashboard.</a:t>
            </a:r>
            <a:endParaRPr lang="en-US" sz="1200" dirty="0"/>
          </a:p>
        </p:txBody>
      </p:sp>
      <p:sp>
        <p:nvSpPr>
          <p:cNvPr id="11" name="Shape 8"/>
          <p:cNvSpPr/>
          <p:nvPr/>
        </p:nvSpPr>
        <p:spPr>
          <a:xfrm>
            <a:off x="6217920" y="1463040"/>
            <a:ext cx="5394960" cy="4709160"/>
          </a:xfrm>
          <a:prstGeom prst="roundRect">
            <a:avLst>
              <a:gd name="adj" fmla="val 1553"/>
            </a:avLst>
          </a:prstGeom>
          <a:solidFill>
            <a:srgbClr val="E8F5E9"/>
          </a:solidFill>
          <a:ln/>
        </p:spPr>
      </p:sp>
      <p:sp>
        <p:nvSpPr>
          <p:cNvPr id="12" name="Shape 9"/>
          <p:cNvSpPr/>
          <p:nvPr/>
        </p:nvSpPr>
        <p:spPr>
          <a:xfrm>
            <a:off x="6492240" y="1737360"/>
            <a:ext cx="502920" cy="502920"/>
          </a:xfrm>
          <a:prstGeom prst="ellipse">
            <a:avLst/>
          </a:prstGeom>
          <a:solidFill>
            <a:srgbClr val="2E7D32"/>
          </a:solidFill>
          <a:ln/>
        </p:spPr>
      </p:sp>
      <p:pic>
        <p:nvPicPr>
          <p:cNvPr id="13" name="Image 1" descr="preencoded.png"/>
          <p:cNvPicPr>
            <a:picLocks noChangeAspect="1"/>
          </p:cNvPicPr>
          <p:nvPr/>
        </p:nvPicPr>
        <p:blipFill>
          <a:blip r:embed="rId4"/>
          <a:stretch>
            <a:fillRect/>
          </a:stretch>
        </p:blipFill>
        <p:spPr>
          <a:xfrm>
            <a:off x="6552590" y="1797710"/>
            <a:ext cx="382219" cy="382219"/>
          </a:xfrm>
          <a:prstGeom prst="rect">
            <a:avLst/>
          </a:prstGeom>
        </p:spPr>
      </p:pic>
      <p:sp>
        <p:nvSpPr>
          <p:cNvPr id="14" name="Text 10"/>
          <p:cNvSpPr/>
          <p:nvPr/>
        </p:nvSpPr>
        <p:spPr>
          <a:xfrm>
            <a:off x="7132320" y="1801368"/>
            <a:ext cx="4389120" cy="411480"/>
          </a:xfrm>
          <a:prstGeom prst="rect">
            <a:avLst/>
          </a:prstGeom>
          <a:noFill/>
          <a:ln/>
        </p:spPr>
        <p:txBody>
          <a:bodyPr wrap="square" lIns="0" tIns="0" rIns="0" bIns="0" rtlCol="0" anchor="ctr"/>
          <a:lstStyle/>
          <a:p>
            <a:pPr marL="0" indent="0">
              <a:buNone/>
            </a:pPr>
            <a:r>
              <a:rPr lang="en-US" sz="1500" b="1" dirty="0">
                <a:solidFill>
                  <a:srgbClr val="2E7D32"/>
                </a:solidFill>
                <a:latin typeface="Cambria" pitchFamily="34" charset="0"/>
                <a:ea typeface="Cambria" pitchFamily="34" charset="-122"/>
                <a:cs typeface="Cambria" pitchFamily="34" charset="-120"/>
              </a:rPr>
              <a:t>Solution : Micro-KPI + Serverless</a:t>
            </a:r>
            <a:endParaRPr lang="en-US" sz="1500" dirty="0"/>
          </a:p>
        </p:txBody>
      </p:sp>
      <p:sp>
        <p:nvSpPr>
          <p:cNvPr id="15" name="Text 11"/>
          <p:cNvSpPr/>
          <p:nvPr/>
        </p:nvSpPr>
        <p:spPr>
          <a:xfrm>
            <a:off x="6537960" y="2423160"/>
            <a:ext cx="4754880" cy="777240"/>
          </a:xfrm>
          <a:prstGeom prst="rect">
            <a:avLst/>
          </a:prstGeom>
          <a:noFill/>
          <a:ln/>
        </p:spPr>
        <p:txBody>
          <a:bodyPr wrap="square" lIns="0" tIns="0" rIns="0" bIns="0" rtlCol="0" anchor="ctr"/>
          <a:lstStyle/>
          <a:p>
            <a:pPr marL="342900" indent="-342900">
              <a:lnSpc>
                <a:spcPct val="120000"/>
              </a:lnSpc>
              <a:buSzPct val="100000"/>
              <a:buChar char="•"/>
            </a:pPr>
            <a:r>
              <a:rPr lang="en-US" sz="1150" dirty="0">
                <a:solidFill>
                  <a:srgbClr val="1B5E20"/>
                </a:solidFill>
                <a:latin typeface="Calibri" pitchFamily="34" charset="0"/>
                <a:ea typeface="Calibri" pitchFamily="34" charset="-122"/>
                <a:cs typeface="Calibri" pitchFamily="34" charset="-120"/>
              </a:rPr>
              <a:t>Matérialisation en mini-tables agrégées (refresh_kpis.py) plutôt que des millions de lignes brutes.</a:t>
            </a:r>
            <a:endParaRPr lang="en-US" sz="1150" dirty="0"/>
          </a:p>
        </p:txBody>
      </p:sp>
      <p:sp>
        <p:nvSpPr>
          <p:cNvPr id="16" name="Text 12"/>
          <p:cNvSpPr/>
          <p:nvPr/>
        </p:nvSpPr>
        <p:spPr>
          <a:xfrm>
            <a:off x="6537960" y="3291840"/>
            <a:ext cx="4754880" cy="777240"/>
          </a:xfrm>
          <a:prstGeom prst="rect">
            <a:avLst/>
          </a:prstGeom>
          <a:noFill/>
          <a:ln/>
        </p:spPr>
        <p:txBody>
          <a:bodyPr wrap="square" lIns="0" tIns="0" rIns="0" bIns="0" rtlCol="0" anchor="ctr"/>
          <a:lstStyle/>
          <a:p>
            <a:pPr marL="342900" indent="-342900">
              <a:lnSpc>
                <a:spcPct val="120000"/>
              </a:lnSpc>
              <a:buSzPct val="100000"/>
              <a:buChar char="•"/>
            </a:pPr>
            <a:r>
              <a:rPr lang="en-US" sz="1150" dirty="0">
                <a:solidFill>
                  <a:srgbClr val="1B5E20"/>
                </a:solidFill>
                <a:latin typeface="Calibri" pitchFamily="34" charset="0"/>
                <a:ea typeface="Calibri" pitchFamily="34" charset="-122"/>
                <a:cs typeface="Calibri" pitchFamily="34" charset="-120"/>
              </a:rPr>
              <a:t>Extraction vers SQLite (export_kpis_for_cloud.py) : la base passe de 250 Mo à 1,5 Mo.</a:t>
            </a:r>
            <a:endParaRPr lang="en-US" sz="1150" dirty="0"/>
          </a:p>
        </p:txBody>
      </p:sp>
      <p:sp>
        <p:nvSpPr>
          <p:cNvPr id="17" name="Text 13"/>
          <p:cNvSpPr/>
          <p:nvPr/>
        </p:nvSpPr>
        <p:spPr>
          <a:xfrm>
            <a:off x="6537960" y="4160520"/>
            <a:ext cx="4754880" cy="777240"/>
          </a:xfrm>
          <a:prstGeom prst="rect">
            <a:avLst/>
          </a:prstGeom>
          <a:noFill/>
          <a:ln/>
        </p:spPr>
        <p:txBody>
          <a:bodyPr wrap="square" lIns="0" tIns="0" rIns="0" bIns="0" rtlCol="0" anchor="ctr"/>
          <a:lstStyle/>
          <a:p>
            <a:pPr marL="342900" indent="-342900">
              <a:lnSpc>
                <a:spcPct val="120000"/>
              </a:lnSpc>
              <a:buSzPct val="100000"/>
              <a:buChar char="•"/>
            </a:pPr>
            <a:r>
              <a:rPr lang="en-US" sz="1150" dirty="0">
                <a:solidFill>
                  <a:srgbClr val="1B5E20"/>
                </a:solidFill>
                <a:latin typeface="Calibri" pitchFamily="34" charset="0"/>
                <a:ea typeface="Calibri" pitchFamily="34" charset="-122"/>
                <a:cs typeface="Calibri" pitchFamily="34" charset="-120"/>
              </a:rPr>
              <a:t>Dashboard hybride avec bascule automatique : MySQL en local, SQLite en ligne.</a:t>
            </a:r>
            <a:endParaRPr lang="en-US" sz="1150" dirty="0"/>
          </a:p>
        </p:txBody>
      </p:sp>
      <p:sp>
        <p:nvSpPr>
          <p:cNvPr id="18" name="Text 14"/>
          <p:cNvSpPr/>
          <p:nvPr/>
        </p:nvSpPr>
        <p:spPr>
          <a:xfrm>
            <a:off x="6537960" y="5029200"/>
            <a:ext cx="4754880" cy="777240"/>
          </a:xfrm>
          <a:prstGeom prst="rect">
            <a:avLst/>
          </a:prstGeom>
          <a:noFill/>
          <a:ln/>
        </p:spPr>
        <p:txBody>
          <a:bodyPr wrap="square" lIns="0" tIns="0" rIns="0" bIns="0" rtlCol="0" anchor="ctr"/>
          <a:lstStyle/>
          <a:p>
            <a:pPr marL="342900" indent="-342900">
              <a:lnSpc>
                <a:spcPct val="120000"/>
              </a:lnSpc>
              <a:buSzPct val="100000"/>
              <a:buChar char="•"/>
            </a:pPr>
            <a:r>
              <a:rPr lang="en-US" sz="1150" dirty="0">
                <a:solidFill>
                  <a:srgbClr val="1B5E20"/>
                </a:solidFill>
                <a:latin typeface="Calibri" pitchFamily="34" charset="0"/>
                <a:ea typeface="Calibri" pitchFamily="34" charset="-122"/>
                <a:cs typeface="Calibri" pitchFamily="34" charset="-120"/>
              </a:rPr>
              <a:t>Déploiement 100% gratuit via Streamlit Community Cloud connecté à GitHub.</a:t>
            </a:r>
            <a:endParaRPr lang="en-US" sz="1150" dirty="0"/>
          </a:p>
        </p:txBody>
      </p:sp>
      <p:sp>
        <p:nvSpPr>
          <p:cNvPr id="19" name="Text 15"/>
          <p:cNvSpPr/>
          <p:nvPr/>
        </p:nvSpPr>
        <p:spPr>
          <a:xfrm>
            <a:off x="457200" y="6473952"/>
            <a:ext cx="7315200" cy="274320"/>
          </a:xfrm>
          <a:prstGeom prst="rect">
            <a:avLst/>
          </a:prstGeom>
          <a:noFill/>
          <a:ln/>
        </p:spPr>
        <p:txBody>
          <a:bodyPr wrap="square" lIns="0" tIns="0" rIns="0" bIns="0" rtlCol="0" anchor="ctr"/>
          <a:lstStyle/>
          <a:p>
            <a:pPr marL="0" indent="0" algn="l">
              <a:buNone/>
            </a:pPr>
            <a:r>
              <a:rPr lang="en-US" sz="900" dirty="0">
                <a:solidFill>
                  <a:srgbClr val="6B7080"/>
                </a:solidFill>
                <a:latin typeface="Calibri" pitchFamily="34" charset="0"/>
                <a:ea typeface="Calibri" pitchFamily="34" charset="-122"/>
                <a:cs typeface="Calibri" pitchFamily="34" charset="-120"/>
              </a:rPr>
              <a:t>Sahel Telecom - Documentation technique EDW</a:t>
            </a:r>
            <a:endParaRPr lang="en-US" sz="900" dirty="0"/>
          </a:p>
        </p:txBody>
      </p:sp>
      <p:sp>
        <p:nvSpPr>
          <p:cNvPr id="20" name="Text 16"/>
          <p:cNvSpPr/>
          <p:nvPr/>
        </p:nvSpPr>
        <p:spPr>
          <a:xfrm>
            <a:off x="11247120" y="6473952"/>
            <a:ext cx="457200" cy="274320"/>
          </a:xfrm>
          <a:prstGeom prst="rect">
            <a:avLst/>
          </a:prstGeom>
          <a:noFill/>
          <a:ln/>
        </p:spPr>
        <p:txBody>
          <a:bodyPr wrap="square" lIns="0" tIns="0" rIns="0" bIns="0" rtlCol="0" anchor="ctr"/>
          <a:lstStyle/>
          <a:p>
            <a:pPr marL="0" indent="0" algn="r">
              <a:buNone/>
            </a:pPr>
            <a:r>
              <a:rPr lang="en-US" sz="900" dirty="0">
                <a:solidFill>
                  <a:srgbClr val="6B7080"/>
                </a:solidFill>
                <a:latin typeface="Calibri" pitchFamily="34" charset="0"/>
                <a:ea typeface="Calibri" pitchFamily="34" charset="-122"/>
                <a:cs typeface="Calibri" pitchFamily="34" charset="-120"/>
              </a:rPr>
              <a:t>14</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47472"/>
            <a:ext cx="9144000" cy="274320"/>
          </a:xfrm>
          <a:prstGeom prst="rect">
            <a:avLst/>
          </a:prstGeom>
          <a:noFill/>
          <a:ln/>
        </p:spPr>
        <p:txBody>
          <a:bodyPr wrap="square" lIns="0" tIns="0" rIns="0" bIns="0" rtlCol="0" anchor="ctr"/>
          <a:lstStyle/>
          <a:p>
            <a:pPr marL="0" indent="0">
              <a:buNone/>
            </a:pPr>
            <a:r>
              <a:rPr lang="en-US" sz="1200" b="1" kern="0" spc="200" dirty="0">
                <a:solidFill>
                  <a:srgbClr val="3949AB"/>
                </a:solidFill>
                <a:latin typeface="Calibri" pitchFamily="34" charset="0"/>
                <a:ea typeface="Calibri" pitchFamily="34" charset="-122"/>
                <a:cs typeface="Calibri" pitchFamily="34" charset="-120"/>
              </a:rPr>
              <a:t>MISE EN PRODUCTION</a:t>
            </a:r>
            <a:endParaRPr lang="en-US" sz="1200" dirty="0"/>
          </a:p>
        </p:txBody>
      </p:sp>
      <p:sp>
        <p:nvSpPr>
          <p:cNvPr id="3" name="Text 1"/>
          <p:cNvSpPr/>
          <p:nvPr/>
        </p:nvSpPr>
        <p:spPr>
          <a:xfrm>
            <a:off x="548640" y="603504"/>
            <a:ext cx="11064240" cy="685800"/>
          </a:xfrm>
          <a:prstGeom prst="rect">
            <a:avLst/>
          </a:prstGeom>
          <a:noFill/>
          <a:ln/>
        </p:spPr>
        <p:txBody>
          <a:bodyPr wrap="square" lIns="0" tIns="0" rIns="0" bIns="0" rtlCol="0" anchor="ctr"/>
          <a:lstStyle/>
          <a:p>
            <a:pPr marL="0" indent="0">
              <a:buNone/>
            </a:pPr>
            <a:r>
              <a:rPr lang="en-US" sz="3000" b="1" dirty="0">
                <a:solidFill>
                  <a:srgbClr val="1E2233"/>
                </a:solidFill>
                <a:latin typeface="Cambria" pitchFamily="34" charset="0"/>
                <a:ea typeface="Cambria" pitchFamily="34" charset="-122"/>
                <a:cs typeface="Cambria" pitchFamily="34" charset="-120"/>
              </a:rPr>
              <a:t>Déploiement et reproduction du projet</a:t>
            </a:r>
            <a:endParaRPr lang="en-US" sz="3000" dirty="0"/>
          </a:p>
        </p:txBody>
      </p:sp>
      <p:sp>
        <p:nvSpPr>
          <p:cNvPr id="4" name="Shape 2"/>
          <p:cNvSpPr/>
          <p:nvPr/>
        </p:nvSpPr>
        <p:spPr>
          <a:xfrm>
            <a:off x="548640" y="1463040"/>
            <a:ext cx="5120640" cy="2011680"/>
          </a:xfrm>
          <a:prstGeom prst="roundRect">
            <a:avLst>
              <a:gd name="adj" fmla="val 3636"/>
            </a:avLst>
          </a:prstGeom>
          <a:solidFill>
            <a:srgbClr val="EEF0FA"/>
          </a:solidFill>
          <a:ln/>
          <a:effectLst>
            <a:outerShdw blurRad="127000" dist="38100" dir="5400000" algn="bl" rotWithShape="0">
              <a:srgbClr val="1A237E">
                <a:alpha val="14000"/>
              </a:srgbClr>
            </a:outerShdw>
          </a:effectLst>
        </p:spPr>
      </p:sp>
      <p:sp>
        <p:nvSpPr>
          <p:cNvPr id="5" name="Shape 3"/>
          <p:cNvSpPr/>
          <p:nvPr/>
        </p:nvSpPr>
        <p:spPr>
          <a:xfrm>
            <a:off x="822960" y="1691640"/>
            <a:ext cx="502920" cy="502920"/>
          </a:xfrm>
          <a:prstGeom prst="ellipse">
            <a:avLst/>
          </a:prstGeom>
          <a:solidFill>
            <a:srgbClr val="1A237E"/>
          </a:solidFill>
          <a:ln/>
        </p:spPr>
      </p:sp>
      <p:pic>
        <p:nvPicPr>
          <p:cNvPr id="6" name="Image 0" descr="preencoded.png"/>
          <p:cNvPicPr>
            <a:picLocks noChangeAspect="1"/>
          </p:cNvPicPr>
          <p:nvPr/>
        </p:nvPicPr>
        <p:blipFill>
          <a:blip r:embed="rId3"/>
          <a:stretch>
            <a:fillRect/>
          </a:stretch>
        </p:blipFill>
        <p:spPr>
          <a:xfrm>
            <a:off x="883310" y="1751990"/>
            <a:ext cx="382219" cy="382219"/>
          </a:xfrm>
          <a:prstGeom prst="rect">
            <a:avLst/>
          </a:prstGeom>
        </p:spPr>
      </p:pic>
      <p:sp>
        <p:nvSpPr>
          <p:cNvPr id="7" name="Text 4"/>
          <p:cNvSpPr/>
          <p:nvPr/>
        </p:nvSpPr>
        <p:spPr>
          <a:xfrm>
            <a:off x="1463040" y="1755648"/>
            <a:ext cx="4023360" cy="365760"/>
          </a:xfrm>
          <a:prstGeom prst="rect">
            <a:avLst/>
          </a:prstGeom>
          <a:noFill/>
          <a:ln/>
        </p:spPr>
        <p:txBody>
          <a:bodyPr wrap="square" lIns="0" tIns="0" rIns="0" bIns="0" rtlCol="0" anchor="ctr"/>
          <a:lstStyle/>
          <a:p>
            <a:pPr marL="0" indent="0">
              <a:buNone/>
            </a:pPr>
            <a:r>
              <a:rPr lang="en-US" sz="1400" b="1" dirty="0">
                <a:solidFill>
                  <a:srgbClr val="1E2233"/>
                </a:solidFill>
                <a:latin typeface="Cambria" pitchFamily="34" charset="0"/>
                <a:ea typeface="Cambria" pitchFamily="34" charset="-122"/>
                <a:cs typeface="Cambria" pitchFamily="34" charset="-120"/>
              </a:rPr>
              <a:t>Code source</a:t>
            </a:r>
            <a:endParaRPr lang="en-US" sz="1400" dirty="0"/>
          </a:p>
        </p:txBody>
      </p:sp>
      <p:sp>
        <p:nvSpPr>
          <p:cNvPr id="8" name="Text 5"/>
          <p:cNvSpPr/>
          <p:nvPr/>
        </p:nvSpPr>
        <p:spPr>
          <a:xfrm>
            <a:off x="868680" y="2331720"/>
            <a:ext cx="4572000" cy="640080"/>
          </a:xfrm>
          <a:prstGeom prst="rect">
            <a:avLst/>
          </a:prstGeom>
          <a:noFill/>
          <a:ln/>
        </p:spPr>
        <p:txBody>
          <a:bodyPr wrap="square" lIns="0" tIns="0" rIns="0" bIns="0" rtlCol="0" anchor="ctr"/>
          <a:lstStyle/>
          <a:p>
            <a:pPr marL="0" indent="0">
              <a:buNone/>
            </a:pPr>
            <a:r>
              <a:rPr lang="en-US" sz="1100" dirty="0">
                <a:solidFill>
                  <a:srgbClr val="3949AB"/>
                </a:solidFill>
                <a:latin typeface="Calibri" pitchFamily="34" charset="0"/>
                <a:ea typeface="Calibri" pitchFamily="34" charset="-122"/>
                <a:cs typeface="Calibri" pitchFamily="34" charset="-120"/>
              </a:rPr>
              <a:t>github.com/Abdrafith-ZONGO/etl-pipeline-telecom_G3</a:t>
            </a:r>
            <a:endParaRPr lang="en-US" sz="1100" dirty="0"/>
          </a:p>
        </p:txBody>
      </p:sp>
      <p:sp>
        <p:nvSpPr>
          <p:cNvPr id="9" name="Text 6"/>
          <p:cNvSpPr/>
          <p:nvPr/>
        </p:nvSpPr>
        <p:spPr>
          <a:xfrm>
            <a:off x="868680" y="2788920"/>
            <a:ext cx="4572000" cy="548640"/>
          </a:xfrm>
          <a:prstGeom prst="rect">
            <a:avLst/>
          </a:prstGeom>
          <a:noFill/>
          <a:ln/>
        </p:spPr>
        <p:txBody>
          <a:bodyPr wrap="square" lIns="0" tIns="0" rIns="0" bIns="0" rtlCol="0" anchor="ctr"/>
          <a:lstStyle/>
          <a:p>
            <a:pPr marL="0" indent="0">
              <a:buNone/>
            </a:pPr>
            <a:r>
              <a:rPr lang="en-US" sz="1050" dirty="0">
                <a:solidFill>
                  <a:srgbClr val="6B7080"/>
                </a:solidFill>
                <a:latin typeface="Calibri" pitchFamily="34" charset="0"/>
                <a:ea typeface="Calibri" pitchFamily="34" charset="-122"/>
                <a:cs typeface="Calibri" pitchFamily="34" charset="-120"/>
              </a:rPr>
              <a:t>Dépôt versionné avec .gitignore strict (données brutes exclues).</a:t>
            </a:r>
            <a:endParaRPr lang="en-US" sz="1050" dirty="0"/>
          </a:p>
        </p:txBody>
      </p:sp>
      <p:sp>
        <p:nvSpPr>
          <p:cNvPr id="10" name="Shape 7"/>
          <p:cNvSpPr/>
          <p:nvPr/>
        </p:nvSpPr>
        <p:spPr>
          <a:xfrm>
            <a:off x="548640" y="3657600"/>
            <a:ext cx="5120640" cy="2011680"/>
          </a:xfrm>
          <a:prstGeom prst="roundRect">
            <a:avLst>
              <a:gd name="adj" fmla="val 3636"/>
            </a:avLst>
          </a:prstGeom>
          <a:solidFill>
            <a:srgbClr val="1A237E"/>
          </a:solidFill>
          <a:ln/>
          <a:effectLst>
            <a:outerShdw blurRad="127000" dist="38100" dir="5400000" algn="bl" rotWithShape="0">
              <a:srgbClr val="1A237E">
                <a:alpha val="14000"/>
              </a:srgbClr>
            </a:outerShdw>
          </a:effectLst>
        </p:spPr>
      </p:sp>
      <p:sp>
        <p:nvSpPr>
          <p:cNvPr id="11" name="Shape 8"/>
          <p:cNvSpPr/>
          <p:nvPr/>
        </p:nvSpPr>
        <p:spPr>
          <a:xfrm>
            <a:off x="822960" y="3886200"/>
            <a:ext cx="502920" cy="502920"/>
          </a:xfrm>
          <a:prstGeom prst="ellipse">
            <a:avLst/>
          </a:prstGeom>
          <a:solidFill>
            <a:srgbClr val="3949AB"/>
          </a:solidFill>
          <a:ln/>
        </p:spPr>
      </p:sp>
      <p:pic>
        <p:nvPicPr>
          <p:cNvPr id="12" name="Image 1" descr="preencoded.png"/>
          <p:cNvPicPr>
            <a:picLocks noChangeAspect="1"/>
          </p:cNvPicPr>
          <p:nvPr/>
        </p:nvPicPr>
        <p:blipFill>
          <a:blip r:embed="rId4"/>
          <a:stretch>
            <a:fillRect/>
          </a:stretch>
        </p:blipFill>
        <p:spPr>
          <a:xfrm>
            <a:off x="883310" y="3946550"/>
            <a:ext cx="382219" cy="382219"/>
          </a:xfrm>
          <a:prstGeom prst="rect">
            <a:avLst/>
          </a:prstGeom>
        </p:spPr>
      </p:pic>
      <p:sp>
        <p:nvSpPr>
          <p:cNvPr id="13" name="Text 9"/>
          <p:cNvSpPr/>
          <p:nvPr/>
        </p:nvSpPr>
        <p:spPr>
          <a:xfrm>
            <a:off x="1463040" y="3950208"/>
            <a:ext cx="4023360" cy="365760"/>
          </a:xfrm>
          <a:prstGeom prst="rect">
            <a:avLst/>
          </a:prstGeom>
          <a:noFill/>
          <a:ln/>
        </p:spPr>
        <p:txBody>
          <a:bodyPr wrap="square" lIns="0" tIns="0" rIns="0" bIns="0" rtlCol="0" anchor="ctr"/>
          <a:lstStyle/>
          <a:p>
            <a:pPr marL="0" indent="0">
              <a:buNone/>
            </a:pPr>
            <a:r>
              <a:rPr lang="en-US" sz="1400" b="1" dirty="0">
                <a:solidFill>
                  <a:srgbClr val="FFFFFF"/>
                </a:solidFill>
                <a:latin typeface="Cambria" pitchFamily="34" charset="0"/>
                <a:ea typeface="Cambria" pitchFamily="34" charset="-122"/>
                <a:cs typeface="Cambria" pitchFamily="34" charset="-120"/>
              </a:rPr>
              <a:t>Application BI (live)</a:t>
            </a:r>
            <a:endParaRPr lang="en-US" sz="1400" dirty="0"/>
          </a:p>
        </p:txBody>
      </p:sp>
      <p:sp>
        <p:nvSpPr>
          <p:cNvPr id="14" name="Text 10"/>
          <p:cNvSpPr/>
          <p:nvPr/>
        </p:nvSpPr>
        <p:spPr>
          <a:xfrm>
            <a:off x="868680" y="4526280"/>
            <a:ext cx="4572000" cy="457200"/>
          </a:xfrm>
          <a:prstGeom prst="rect">
            <a:avLst/>
          </a:prstGeom>
          <a:noFill/>
          <a:ln/>
        </p:spPr>
        <p:txBody>
          <a:bodyPr wrap="square" lIns="0" tIns="0" rIns="0" bIns="0" rtlCol="0" anchor="ctr"/>
          <a:lstStyle/>
          <a:p>
            <a:pPr marL="0" indent="0">
              <a:buNone/>
            </a:pPr>
            <a:r>
              <a:rPr lang="en-US" sz="1200" dirty="0">
                <a:solidFill>
                  <a:srgbClr val="F9A825"/>
                </a:solidFill>
                <a:latin typeface="Calibri" pitchFamily="34" charset="0"/>
                <a:ea typeface="Calibri" pitchFamily="34" charset="-122"/>
                <a:cs typeface="Calibri" pitchFamily="34" charset="-120"/>
              </a:rPr>
              <a:t>sahel-telecom-dashboard.streamlit.app</a:t>
            </a:r>
            <a:endParaRPr lang="en-US" sz="1200" dirty="0"/>
          </a:p>
        </p:txBody>
      </p:sp>
      <p:sp>
        <p:nvSpPr>
          <p:cNvPr id="15" name="Text 11"/>
          <p:cNvSpPr/>
          <p:nvPr/>
        </p:nvSpPr>
        <p:spPr>
          <a:xfrm>
            <a:off x="868680" y="4937760"/>
            <a:ext cx="4572000" cy="548640"/>
          </a:xfrm>
          <a:prstGeom prst="rect">
            <a:avLst/>
          </a:prstGeom>
          <a:noFill/>
          <a:ln/>
        </p:spPr>
        <p:txBody>
          <a:bodyPr wrap="square" lIns="0" tIns="0" rIns="0" bIns="0" rtlCol="0" anchor="ctr"/>
          <a:lstStyle/>
          <a:p>
            <a:pPr marL="0" indent="0">
              <a:buNone/>
            </a:pPr>
            <a:r>
              <a:rPr lang="en-US" sz="1050" dirty="0">
                <a:solidFill>
                  <a:srgbClr val="C7CCF0"/>
                </a:solidFill>
                <a:latin typeface="Calibri" pitchFamily="34" charset="0"/>
                <a:ea typeface="Calibri" pitchFamily="34" charset="-122"/>
                <a:cs typeface="Calibri" pitchFamily="34" charset="-120"/>
              </a:rPr>
              <a:t>Hébergée gratuitement sur Streamlit Community Cloud.</a:t>
            </a:r>
            <a:endParaRPr lang="en-US" sz="1050" dirty="0"/>
          </a:p>
        </p:txBody>
      </p:sp>
      <p:sp>
        <p:nvSpPr>
          <p:cNvPr id="16" name="Text 12"/>
          <p:cNvSpPr/>
          <p:nvPr/>
        </p:nvSpPr>
        <p:spPr>
          <a:xfrm>
            <a:off x="6035040" y="1463040"/>
            <a:ext cx="5577840" cy="365760"/>
          </a:xfrm>
          <a:prstGeom prst="rect">
            <a:avLst/>
          </a:prstGeom>
          <a:noFill/>
          <a:ln/>
        </p:spPr>
        <p:txBody>
          <a:bodyPr wrap="square" lIns="0" tIns="0" rIns="0" bIns="0" rtlCol="0" anchor="ctr"/>
          <a:lstStyle/>
          <a:p>
            <a:pPr marL="0" indent="0">
              <a:buNone/>
            </a:pPr>
            <a:r>
              <a:rPr lang="en-US" sz="1500" b="1" dirty="0">
                <a:solidFill>
                  <a:srgbClr val="1E2233"/>
                </a:solidFill>
                <a:latin typeface="Cambria" pitchFamily="34" charset="0"/>
                <a:ea typeface="Cambria" pitchFamily="34" charset="-122"/>
                <a:cs typeface="Cambria" pitchFamily="34" charset="-120"/>
              </a:rPr>
              <a:t>Procédure de reproduction (A à Z)</a:t>
            </a:r>
            <a:endParaRPr lang="en-US" sz="1500" dirty="0"/>
          </a:p>
        </p:txBody>
      </p:sp>
      <p:sp>
        <p:nvSpPr>
          <p:cNvPr id="17" name="Shape 13"/>
          <p:cNvSpPr/>
          <p:nvPr/>
        </p:nvSpPr>
        <p:spPr>
          <a:xfrm>
            <a:off x="6035040" y="1965960"/>
            <a:ext cx="384048" cy="384048"/>
          </a:xfrm>
          <a:prstGeom prst="ellipse">
            <a:avLst/>
          </a:prstGeom>
          <a:solidFill>
            <a:srgbClr val="1A237E"/>
          </a:solidFill>
          <a:ln/>
        </p:spPr>
      </p:sp>
      <p:sp>
        <p:nvSpPr>
          <p:cNvPr id="18" name="Text 14"/>
          <p:cNvSpPr/>
          <p:nvPr/>
        </p:nvSpPr>
        <p:spPr>
          <a:xfrm>
            <a:off x="6035040" y="1965960"/>
            <a:ext cx="384048" cy="384048"/>
          </a:xfrm>
          <a:prstGeom prst="rect">
            <a:avLst/>
          </a:prstGeom>
          <a:noFill/>
          <a:ln/>
        </p:spPr>
        <p:txBody>
          <a:bodyPr wrap="square" lIns="0" tIns="0" rIns="0" bIns="0" rtlCol="0" anchor="ctr"/>
          <a:lstStyle/>
          <a:p>
            <a:pPr marL="0" indent="0" algn="ctr">
              <a:buNone/>
            </a:pPr>
            <a:r>
              <a:rPr lang="en-US" sz="1300" b="1" dirty="0">
                <a:solidFill>
                  <a:srgbClr val="FFFFFF"/>
                </a:solidFill>
                <a:latin typeface="Cambria" pitchFamily="34" charset="0"/>
                <a:ea typeface="Cambria" pitchFamily="34" charset="-122"/>
                <a:cs typeface="Cambria" pitchFamily="34" charset="-120"/>
              </a:rPr>
              <a:t>1</a:t>
            </a:r>
            <a:endParaRPr lang="en-US" sz="1300" dirty="0"/>
          </a:p>
        </p:txBody>
      </p:sp>
      <p:sp>
        <p:nvSpPr>
          <p:cNvPr id="19" name="Text 15"/>
          <p:cNvSpPr/>
          <p:nvPr/>
        </p:nvSpPr>
        <p:spPr>
          <a:xfrm>
            <a:off x="6583680" y="1938528"/>
            <a:ext cx="5029200" cy="292608"/>
          </a:xfrm>
          <a:prstGeom prst="rect">
            <a:avLst/>
          </a:prstGeom>
          <a:noFill/>
          <a:ln/>
        </p:spPr>
        <p:txBody>
          <a:bodyPr wrap="square" lIns="0" tIns="0" rIns="0" bIns="0" rtlCol="0" anchor="ctr"/>
          <a:lstStyle/>
          <a:p>
            <a:pPr marL="0" indent="0">
              <a:buNone/>
            </a:pPr>
            <a:r>
              <a:rPr lang="en-US" sz="1250" b="1" dirty="0">
                <a:solidFill>
                  <a:srgbClr val="1E2233"/>
                </a:solidFill>
                <a:latin typeface="Calibri" pitchFamily="34" charset="0"/>
                <a:ea typeface="Calibri" pitchFamily="34" charset="-122"/>
                <a:cs typeface="Calibri" pitchFamily="34" charset="-120"/>
              </a:rPr>
              <a:t>Installer les dépendances</a:t>
            </a:r>
            <a:endParaRPr lang="en-US" sz="1250" dirty="0"/>
          </a:p>
        </p:txBody>
      </p:sp>
      <p:sp>
        <p:nvSpPr>
          <p:cNvPr id="20" name="Text 16"/>
          <p:cNvSpPr/>
          <p:nvPr/>
        </p:nvSpPr>
        <p:spPr>
          <a:xfrm>
            <a:off x="6583680" y="2221992"/>
            <a:ext cx="5029200" cy="274320"/>
          </a:xfrm>
          <a:prstGeom prst="rect">
            <a:avLst/>
          </a:prstGeom>
          <a:noFill/>
          <a:ln/>
        </p:spPr>
        <p:txBody>
          <a:bodyPr wrap="square" lIns="0" tIns="0" rIns="0" bIns="0" rtlCol="0" anchor="ctr"/>
          <a:lstStyle/>
          <a:p>
            <a:pPr marL="0" indent="0">
              <a:buNone/>
            </a:pPr>
            <a:r>
              <a:rPr lang="en-US" sz="1050" dirty="0">
                <a:solidFill>
                  <a:srgbClr val="3949AB"/>
                </a:solidFill>
                <a:latin typeface="Courier New" pitchFamily="34" charset="0"/>
                <a:ea typeface="Courier New" pitchFamily="34" charset="-122"/>
                <a:cs typeface="Courier New" pitchFamily="34" charset="-120"/>
              </a:rPr>
              <a:t>pip install -r requirements.txt</a:t>
            </a:r>
            <a:endParaRPr lang="en-US" sz="1050" dirty="0"/>
          </a:p>
        </p:txBody>
      </p:sp>
      <p:sp>
        <p:nvSpPr>
          <p:cNvPr id="21" name="Shape 17"/>
          <p:cNvSpPr/>
          <p:nvPr/>
        </p:nvSpPr>
        <p:spPr>
          <a:xfrm>
            <a:off x="6035040" y="2624328"/>
            <a:ext cx="384048" cy="384048"/>
          </a:xfrm>
          <a:prstGeom prst="ellipse">
            <a:avLst/>
          </a:prstGeom>
          <a:solidFill>
            <a:srgbClr val="1A237E"/>
          </a:solidFill>
          <a:ln/>
        </p:spPr>
      </p:sp>
      <p:sp>
        <p:nvSpPr>
          <p:cNvPr id="22" name="Text 18"/>
          <p:cNvSpPr/>
          <p:nvPr/>
        </p:nvSpPr>
        <p:spPr>
          <a:xfrm>
            <a:off x="6035040" y="2624328"/>
            <a:ext cx="384048" cy="384048"/>
          </a:xfrm>
          <a:prstGeom prst="rect">
            <a:avLst/>
          </a:prstGeom>
          <a:noFill/>
          <a:ln/>
        </p:spPr>
        <p:txBody>
          <a:bodyPr wrap="square" lIns="0" tIns="0" rIns="0" bIns="0" rtlCol="0" anchor="ctr"/>
          <a:lstStyle/>
          <a:p>
            <a:pPr marL="0" indent="0" algn="ctr">
              <a:buNone/>
            </a:pPr>
            <a:r>
              <a:rPr lang="en-US" sz="1300" b="1" dirty="0">
                <a:solidFill>
                  <a:srgbClr val="FFFFFF"/>
                </a:solidFill>
                <a:latin typeface="Cambria" pitchFamily="34" charset="0"/>
                <a:ea typeface="Cambria" pitchFamily="34" charset="-122"/>
                <a:cs typeface="Cambria" pitchFamily="34" charset="-120"/>
              </a:rPr>
              <a:t>2</a:t>
            </a:r>
            <a:endParaRPr lang="en-US" sz="1300" dirty="0"/>
          </a:p>
        </p:txBody>
      </p:sp>
      <p:sp>
        <p:nvSpPr>
          <p:cNvPr id="23" name="Text 19"/>
          <p:cNvSpPr/>
          <p:nvPr/>
        </p:nvSpPr>
        <p:spPr>
          <a:xfrm>
            <a:off x="6583680" y="2596896"/>
            <a:ext cx="5029200" cy="292608"/>
          </a:xfrm>
          <a:prstGeom prst="rect">
            <a:avLst/>
          </a:prstGeom>
          <a:noFill/>
          <a:ln/>
        </p:spPr>
        <p:txBody>
          <a:bodyPr wrap="square" lIns="0" tIns="0" rIns="0" bIns="0" rtlCol="0" anchor="ctr"/>
          <a:lstStyle/>
          <a:p>
            <a:pPr marL="0" indent="0">
              <a:buNone/>
            </a:pPr>
            <a:r>
              <a:rPr lang="en-US" sz="1250" b="1" dirty="0">
                <a:solidFill>
                  <a:srgbClr val="1E2233"/>
                </a:solidFill>
                <a:latin typeface="Calibri" pitchFamily="34" charset="0"/>
                <a:ea typeface="Calibri" pitchFamily="34" charset="-122"/>
                <a:cs typeface="Calibri" pitchFamily="34" charset="-120"/>
              </a:rPr>
              <a:t>Démarrer MySQL</a:t>
            </a:r>
            <a:endParaRPr lang="en-US" sz="1250" dirty="0"/>
          </a:p>
        </p:txBody>
      </p:sp>
      <p:sp>
        <p:nvSpPr>
          <p:cNvPr id="24" name="Text 20"/>
          <p:cNvSpPr/>
          <p:nvPr/>
        </p:nvSpPr>
        <p:spPr>
          <a:xfrm>
            <a:off x="6583680" y="2880360"/>
            <a:ext cx="5029200" cy="274320"/>
          </a:xfrm>
          <a:prstGeom prst="rect">
            <a:avLst/>
          </a:prstGeom>
          <a:noFill/>
          <a:ln/>
        </p:spPr>
        <p:txBody>
          <a:bodyPr wrap="square" lIns="0" tIns="0" rIns="0" bIns="0" rtlCol="0" anchor="ctr"/>
          <a:lstStyle/>
          <a:p>
            <a:pPr marL="0" indent="0">
              <a:buNone/>
            </a:pPr>
            <a:r>
              <a:rPr lang="en-US" sz="1050" dirty="0">
                <a:solidFill>
                  <a:srgbClr val="3949AB"/>
                </a:solidFill>
                <a:latin typeface="Courier New" pitchFamily="34" charset="0"/>
                <a:ea typeface="Courier New" pitchFamily="34" charset="-122"/>
                <a:cs typeface="Courier New" pitchFamily="34" charset="-120"/>
              </a:rPr>
              <a:t>docker-compose up -d</a:t>
            </a:r>
            <a:endParaRPr lang="en-US" sz="1050" dirty="0"/>
          </a:p>
        </p:txBody>
      </p:sp>
      <p:sp>
        <p:nvSpPr>
          <p:cNvPr id="25" name="Shape 21"/>
          <p:cNvSpPr/>
          <p:nvPr/>
        </p:nvSpPr>
        <p:spPr>
          <a:xfrm>
            <a:off x="6035040" y="3282696"/>
            <a:ext cx="384048" cy="384048"/>
          </a:xfrm>
          <a:prstGeom prst="ellipse">
            <a:avLst/>
          </a:prstGeom>
          <a:solidFill>
            <a:srgbClr val="1A237E"/>
          </a:solidFill>
          <a:ln/>
        </p:spPr>
      </p:sp>
      <p:sp>
        <p:nvSpPr>
          <p:cNvPr id="26" name="Text 22"/>
          <p:cNvSpPr/>
          <p:nvPr/>
        </p:nvSpPr>
        <p:spPr>
          <a:xfrm>
            <a:off x="6035040" y="3282696"/>
            <a:ext cx="384048" cy="384048"/>
          </a:xfrm>
          <a:prstGeom prst="rect">
            <a:avLst/>
          </a:prstGeom>
          <a:noFill/>
          <a:ln/>
        </p:spPr>
        <p:txBody>
          <a:bodyPr wrap="square" lIns="0" tIns="0" rIns="0" bIns="0" rtlCol="0" anchor="ctr"/>
          <a:lstStyle/>
          <a:p>
            <a:pPr marL="0" indent="0" algn="ctr">
              <a:buNone/>
            </a:pPr>
            <a:r>
              <a:rPr lang="en-US" sz="1300" b="1" dirty="0">
                <a:solidFill>
                  <a:srgbClr val="FFFFFF"/>
                </a:solidFill>
                <a:latin typeface="Cambria" pitchFamily="34" charset="0"/>
                <a:ea typeface="Cambria" pitchFamily="34" charset="-122"/>
                <a:cs typeface="Cambria" pitchFamily="34" charset="-120"/>
              </a:rPr>
              <a:t>3</a:t>
            </a:r>
            <a:endParaRPr lang="en-US" sz="1300" dirty="0"/>
          </a:p>
        </p:txBody>
      </p:sp>
      <p:sp>
        <p:nvSpPr>
          <p:cNvPr id="27" name="Text 23"/>
          <p:cNvSpPr/>
          <p:nvPr/>
        </p:nvSpPr>
        <p:spPr>
          <a:xfrm>
            <a:off x="6583680" y="3255264"/>
            <a:ext cx="5029200" cy="292608"/>
          </a:xfrm>
          <a:prstGeom prst="rect">
            <a:avLst/>
          </a:prstGeom>
          <a:noFill/>
          <a:ln/>
        </p:spPr>
        <p:txBody>
          <a:bodyPr wrap="square" lIns="0" tIns="0" rIns="0" bIns="0" rtlCol="0" anchor="ctr"/>
          <a:lstStyle/>
          <a:p>
            <a:pPr marL="0" indent="0">
              <a:buNone/>
            </a:pPr>
            <a:r>
              <a:rPr lang="en-US" sz="1250" b="1" dirty="0">
                <a:solidFill>
                  <a:srgbClr val="1E2233"/>
                </a:solidFill>
                <a:latin typeface="Calibri" pitchFamily="34" charset="0"/>
                <a:ea typeface="Calibri" pitchFamily="34" charset="-122"/>
                <a:cs typeface="Calibri" pitchFamily="34" charset="-120"/>
              </a:rPr>
              <a:t>Générer les données</a:t>
            </a:r>
            <a:endParaRPr lang="en-US" sz="1250" dirty="0"/>
          </a:p>
        </p:txBody>
      </p:sp>
      <p:sp>
        <p:nvSpPr>
          <p:cNvPr id="28" name="Text 24"/>
          <p:cNvSpPr/>
          <p:nvPr/>
        </p:nvSpPr>
        <p:spPr>
          <a:xfrm>
            <a:off x="6583680" y="3538728"/>
            <a:ext cx="5029200" cy="274320"/>
          </a:xfrm>
          <a:prstGeom prst="rect">
            <a:avLst/>
          </a:prstGeom>
          <a:noFill/>
          <a:ln/>
        </p:spPr>
        <p:txBody>
          <a:bodyPr wrap="square" lIns="0" tIns="0" rIns="0" bIns="0" rtlCol="0" anchor="ctr"/>
          <a:lstStyle/>
          <a:p>
            <a:pPr marL="0" indent="0">
              <a:buNone/>
            </a:pPr>
            <a:r>
              <a:rPr lang="en-US" sz="1050" dirty="0">
                <a:solidFill>
                  <a:srgbClr val="3949AB"/>
                </a:solidFill>
                <a:latin typeface="Courier New" pitchFamily="34" charset="0"/>
                <a:ea typeface="Courier New" pitchFamily="34" charset="-122"/>
                <a:cs typeface="Courier New" pitchFamily="34" charset="-120"/>
              </a:rPr>
              <a:t>py generate_data.py</a:t>
            </a:r>
            <a:endParaRPr lang="en-US" sz="1050" dirty="0"/>
          </a:p>
        </p:txBody>
      </p:sp>
      <p:sp>
        <p:nvSpPr>
          <p:cNvPr id="29" name="Shape 25"/>
          <p:cNvSpPr/>
          <p:nvPr/>
        </p:nvSpPr>
        <p:spPr>
          <a:xfrm>
            <a:off x="6035040" y="3941064"/>
            <a:ext cx="384048" cy="384048"/>
          </a:xfrm>
          <a:prstGeom prst="ellipse">
            <a:avLst/>
          </a:prstGeom>
          <a:solidFill>
            <a:srgbClr val="1A237E"/>
          </a:solidFill>
          <a:ln/>
        </p:spPr>
      </p:sp>
      <p:sp>
        <p:nvSpPr>
          <p:cNvPr id="30" name="Text 26"/>
          <p:cNvSpPr/>
          <p:nvPr/>
        </p:nvSpPr>
        <p:spPr>
          <a:xfrm>
            <a:off x="6035040" y="3941064"/>
            <a:ext cx="384048" cy="384048"/>
          </a:xfrm>
          <a:prstGeom prst="rect">
            <a:avLst/>
          </a:prstGeom>
          <a:noFill/>
          <a:ln/>
        </p:spPr>
        <p:txBody>
          <a:bodyPr wrap="square" lIns="0" tIns="0" rIns="0" bIns="0" rtlCol="0" anchor="ctr"/>
          <a:lstStyle/>
          <a:p>
            <a:pPr marL="0" indent="0" algn="ctr">
              <a:buNone/>
            </a:pPr>
            <a:r>
              <a:rPr lang="en-US" sz="1300" b="1" dirty="0">
                <a:solidFill>
                  <a:srgbClr val="FFFFFF"/>
                </a:solidFill>
                <a:latin typeface="Cambria" pitchFamily="34" charset="0"/>
                <a:ea typeface="Cambria" pitchFamily="34" charset="-122"/>
                <a:cs typeface="Cambria" pitchFamily="34" charset="-120"/>
              </a:rPr>
              <a:t>4</a:t>
            </a:r>
            <a:endParaRPr lang="en-US" sz="1300" dirty="0"/>
          </a:p>
        </p:txBody>
      </p:sp>
      <p:sp>
        <p:nvSpPr>
          <p:cNvPr id="31" name="Text 27"/>
          <p:cNvSpPr/>
          <p:nvPr/>
        </p:nvSpPr>
        <p:spPr>
          <a:xfrm>
            <a:off x="6583680" y="3913632"/>
            <a:ext cx="5029200" cy="292608"/>
          </a:xfrm>
          <a:prstGeom prst="rect">
            <a:avLst/>
          </a:prstGeom>
          <a:noFill/>
          <a:ln/>
        </p:spPr>
        <p:txBody>
          <a:bodyPr wrap="square" lIns="0" tIns="0" rIns="0" bIns="0" rtlCol="0" anchor="ctr"/>
          <a:lstStyle/>
          <a:p>
            <a:pPr marL="0" indent="0">
              <a:buNone/>
            </a:pPr>
            <a:r>
              <a:rPr lang="en-US" sz="1250" b="1" dirty="0">
                <a:solidFill>
                  <a:srgbClr val="1E2233"/>
                </a:solidFill>
                <a:latin typeface="Calibri" pitchFamily="34" charset="0"/>
                <a:ea typeface="Calibri" pitchFamily="34" charset="-122"/>
                <a:cs typeface="Calibri" pitchFamily="34" charset="-120"/>
              </a:rPr>
              <a:t>Exécuter l'ETL + KPI</a:t>
            </a:r>
            <a:endParaRPr lang="en-US" sz="1250" dirty="0"/>
          </a:p>
        </p:txBody>
      </p:sp>
      <p:sp>
        <p:nvSpPr>
          <p:cNvPr id="32" name="Text 28"/>
          <p:cNvSpPr/>
          <p:nvPr/>
        </p:nvSpPr>
        <p:spPr>
          <a:xfrm>
            <a:off x="6583680" y="4197096"/>
            <a:ext cx="5029200" cy="274320"/>
          </a:xfrm>
          <a:prstGeom prst="rect">
            <a:avLst/>
          </a:prstGeom>
          <a:noFill/>
          <a:ln/>
        </p:spPr>
        <p:txBody>
          <a:bodyPr wrap="square" lIns="0" tIns="0" rIns="0" bIns="0" rtlCol="0" anchor="ctr"/>
          <a:lstStyle/>
          <a:p>
            <a:pPr marL="0" indent="0">
              <a:buNone/>
            </a:pPr>
            <a:r>
              <a:rPr lang="en-US" sz="1050" dirty="0">
                <a:solidFill>
                  <a:srgbClr val="3949AB"/>
                </a:solidFill>
                <a:latin typeface="Courier New" pitchFamily="34" charset="0"/>
                <a:ea typeface="Courier New" pitchFamily="34" charset="-122"/>
                <a:cs typeface="Courier New" pitchFamily="34" charset="-120"/>
              </a:rPr>
              <a:t>py etl_pipeline_3.py &amp;&amp; py refresh_kpis.py</a:t>
            </a:r>
            <a:endParaRPr lang="en-US" sz="1050" dirty="0"/>
          </a:p>
        </p:txBody>
      </p:sp>
      <p:sp>
        <p:nvSpPr>
          <p:cNvPr id="33" name="Shape 29"/>
          <p:cNvSpPr/>
          <p:nvPr/>
        </p:nvSpPr>
        <p:spPr>
          <a:xfrm>
            <a:off x="6035040" y="4599432"/>
            <a:ext cx="384048" cy="384048"/>
          </a:xfrm>
          <a:prstGeom prst="ellipse">
            <a:avLst/>
          </a:prstGeom>
          <a:solidFill>
            <a:srgbClr val="1A237E"/>
          </a:solidFill>
          <a:ln/>
        </p:spPr>
      </p:sp>
      <p:sp>
        <p:nvSpPr>
          <p:cNvPr id="34" name="Text 30"/>
          <p:cNvSpPr/>
          <p:nvPr/>
        </p:nvSpPr>
        <p:spPr>
          <a:xfrm>
            <a:off x="6035040" y="4599432"/>
            <a:ext cx="384048" cy="384048"/>
          </a:xfrm>
          <a:prstGeom prst="rect">
            <a:avLst/>
          </a:prstGeom>
          <a:noFill/>
          <a:ln/>
        </p:spPr>
        <p:txBody>
          <a:bodyPr wrap="square" lIns="0" tIns="0" rIns="0" bIns="0" rtlCol="0" anchor="ctr"/>
          <a:lstStyle/>
          <a:p>
            <a:pPr marL="0" indent="0" algn="ctr">
              <a:buNone/>
            </a:pPr>
            <a:r>
              <a:rPr lang="en-US" sz="1300" b="1" dirty="0">
                <a:solidFill>
                  <a:srgbClr val="FFFFFF"/>
                </a:solidFill>
                <a:latin typeface="Cambria" pitchFamily="34" charset="0"/>
                <a:ea typeface="Cambria" pitchFamily="34" charset="-122"/>
                <a:cs typeface="Cambria" pitchFamily="34" charset="-120"/>
              </a:rPr>
              <a:t>5</a:t>
            </a:r>
            <a:endParaRPr lang="en-US" sz="1300" dirty="0"/>
          </a:p>
        </p:txBody>
      </p:sp>
      <p:sp>
        <p:nvSpPr>
          <p:cNvPr id="35" name="Text 31"/>
          <p:cNvSpPr/>
          <p:nvPr/>
        </p:nvSpPr>
        <p:spPr>
          <a:xfrm>
            <a:off x="6583680" y="4572000"/>
            <a:ext cx="5029200" cy="292608"/>
          </a:xfrm>
          <a:prstGeom prst="rect">
            <a:avLst/>
          </a:prstGeom>
          <a:noFill/>
          <a:ln/>
        </p:spPr>
        <p:txBody>
          <a:bodyPr wrap="square" lIns="0" tIns="0" rIns="0" bIns="0" rtlCol="0" anchor="ctr"/>
          <a:lstStyle/>
          <a:p>
            <a:pPr marL="0" indent="0">
              <a:buNone/>
            </a:pPr>
            <a:r>
              <a:rPr lang="en-US" sz="1250" b="1" dirty="0">
                <a:solidFill>
                  <a:srgbClr val="1E2233"/>
                </a:solidFill>
                <a:latin typeface="Calibri" pitchFamily="34" charset="0"/>
                <a:ea typeface="Calibri" pitchFamily="34" charset="-122"/>
                <a:cs typeface="Calibri" pitchFamily="34" charset="-120"/>
              </a:rPr>
              <a:t>Entraîner le modèle IA</a:t>
            </a:r>
            <a:endParaRPr lang="en-US" sz="1250" dirty="0"/>
          </a:p>
        </p:txBody>
      </p:sp>
      <p:sp>
        <p:nvSpPr>
          <p:cNvPr id="36" name="Text 32"/>
          <p:cNvSpPr/>
          <p:nvPr/>
        </p:nvSpPr>
        <p:spPr>
          <a:xfrm>
            <a:off x="6583680" y="4855464"/>
            <a:ext cx="5029200" cy="274320"/>
          </a:xfrm>
          <a:prstGeom prst="rect">
            <a:avLst/>
          </a:prstGeom>
          <a:noFill/>
          <a:ln/>
        </p:spPr>
        <p:txBody>
          <a:bodyPr wrap="square" lIns="0" tIns="0" rIns="0" bIns="0" rtlCol="0" anchor="ctr"/>
          <a:lstStyle/>
          <a:p>
            <a:pPr marL="0" indent="0">
              <a:buNone/>
            </a:pPr>
            <a:r>
              <a:rPr lang="en-US" sz="1050" dirty="0">
                <a:solidFill>
                  <a:srgbClr val="3949AB"/>
                </a:solidFill>
                <a:latin typeface="Courier New" pitchFamily="34" charset="0"/>
                <a:ea typeface="Courier New" pitchFamily="34" charset="-122"/>
                <a:cs typeface="Courier New" pitchFamily="34" charset="-120"/>
              </a:rPr>
              <a:t>py churn_prediction.py</a:t>
            </a:r>
            <a:endParaRPr lang="en-US" sz="1050" dirty="0"/>
          </a:p>
        </p:txBody>
      </p:sp>
      <p:sp>
        <p:nvSpPr>
          <p:cNvPr id="37" name="Shape 33"/>
          <p:cNvSpPr/>
          <p:nvPr/>
        </p:nvSpPr>
        <p:spPr>
          <a:xfrm>
            <a:off x="6035040" y="5257800"/>
            <a:ext cx="384048" cy="384048"/>
          </a:xfrm>
          <a:prstGeom prst="ellipse">
            <a:avLst/>
          </a:prstGeom>
          <a:solidFill>
            <a:srgbClr val="1A237E"/>
          </a:solidFill>
          <a:ln/>
        </p:spPr>
      </p:sp>
      <p:sp>
        <p:nvSpPr>
          <p:cNvPr id="38" name="Text 34"/>
          <p:cNvSpPr/>
          <p:nvPr/>
        </p:nvSpPr>
        <p:spPr>
          <a:xfrm>
            <a:off x="6035040" y="5257800"/>
            <a:ext cx="384048" cy="384048"/>
          </a:xfrm>
          <a:prstGeom prst="rect">
            <a:avLst/>
          </a:prstGeom>
          <a:noFill/>
          <a:ln/>
        </p:spPr>
        <p:txBody>
          <a:bodyPr wrap="square" lIns="0" tIns="0" rIns="0" bIns="0" rtlCol="0" anchor="ctr"/>
          <a:lstStyle/>
          <a:p>
            <a:pPr marL="0" indent="0" algn="ctr">
              <a:buNone/>
            </a:pPr>
            <a:r>
              <a:rPr lang="en-US" sz="1300" b="1" dirty="0">
                <a:solidFill>
                  <a:srgbClr val="FFFFFF"/>
                </a:solidFill>
                <a:latin typeface="Cambria" pitchFamily="34" charset="0"/>
                <a:ea typeface="Cambria" pitchFamily="34" charset="-122"/>
                <a:cs typeface="Cambria" pitchFamily="34" charset="-120"/>
              </a:rPr>
              <a:t>6</a:t>
            </a:r>
            <a:endParaRPr lang="en-US" sz="1300" dirty="0"/>
          </a:p>
        </p:txBody>
      </p:sp>
      <p:sp>
        <p:nvSpPr>
          <p:cNvPr id="39" name="Text 35"/>
          <p:cNvSpPr/>
          <p:nvPr/>
        </p:nvSpPr>
        <p:spPr>
          <a:xfrm>
            <a:off x="6583680" y="5230368"/>
            <a:ext cx="5029200" cy="292608"/>
          </a:xfrm>
          <a:prstGeom prst="rect">
            <a:avLst/>
          </a:prstGeom>
          <a:noFill/>
          <a:ln/>
        </p:spPr>
        <p:txBody>
          <a:bodyPr wrap="square" lIns="0" tIns="0" rIns="0" bIns="0" rtlCol="0" anchor="ctr"/>
          <a:lstStyle/>
          <a:p>
            <a:pPr marL="0" indent="0">
              <a:buNone/>
            </a:pPr>
            <a:r>
              <a:rPr lang="en-US" sz="1250" b="1" dirty="0">
                <a:solidFill>
                  <a:srgbClr val="1E2233"/>
                </a:solidFill>
                <a:latin typeface="Calibri" pitchFamily="34" charset="0"/>
                <a:ea typeface="Calibri" pitchFamily="34" charset="-122"/>
                <a:cs typeface="Calibri" pitchFamily="34" charset="-120"/>
              </a:rPr>
              <a:t>Lancer le Dashboard</a:t>
            </a:r>
            <a:endParaRPr lang="en-US" sz="1250" dirty="0"/>
          </a:p>
        </p:txBody>
      </p:sp>
      <p:sp>
        <p:nvSpPr>
          <p:cNvPr id="40" name="Text 36"/>
          <p:cNvSpPr/>
          <p:nvPr/>
        </p:nvSpPr>
        <p:spPr>
          <a:xfrm>
            <a:off x="6583680" y="5513832"/>
            <a:ext cx="5029200" cy="274320"/>
          </a:xfrm>
          <a:prstGeom prst="rect">
            <a:avLst/>
          </a:prstGeom>
          <a:noFill/>
          <a:ln/>
        </p:spPr>
        <p:txBody>
          <a:bodyPr wrap="square" lIns="0" tIns="0" rIns="0" bIns="0" rtlCol="0" anchor="ctr"/>
          <a:lstStyle/>
          <a:p>
            <a:pPr marL="0" indent="0">
              <a:buNone/>
            </a:pPr>
            <a:r>
              <a:rPr lang="en-US" sz="1050" dirty="0">
                <a:solidFill>
                  <a:srgbClr val="3949AB"/>
                </a:solidFill>
                <a:latin typeface="Courier New" pitchFamily="34" charset="0"/>
                <a:ea typeface="Courier New" pitchFamily="34" charset="-122"/>
                <a:cs typeface="Courier New" pitchFamily="34" charset="-120"/>
              </a:rPr>
              <a:t>py -m streamlit run dashboard_streamlit.py</a:t>
            </a:r>
            <a:endParaRPr lang="en-US" sz="1050" dirty="0"/>
          </a:p>
        </p:txBody>
      </p:sp>
      <p:sp>
        <p:nvSpPr>
          <p:cNvPr id="41" name="Text 37"/>
          <p:cNvSpPr/>
          <p:nvPr/>
        </p:nvSpPr>
        <p:spPr>
          <a:xfrm>
            <a:off x="457200" y="6473952"/>
            <a:ext cx="7315200" cy="274320"/>
          </a:xfrm>
          <a:prstGeom prst="rect">
            <a:avLst/>
          </a:prstGeom>
          <a:noFill/>
          <a:ln/>
        </p:spPr>
        <p:txBody>
          <a:bodyPr wrap="square" lIns="0" tIns="0" rIns="0" bIns="0" rtlCol="0" anchor="ctr"/>
          <a:lstStyle/>
          <a:p>
            <a:pPr marL="0" indent="0" algn="l">
              <a:buNone/>
            </a:pPr>
            <a:r>
              <a:rPr lang="en-US" sz="900" dirty="0">
                <a:solidFill>
                  <a:srgbClr val="6B7080"/>
                </a:solidFill>
                <a:latin typeface="Calibri" pitchFamily="34" charset="0"/>
                <a:ea typeface="Calibri" pitchFamily="34" charset="-122"/>
                <a:cs typeface="Calibri" pitchFamily="34" charset="-120"/>
              </a:rPr>
              <a:t>Sahel Telecom - Documentation technique EDW</a:t>
            </a:r>
            <a:endParaRPr lang="en-US" sz="900" dirty="0"/>
          </a:p>
        </p:txBody>
      </p:sp>
      <p:sp>
        <p:nvSpPr>
          <p:cNvPr id="42" name="Text 38"/>
          <p:cNvSpPr/>
          <p:nvPr/>
        </p:nvSpPr>
        <p:spPr>
          <a:xfrm>
            <a:off x="11247120" y="6473952"/>
            <a:ext cx="457200" cy="274320"/>
          </a:xfrm>
          <a:prstGeom prst="rect">
            <a:avLst/>
          </a:prstGeom>
          <a:noFill/>
          <a:ln/>
        </p:spPr>
        <p:txBody>
          <a:bodyPr wrap="square" lIns="0" tIns="0" rIns="0" bIns="0" rtlCol="0" anchor="ctr"/>
          <a:lstStyle/>
          <a:p>
            <a:pPr marL="0" indent="0" algn="r">
              <a:buNone/>
            </a:pPr>
            <a:r>
              <a:rPr lang="en-US" sz="900" dirty="0">
                <a:solidFill>
                  <a:srgbClr val="6B7080"/>
                </a:solidFill>
                <a:latin typeface="Calibri" pitchFamily="34" charset="0"/>
                <a:ea typeface="Calibri" pitchFamily="34" charset="-122"/>
                <a:cs typeface="Calibri" pitchFamily="34" charset="-120"/>
              </a:rPr>
              <a:t>15</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141B4D"/>
        </a:solidFill>
        <a:effectLst/>
      </p:bgPr>
    </p:bg>
    <p:spTree>
      <p:nvGrpSpPr>
        <p:cNvPr id="1" name=""/>
        <p:cNvGrpSpPr/>
        <p:nvPr/>
      </p:nvGrpSpPr>
      <p:grpSpPr>
        <a:xfrm>
          <a:off x="0" y="0"/>
          <a:ext cx="0" cy="0"/>
          <a:chOff x="0" y="0"/>
          <a:chExt cx="0" cy="0"/>
        </a:xfrm>
      </p:grpSpPr>
      <p:sp>
        <p:nvSpPr>
          <p:cNvPr id="2" name="Shape 0"/>
          <p:cNvSpPr/>
          <p:nvPr/>
        </p:nvSpPr>
        <p:spPr>
          <a:xfrm>
            <a:off x="8778240" y="-2011680"/>
            <a:ext cx="5943600" cy="5943600"/>
          </a:xfrm>
          <a:prstGeom prst="ellipse">
            <a:avLst/>
          </a:prstGeom>
          <a:solidFill>
            <a:srgbClr val="1A237E">
              <a:alpha val="65000"/>
            </a:srgbClr>
          </a:solidFill>
          <a:ln/>
        </p:spPr>
      </p:sp>
      <p:sp>
        <p:nvSpPr>
          <p:cNvPr id="3" name="Shape 1"/>
          <p:cNvSpPr/>
          <p:nvPr/>
        </p:nvSpPr>
        <p:spPr>
          <a:xfrm>
            <a:off x="-2194560" y="4206240"/>
            <a:ext cx="4389120" cy="4389120"/>
          </a:xfrm>
          <a:prstGeom prst="ellipse">
            <a:avLst/>
          </a:prstGeom>
          <a:solidFill>
            <a:srgbClr val="1A237E">
              <a:alpha val="60000"/>
            </a:srgbClr>
          </a:solidFill>
          <a:ln/>
        </p:spPr>
      </p:sp>
      <p:sp>
        <p:nvSpPr>
          <p:cNvPr id="4" name="Text 2"/>
          <p:cNvSpPr/>
          <p:nvPr/>
        </p:nvSpPr>
        <p:spPr>
          <a:xfrm>
            <a:off x="731520" y="2286000"/>
            <a:ext cx="10058400" cy="365760"/>
          </a:xfrm>
          <a:prstGeom prst="rect">
            <a:avLst/>
          </a:prstGeom>
          <a:noFill/>
          <a:ln/>
        </p:spPr>
        <p:txBody>
          <a:bodyPr wrap="square" lIns="0" tIns="0" rIns="0" bIns="0" rtlCol="0" anchor="ctr"/>
          <a:lstStyle/>
          <a:p>
            <a:pPr marL="0" indent="0">
              <a:buNone/>
            </a:pPr>
            <a:r>
              <a:rPr lang="en-US" sz="1400" b="1" kern="0" spc="300" dirty="0">
                <a:solidFill>
                  <a:srgbClr val="AEB6E8"/>
                </a:solidFill>
                <a:latin typeface="Calibri" pitchFamily="34" charset="0"/>
                <a:ea typeface="Calibri" pitchFamily="34" charset="-122"/>
                <a:cs typeface="Calibri" pitchFamily="34" charset="-120"/>
              </a:rPr>
              <a:t>MERCI DE VOTRE ATTENTION</a:t>
            </a:r>
            <a:endParaRPr lang="en-US" sz="1400" dirty="0"/>
          </a:p>
        </p:txBody>
      </p:sp>
      <p:sp>
        <p:nvSpPr>
          <p:cNvPr id="5" name="Text 3"/>
          <p:cNvSpPr/>
          <p:nvPr/>
        </p:nvSpPr>
        <p:spPr>
          <a:xfrm>
            <a:off x="731520" y="2697480"/>
            <a:ext cx="10058400" cy="1097280"/>
          </a:xfrm>
          <a:prstGeom prst="rect">
            <a:avLst/>
          </a:prstGeom>
          <a:noFill/>
          <a:ln/>
        </p:spPr>
        <p:txBody>
          <a:bodyPr wrap="square" lIns="0" tIns="0" rIns="0" bIns="0" rtlCol="0" anchor="ctr"/>
          <a:lstStyle/>
          <a:p>
            <a:pPr marL="0" indent="0">
              <a:buNone/>
            </a:pPr>
            <a:r>
              <a:rPr lang="en-US" sz="4200" b="1" dirty="0">
                <a:solidFill>
                  <a:srgbClr val="FFFFFF"/>
                </a:solidFill>
                <a:latin typeface="Cambria" pitchFamily="34" charset="0"/>
                <a:ea typeface="Cambria" pitchFamily="34" charset="-122"/>
                <a:cs typeface="Cambria" pitchFamily="34" charset="-120"/>
              </a:rPr>
              <a:t>Questions &amp; Discussion</a:t>
            </a:r>
            <a:endParaRPr lang="en-US" sz="4200" dirty="0"/>
          </a:p>
        </p:txBody>
      </p:sp>
      <p:sp>
        <p:nvSpPr>
          <p:cNvPr id="6" name="Text 4"/>
          <p:cNvSpPr/>
          <p:nvPr/>
        </p:nvSpPr>
        <p:spPr>
          <a:xfrm>
            <a:off x="731520" y="3703320"/>
            <a:ext cx="9601200" cy="457200"/>
          </a:xfrm>
          <a:prstGeom prst="rect">
            <a:avLst/>
          </a:prstGeom>
          <a:noFill/>
          <a:ln/>
        </p:spPr>
        <p:txBody>
          <a:bodyPr wrap="square" lIns="0" tIns="0" rIns="0" bIns="0" rtlCol="0" anchor="ctr"/>
          <a:lstStyle/>
          <a:p>
            <a:pPr marL="0" indent="0">
              <a:buNone/>
            </a:pPr>
            <a:r>
              <a:rPr lang="en-US" sz="1500" dirty="0">
                <a:solidFill>
                  <a:srgbClr val="CDD3F5"/>
                </a:solidFill>
                <a:latin typeface="Calibri" pitchFamily="34" charset="0"/>
                <a:ea typeface="Calibri" pitchFamily="34" charset="-122"/>
                <a:cs typeface="Calibri" pitchFamily="34" charset="-120"/>
              </a:rPr>
              <a:t>Sahel Telecom &amp; </a:t>
            </a:r>
            <a:r>
              <a:rPr lang="en-US" sz="1500" dirty="0" err="1">
                <a:solidFill>
                  <a:srgbClr val="CDD3F5"/>
                </a:solidFill>
                <a:latin typeface="Calibri" pitchFamily="34" charset="0"/>
                <a:ea typeface="Calibri" pitchFamily="34" charset="-122"/>
                <a:cs typeface="Calibri" pitchFamily="34" charset="-120"/>
              </a:rPr>
              <a:t>GoldTel</a:t>
            </a:r>
            <a:r>
              <a:rPr lang="en-US" sz="1500" dirty="0">
                <a:solidFill>
                  <a:srgbClr val="CDD3F5"/>
                </a:solidFill>
                <a:latin typeface="Calibri" pitchFamily="34" charset="0"/>
                <a:ea typeface="Calibri" pitchFamily="34" charset="-122"/>
                <a:cs typeface="Calibri" pitchFamily="34" charset="-120"/>
              </a:rPr>
              <a:t> - Entrepôt de Données, ETL, IA et Business Intelligence</a:t>
            </a:r>
            <a:endParaRPr lang="en-US" sz="1500" dirty="0"/>
          </a:p>
        </p:txBody>
      </p:sp>
      <p:sp>
        <p:nvSpPr>
          <p:cNvPr id="7" name="Text 5"/>
          <p:cNvSpPr/>
          <p:nvPr/>
        </p:nvSpPr>
        <p:spPr>
          <a:xfrm>
            <a:off x="731520" y="5852160"/>
            <a:ext cx="9144000" cy="640080"/>
          </a:xfrm>
          <a:prstGeom prst="rect">
            <a:avLst/>
          </a:prstGeom>
          <a:noFill/>
          <a:ln/>
        </p:spPr>
        <p:txBody>
          <a:bodyPr wrap="square" lIns="0" tIns="0" rIns="0" bIns="0" rtlCol="0" anchor="ctr"/>
          <a:lstStyle/>
          <a:p>
            <a:pPr marL="0" indent="0">
              <a:lnSpc>
                <a:spcPct val="130000"/>
              </a:lnSpc>
              <a:buNone/>
            </a:pPr>
            <a:r>
              <a:rPr lang="en-US" sz="1200" dirty="0">
                <a:solidFill>
                  <a:srgbClr val="AEB6E8"/>
                </a:solidFill>
                <a:latin typeface="Calibri" pitchFamily="34" charset="0"/>
                <a:ea typeface="Calibri" pitchFamily="34" charset="-122"/>
                <a:cs typeface="Calibri" pitchFamily="34" charset="-120"/>
              </a:rPr>
              <a:t>Groupe 3  •  Master 1 Data Engineering et Business Intelligence</a:t>
            </a:r>
            <a:endParaRPr lang="en-US" sz="1200" dirty="0"/>
          </a:p>
          <a:p>
            <a:pPr marL="0" indent="0">
              <a:lnSpc>
                <a:spcPct val="130000"/>
              </a:lnSpc>
              <a:buNone/>
            </a:pPr>
            <a:r>
              <a:rPr lang="en-US" sz="1200" dirty="0">
                <a:solidFill>
                  <a:srgbClr val="AEB6E8"/>
                </a:solidFill>
                <a:latin typeface="Calibri" pitchFamily="34" charset="0"/>
                <a:ea typeface="Calibri" pitchFamily="34" charset="-122"/>
                <a:cs typeface="Calibri" pitchFamily="34" charset="-120"/>
              </a:rPr>
              <a:t>Université Joseph KI-ZERBO - IFOAD  •  Juin 2026</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TotalTime>
  <Words>2366</Words>
  <Application>Microsoft Office PowerPoint</Application>
  <PresentationFormat>Grand écran</PresentationFormat>
  <Paragraphs>299</Paragraphs>
  <Slides>16</Slides>
  <Notes>16</Notes>
  <HiddenSlides>0</HiddenSlides>
  <MMClips>0</MMClips>
  <ScaleCrop>false</ScaleCrop>
  <HeadingPairs>
    <vt:vector size="6" baseType="variant">
      <vt:variant>
        <vt:lpstr>Polices utilisées</vt:lpstr>
      </vt:variant>
      <vt:variant>
        <vt:i4>4</vt:i4>
      </vt:variant>
      <vt:variant>
        <vt:lpstr>Thème</vt:lpstr>
      </vt:variant>
      <vt:variant>
        <vt:i4>1</vt:i4>
      </vt:variant>
      <vt:variant>
        <vt:lpstr>Titres des diapositives</vt:lpstr>
      </vt:variant>
      <vt:variant>
        <vt:i4>16</vt:i4>
      </vt:variant>
    </vt:vector>
  </HeadingPairs>
  <TitlesOfParts>
    <vt:vector size="21" baseType="lpstr">
      <vt:lpstr>Arial</vt:lpstr>
      <vt:lpstr>Calibri</vt:lpstr>
      <vt:lpstr>Cambria</vt:lpstr>
      <vt:lpstr>Courier New</vt:lpstr>
      <vt:lpstr>Office Theme</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Sahel Telecom &amp; GoldTel - EDW, ETL, IA &amp; BI</dc:title>
  <dc:subject>PptxGenJS Presentation</dc:subject>
  <dc:creator>Groupe 3 - IFOAD Master 1 DE&amp;BI</dc:creator>
  <cp:lastModifiedBy>Abdrafith ZONGO</cp:lastModifiedBy>
  <cp:revision>2</cp:revision>
  <dcterms:created xsi:type="dcterms:W3CDTF">2026-07-02T21:49:02Z</dcterms:created>
  <dcterms:modified xsi:type="dcterms:W3CDTF">2026-07-02T21:52:40Z</dcterms:modified>
</cp:coreProperties>
</file>